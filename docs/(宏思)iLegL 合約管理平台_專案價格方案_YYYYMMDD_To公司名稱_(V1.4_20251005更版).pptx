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58" r:id="rId2"/>
    <p:sldId id="772" r:id="rId3"/>
    <p:sldId id="589" r:id="rId4"/>
    <p:sldId id="780" r:id="rId5"/>
    <p:sldId id="802" r:id="rId6"/>
    <p:sldId id="803" r:id="rId7"/>
    <p:sldId id="784" r:id="rId8"/>
    <p:sldId id="799" r:id="rId9"/>
    <p:sldId id="800" r:id="rId10"/>
    <p:sldId id="801" r:id="rId11"/>
    <p:sldId id="765" r:id="rId12"/>
    <p:sldId id="804" r:id="rId13"/>
    <p:sldId id="773" r:id="rId14"/>
    <p:sldId id="539" r:id="rId15"/>
  </p:sldIdLst>
  <p:sldSz cx="12192000" cy="6858000"/>
  <p:notesSz cx="7104063" cy="10234613"/>
  <p:custDataLst>
    <p:tags r:id="rId18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8B6DA2E-AFD5-40A6-BBE7-475E12EFFB53}">
          <p14:sldIdLst>
            <p14:sldId id="458"/>
            <p14:sldId id="772"/>
            <p14:sldId id="589"/>
            <p14:sldId id="780"/>
            <p14:sldId id="802"/>
            <p14:sldId id="803"/>
            <p14:sldId id="784"/>
            <p14:sldId id="799"/>
            <p14:sldId id="800"/>
            <p14:sldId id="801"/>
            <p14:sldId id="765"/>
            <p14:sldId id="804"/>
            <p14:sldId id="773"/>
            <p14:sldId id="539"/>
          </p14:sldIdLst>
        </p14:section>
      </p14:sectionLst>
    </p:ext>
    <p:ext uri="{EFAFB233-063F-42B5-8137-9DF3F51BA10A}">
      <p15:sldGuideLst xmlns:p15="http://schemas.microsoft.com/office/powerpoint/2012/main">
        <p15:guide id="10" pos="7" userDrawn="1">
          <p15:clr>
            <a:srgbClr val="A4A3A4"/>
          </p15:clr>
        </p15:guide>
        <p15:guide id="11" orient="horz" pos="2069" userDrawn="1">
          <p15:clr>
            <a:srgbClr val="A4A3A4"/>
          </p15:clr>
        </p15:guide>
        <p15:guide id="12" orient="horz" pos="1570" userDrawn="1">
          <p15:clr>
            <a:srgbClr val="A4A3A4"/>
          </p15:clr>
        </p15:guide>
        <p15:guide id="13" orient="horz" pos="2591" userDrawn="1">
          <p15:clr>
            <a:srgbClr val="A4A3A4"/>
          </p15:clr>
        </p15:guide>
        <p15:guide id="14" orient="horz" pos="3135" userDrawn="1">
          <p15:clr>
            <a:srgbClr val="A4A3A4"/>
          </p15:clr>
        </p15:guide>
        <p15:guide id="15" orient="horz" pos="3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FF99CC"/>
    <a:srgbClr val="005587"/>
    <a:srgbClr val="FF99FF"/>
    <a:srgbClr val="046A38"/>
    <a:srgbClr val="FF8989"/>
    <a:srgbClr val="CFE5F5"/>
    <a:srgbClr val="B6CDDD"/>
    <a:srgbClr val="663300"/>
    <a:srgbClr val="C3D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118" autoAdjust="0"/>
  </p:normalViewPr>
  <p:slideViewPr>
    <p:cSldViewPr snapToGrid="0" showGuides="1">
      <p:cViewPr varScale="1">
        <p:scale>
          <a:sx n="84" d="100"/>
          <a:sy n="84" d="100"/>
        </p:scale>
        <p:origin x="534" y="78"/>
      </p:cViewPr>
      <p:guideLst>
        <p:guide pos="7"/>
        <p:guide orient="horz" pos="2069"/>
        <p:guide orient="horz" pos="1570"/>
        <p:guide orient="horz" pos="2591"/>
        <p:guide orient="horz" pos="3135"/>
        <p:guide orient="horz" pos="36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762" y="9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078640" cy="511176"/>
          </a:xfrm>
          <a:prstGeom prst="rect">
            <a:avLst/>
          </a:prstGeom>
        </p:spPr>
        <p:txBody>
          <a:bodyPr vert="horz" lIns="91937" tIns="45970" rIns="91937" bIns="45970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37" y="1"/>
            <a:ext cx="3078640" cy="511176"/>
          </a:xfrm>
          <a:prstGeom prst="rect">
            <a:avLst/>
          </a:prstGeom>
        </p:spPr>
        <p:txBody>
          <a:bodyPr vert="horz" lIns="91937" tIns="45970" rIns="91937" bIns="45970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10/7/2025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721853"/>
            <a:ext cx="3078640" cy="511176"/>
          </a:xfrm>
          <a:prstGeom prst="rect">
            <a:avLst/>
          </a:prstGeom>
        </p:spPr>
        <p:txBody>
          <a:bodyPr vert="horz" lIns="91937" tIns="45970" rIns="91937" bIns="45970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37" y="9721853"/>
            <a:ext cx="3078640" cy="511176"/>
          </a:xfrm>
          <a:prstGeom prst="rect">
            <a:avLst/>
          </a:prstGeom>
        </p:spPr>
        <p:txBody>
          <a:bodyPr vert="horz" lIns="91937" tIns="45970" rIns="91937" bIns="45970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427" cy="511731"/>
          </a:xfrm>
          <a:prstGeom prst="rect">
            <a:avLst/>
          </a:prstGeom>
        </p:spPr>
        <p:txBody>
          <a:bodyPr vert="horz" lIns="99588" tIns="49793" rIns="99588" bIns="49793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5" y="2"/>
            <a:ext cx="3078427" cy="511731"/>
          </a:xfrm>
          <a:prstGeom prst="rect">
            <a:avLst/>
          </a:prstGeom>
        </p:spPr>
        <p:txBody>
          <a:bodyPr vert="horz" lIns="99588" tIns="49793" rIns="99588" bIns="49793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588" tIns="49793" rIns="99588" bIns="4979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3"/>
            <a:ext cx="5683250" cy="4605576"/>
          </a:xfrm>
          <a:prstGeom prst="rect">
            <a:avLst/>
          </a:prstGeom>
        </p:spPr>
        <p:txBody>
          <a:bodyPr vert="horz" lIns="99588" tIns="49793" rIns="99588" bIns="49793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8427" cy="511731"/>
          </a:xfrm>
          <a:prstGeom prst="rect">
            <a:avLst/>
          </a:prstGeom>
        </p:spPr>
        <p:txBody>
          <a:bodyPr vert="horz" lIns="99588" tIns="49793" rIns="99588" bIns="49793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5" y="9721108"/>
            <a:ext cx="3078427" cy="511731"/>
          </a:xfrm>
          <a:prstGeom prst="rect">
            <a:avLst/>
          </a:prstGeom>
        </p:spPr>
        <p:txBody>
          <a:bodyPr vert="horz" lIns="99588" tIns="49793" rIns="99588" bIns="49793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2113" y="709613"/>
            <a:ext cx="6286500" cy="35369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41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42875" y="768350"/>
            <a:ext cx="6818313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58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458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59B68C-5915-4D23-A2C6-5B96549FD7A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0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21487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986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8ACF-A50D-0C27-02F5-29FBFA72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098BB-C7AF-776D-A157-D45C6F3EE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21487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DC436-664A-256D-3A75-52398644E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CE697-C217-C99E-B004-658530D66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75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21487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2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黑底圖片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1" y="5495278"/>
            <a:ext cx="5592011" cy="85555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rgbClr val="86BC2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705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cxnSp>
        <p:nvCxnSpPr>
          <p:cNvPr id="32" name="直線接點 31"/>
          <p:cNvCxnSpPr/>
          <p:nvPr userDrawn="1"/>
        </p:nvCxnSpPr>
        <p:spPr>
          <a:xfrm>
            <a:off x="24926928" y="6299200"/>
            <a:ext cx="54292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圖片 35">
            <a:extLst>
              <a:ext uri="{FF2B5EF4-FFF2-40B4-BE49-F238E27FC236}">
                <a16:creationId xmlns:a16="http://schemas.microsoft.com/office/drawing/2014/main" id="{6422E296-AB66-4E59-9A95-AFE44E137A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471" y="433806"/>
            <a:ext cx="1713627" cy="680411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9C56E87-1E8C-64DD-2824-091B541BCE48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6342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白底圖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388912"/>
            <a:ext cx="5594348" cy="9619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rgbClr val="86BC2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altLang="zh-TW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705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cxnSp>
        <p:nvCxnSpPr>
          <p:cNvPr id="59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C05BE25D-473F-42C8-A003-A0A9425F5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471" y="387389"/>
            <a:ext cx="1713627" cy="680411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BECC88AE-2FB6-D802-07B8-A94D09DBD7BB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20278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黑底文字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49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1" y="5845186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zh-TW" altLang="en-US" noProof="0"/>
              <a:t>按一下以編輯母片副標題樣式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705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cxnSp>
        <p:nvCxnSpPr>
          <p:cNvPr id="56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圖片 34">
            <a:extLst>
              <a:ext uri="{FF2B5EF4-FFF2-40B4-BE49-F238E27FC236}">
                <a16:creationId xmlns:a16="http://schemas.microsoft.com/office/drawing/2014/main" id="{81EA0CE2-EC11-4B2F-8C2D-3621152A76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5325" y="341504"/>
            <a:ext cx="1713627" cy="68041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DAF75F5-B4D1-1528-3BA4-569FA7B98180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4313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白底文字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6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zh-TW" altLang="en-US" noProof="0"/>
              <a:t>按一下以編輯母片副標題樣式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705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cxnSp>
        <p:nvCxnSpPr>
          <p:cNvPr id="53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E759307D-D4C5-4AAB-B100-F5554D4B5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5325" y="341504"/>
            <a:ext cx="1713627" cy="68041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ABE5B47-215A-5C59-F870-AF3661352981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23025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0219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69905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B85583EA-A099-9019-5106-152F3D8ACEA0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80781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0219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69905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5D9AE2B1-A997-6FED-1649-6F92D2EB6941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574463" y="6667251"/>
            <a:ext cx="3079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100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1000" noProof="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EE75C05-6448-2FE5-873A-8CF943159EB6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469905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612781A3-F7DD-C4EA-881C-2335B3820274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469905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宏思科技版權所有 保留一切權利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13D5211C-7177-A7FB-04F6-764511107A48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1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1878" algn="r"/>
              </a:tabLst>
              <a:defRPr sz="1300">
                <a:latin typeface="+mj-lt"/>
              </a:defRPr>
            </a:lvl1pPr>
            <a:lvl2pPr>
              <a:tabLst>
                <a:tab pos="8971878" algn="r"/>
              </a:tabLst>
              <a:defRPr sz="1300">
                <a:latin typeface="+mj-lt"/>
              </a:defRPr>
            </a:lvl2pPr>
            <a:lvl3pPr>
              <a:tabLst>
                <a:tab pos="8971878" algn="r"/>
              </a:tabLst>
              <a:defRPr sz="1300">
                <a:latin typeface="+mj-lt"/>
              </a:defRPr>
            </a:lvl3pPr>
            <a:lvl4pPr>
              <a:tabLst>
                <a:tab pos="8971878" algn="r"/>
              </a:tabLst>
              <a:defRPr sz="1300">
                <a:latin typeface="+mj-lt"/>
              </a:defRPr>
            </a:lvl4pPr>
            <a:lvl5pPr>
              <a:tabLst>
                <a:tab pos="6705096" algn="r"/>
              </a:tabLst>
              <a:defRPr sz="1300" baseline="0">
                <a:latin typeface="+mj-lt"/>
              </a:defRPr>
            </a:lvl5pPr>
            <a:lvl6pPr>
              <a:tabLst>
                <a:tab pos="8971878" algn="r"/>
              </a:tabLst>
              <a:defRPr/>
            </a:lvl6pPr>
            <a:lvl7pPr>
              <a:tabLst>
                <a:tab pos="8971878" algn="r"/>
              </a:tabLst>
              <a:defRPr/>
            </a:lvl7pPr>
            <a:lvl8pPr>
              <a:tabLst>
                <a:tab pos="8971878" algn="r"/>
              </a:tabLst>
              <a:defRPr/>
            </a:lvl8pPr>
            <a:lvl9pPr>
              <a:tabLst>
                <a:tab pos="8971878" algn="r"/>
              </a:tabLst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zh-TW" altLang="en-US" noProof="0" dirty="0"/>
              <a:t>按一下以編輯母片標題樣式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72" y="1700213"/>
            <a:ext cx="6117233" cy="4598988"/>
          </a:xfr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5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096" algn="r"/>
              </a:tabLst>
              <a:defRPr sz="1300">
                <a:latin typeface="+mn-ea"/>
                <a:ea typeface="+mn-ea"/>
              </a:defRPr>
            </a:lvl1pPr>
            <a:lvl2pPr>
              <a:tabLst>
                <a:tab pos="6705096" algn="r"/>
              </a:tabLst>
              <a:defRPr sz="1300">
                <a:latin typeface="+mn-ea"/>
                <a:ea typeface="+mn-ea"/>
              </a:defRPr>
            </a:lvl2pPr>
            <a:lvl3pPr>
              <a:tabLst>
                <a:tab pos="6705096" algn="r"/>
              </a:tabLst>
              <a:defRPr sz="1300">
                <a:latin typeface="+mn-ea"/>
                <a:ea typeface="+mn-ea"/>
              </a:defRPr>
            </a:lvl3pPr>
            <a:lvl4pPr>
              <a:tabLst>
                <a:tab pos="6705096" algn="r"/>
              </a:tabLst>
              <a:defRPr sz="1300">
                <a:latin typeface="+mn-ea"/>
                <a:ea typeface="+mn-ea"/>
              </a:defRPr>
            </a:lvl4pPr>
            <a:lvl5pPr>
              <a:tabLst>
                <a:tab pos="6705096" algn="r"/>
              </a:tabLst>
              <a:defRPr sz="1300" baseline="0">
                <a:latin typeface="+mn-ea"/>
                <a:ea typeface="+mn-ea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 dirty="0"/>
              <a:t>按一下以編輯母片標題樣式 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5"/>
            <a:ext cx="11252200" cy="3928209"/>
          </a:xfrm>
          <a:prstGeom prst="rect">
            <a:avLst/>
          </a:prstGeom>
        </p:spPr>
        <p:txBody>
          <a:bodyPr/>
          <a:lstStyle>
            <a:lvl1pPr>
              <a:defRPr sz="1300"/>
            </a:lvl1pPr>
          </a:lstStyle>
          <a:p>
            <a:r>
              <a:rPr lang="zh-TW" altLang="en-US" noProof="0"/>
              <a:t>按一下圖示以新增圖表</a:t>
            </a:r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>
            <a:lvl1pPr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4" y="5982796"/>
            <a:ext cx="11252201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cxnSp>
        <p:nvCxnSpPr>
          <p:cNvPr id="13" name="直線接點 12"/>
          <p:cNvCxnSpPr/>
          <p:nvPr userDrawn="1"/>
        </p:nvCxnSpPr>
        <p:spPr>
          <a:xfrm flipV="1">
            <a:off x="11722100" y="6953250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 userDrawn="1"/>
        </p:nvCxnSpPr>
        <p:spPr>
          <a:xfrm flipV="1">
            <a:off x="462471" y="-464775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8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333"/>
              </a:spcAft>
              <a:defRPr sz="1300">
                <a:latin typeface="+mj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j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j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j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3" y="1857898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40" y="1857898"/>
            <a:ext cx="1244161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7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7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9" y="4249689"/>
            <a:ext cx="1274916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15"/>
            <a:ext cx="1244160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7" y="1863923"/>
            <a:ext cx="1244907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頁_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82" y="6477003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cxnSp>
        <p:nvCxnSpPr>
          <p:cNvPr id="26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20">
            <a:extLst>
              <a:ext uri="{FF2B5EF4-FFF2-40B4-BE49-F238E27FC236}">
                <a16:creationId xmlns:a16="http://schemas.microsoft.com/office/drawing/2014/main" id="{DDB1D59B-B8C4-92F5-11BA-96C8C70AAC07}"/>
              </a:ext>
            </a:extLst>
          </p:cNvPr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23FD909-22A9-B0B5-6DF0-29CA0815A9CC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5" y="1665818"/>
            <a:ext cx="5537731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92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33C4A0A-CDDF-DF73-BA40-29BDBE651AC5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8010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28000" y="651600"/>
            <a:ext cx="11136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345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1"/>
            <a:ext cx="11188700" cy="5980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87622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166891810"/>
              </p:ext>
            </p:extLst>
          </p:nvPr>
        </p:nvGraphicFramePr>
        <p:xfrm>
          <a:off x="2119" y="1595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270" imgH="270" progId="TCLayout.ActiveDocument.1">
                  <p:embed/>
                </p:oleObj>
              </mc:Choice>
              <mc:Fallback>
                <p:oleObj name="think-cell Slide" r:id="rId2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19" y="1595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92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 noProof="0" dirty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 noProof="0" dirty="0"/>
              <a:t>按一下以編輯母片文字樣式  </a:t>
            </a:r>
          </a:p>
          <a:p>
            <a:pPr lvl="1"/>
            <a:r>
              <a:rPr lang="zh-TW" altLang="en-US" noProof="0" dirty="0"/>
              <a:t>第二層</a:t>
            </a:r>
          </a:p>
          <a:p>
            <a:pPr lvl="2"/>
            <a:r>
              <a:rPr lang="zh-TW" altLang="en-US" noProof="0" dirty="0"/>
              <a:t>第三層</a:t>
            </a:r>
          </a:p>
          <a:p>
            <a:pPr lvl="3"/>
            <a:r>
              <a:rPr lang="zh-TW" altLang="en-US" noProof="0" dirty="0"/>
              <a:t>第四層</a:t>
            </a:r>
            <a:endParaRPr lang="en-US" altLang="zh-TW" noProof="0" dirty="0"/>
          </a:p>
          <a:p>
            <a:pPr lvl="3"/>
            <a:r>
              <a:rPr lang="zh-TW" altLang="en-US" noProof="0" dirty="0"/>
              <a:t>第五層</a:t>
            </a:r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5838" y="6707073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noProof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78187" y="6671747"/>
            <a:ext cx="3079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1000" noProof="0" smtClean="0">
                <a:solidFill>
                  <a:srgbClr val="00ABAB"/>
                </a:solidFill>
                <a:latin typeface="+mn-ea"/>
                <a:ea typeface="+mn-ea"/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1000" noProof="0" dirty="0">
              <a:solidFill>
                <a:srgbClr val="00ABAB"/>
              </a:solidFill>
              <a:latin typeface="+mn-ea"/>
              <a:ea typeface="+mn-ea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4"/>
          <p:cNvCxnSpPr/>
          <p:nvPr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E669FEA9-CEF5-89FA-E403-27118BBE4F5B}"/>
              </a:ext>
            </a:extLst>
          </p:cNvPr>
          <p:cNvSpPr txBox="1"/>
          <p:nvPr userDrawn="1"/>
        </p:nvSpPr>
        <p:spPr>
          <a:xfrm rot="2549065">
            <a:off x="10261511" y="684478"/>
            <a:ext cx="2128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【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本文件僅提供</a:t>
            </a:r>
            <a:r>
              <a:rPr lang="zh-TW" altLang="en-US" sz="1100" b="1" dirty="0">
                <a:solidFill>
                  <a:srgbClr val="0070C0"/>
                </a:solidFill>
                <a:latin typeface="+mn-ea"/>
              </a:rPr>
              <a:t>公司名稱</a:t>
            </a:r>
            <a:r>
              <a: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參考</a:t>
            </a:r>
            <a:r>
              <a:rPr lang="en-US" altLang="zh-TW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】</a:t>
            </a:r>
            <a:endParaRPr lang="zh-TW" altLang="en-US" sz="11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2" r:id="rId5"/>
    <p:sldLayoutId id="2147483703" r:id="rId6"/>
    <p:sldLayoutId id="2147483704" r:id="rId7"/>
    <p:sldLayoutId id="2147483705" r:id="rId8"/>
    <p:sldLayoutId id="2147483706" r:id="rId9"/>
    <p:sldLayoutId id="2147483679" r:id="rId10"/>
    <p:sldLayoutId id="2147483712" r:id="rId11"/>
    <p:sldLayoutId id="2147483678" r:id="rId12"/>
    <p:sldLayoutId id="2147483681" r:id="rId13"/>
    <p:sldLayoutId id="2147483699" r:id="rId14"/>
    <p:sldLayoutId id="2147483695" r:id="rId15"/>
    <p:sldLayoutId id="2147483724" r:id="rId16"/>
    <p:sldLayoutId id="2147483727" r:id="rId17"/>
    <p:sldLayoutId id="2147483698" r:id="rId18"/>
    <p:sldLayoutId id="2147483752" r:id="rId19"/>
    <p:sldLayoutId id="2147483820" r:id="rId20"/>
    <p:sldLayoutId id="2147483823" r:id="rId21"/>
    <p:sldLayoutId id="2147483824" r:id="rId22"/>
  </p:sldLayoutIdLst>
  <p:transition>
    <p:fade/>
  </p:transition>
  <p:hf hdr="0" dt="0"/>
  <p:txStyles>
    <p:titleStyle>
      <a:lvl1pPr algn="l" defTabSz="121911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1219110" rtl="0" eaLnBrk="1" latinLnBrk="0" hangingPunct="1">
        <a:spcBef>
          <a:spcPts val="0"/>
        </a:spcBef>
        <a:spcAft>
          <a:spcPts val="1333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1pPr>
      <a:lvl2pPr marL="0" indent="0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/>
        <a:buNone/>
        <a:defRPr lang="en-US" sz="1300" b="1" kern="1200" dirty="0" smtClean="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2pPr>
      <a:lvl3pPr marL="235183" indent="-235183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475164" indent="-235183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710348" indent="-235183" algn="l" defTabSz="1064604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tabLst/>
        <a:defRPr lang="en-US" sz="1400" kern="1200" baseline="0" dirty="0" smtClean="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5pPr>
      <a:lvl6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7" userDrawn="1">
          <p15:clr>
            <a:srgbClr val="F26B43"/>
          </p15:clr>
        </p15:guide>
        <p15:guide id="12" pos="1383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3"/>
          <p:cNvSpPr>
            <a:spLocks noGrp="1"/>
          </p:cNvSpPr>
          <p:nvPr>
            <p:ph type="subTitle" idx="1"/>
          </p:nvPr>
        </p:nvSpPr>
        <p:spPr>
          <a:xfrm>
            <a:off x="350650" y="5931540"/>
            <a:ext cx="8818288" cy="428895"/>
          </a:xfrm>
        </p:spPr>
        <p:txBody>
          <a:bodyPr anchor="ctr"/>
          <a:lstStyle/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【iLegL</a:t>
            </a:r>
            <a:r>
              <a:rPr lang="zh-TW" altLang="en-US" sz="2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合約管理平台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2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系統建置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_</a:t>
            </a:r>
            <a:r>
              <a:rPr lang="zh-TW" altLang="en-US" sz="2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專案價格方案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28472" y="6416659"/>
            <a:ext cx="2298104" cy="298451"/>
          </a:xfrm>
        </p:spPr>
        <p:txBody>
          <a:bodyPr/>
          <a:lstStyle/>
          <a:p>
            <a:r>
              <a:rPr lang="zh-TW" altLang="en-US" sz="1600" dirty="0">
                <a:solidFill>
                  <a:srgbClr val="00ABAB"/>
                </a:solidFill>
              </a:rPr>
              <a:t>  </a:t>
            </a:r>
            <a:r>
              <a:rPr lang="en-US" altLang="zh-TW" sz="1600" dirty="0">
                <a:solidFill>
                  <a:srgbClr val="00ABAB"/>
                </a:solidFill>
              </a:rPr>
              <a:t>YYYY</a:t>
            </a:r>
            <a:r>
              <a:rPr lang="en-GB" altLang="zh-TW" sz="1600" dirty="0">
                <a:solidFill>
                  <a:srgbClr val="00ABAB"/>
                </a:solidFill>
              </a:rPr>
              <a:t>/MM/DD  Tiffany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11CB65-EE17-437F-900D-996FA5056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50" y="193801"/>
            <a:ext cx="1713627" cy="68041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BF7D13D-7743-4F04-B931-712643282FD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74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19400" y="1211580"/>
            <a:ext cx="7790064" cy="4381911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AE9C872-9B2D-978A-8C60-62AFA0BFB448}"/>
              </a:ext>
            </a:extLst>
          </p:cNvPr>
          <p:cNvSpPr txBox="1">
            <a:spLocks/>
          </p:cNvSpPr>
          <p:nvPr/>
        </p:nvSpPr>
        <p:spPr>
          <a:xfrm>
            <a:off x="11883410" y="6698484"/>
            <a:ext cx="308590" cy="1389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1911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1050" b="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0" indent="0" algn="l" defTabSz="121911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300" b="1" kern="120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235183" indent="-235183" algn="l" defTabSz="121911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475164" indent="-235183" algn="l" defTabSz="121911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710348" indent="-235183" algn="l" defTabSz="1064604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400" kern="1200" baseline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710348" indent="-235183" algn="l" defTabSz="121911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48" indent="-235183" algn="l" defTabSz="121911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48" indent="-235183" algn="l" defTabSz="121911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48" indent="-235183" algn="l" defTabSz="121911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sz="1000" dirty="0">
                <a:solidFill>
                  <a:schemeClr val="bg1">
                    <a:lumMod val="50000"/>
                  </a:schemeClr>
                </a:solidFill>
              </a:rPr>
              <a:t>V1.4</a:t>
            </a:r>
            <a:endParaRPr lang="en-GB" altLang="zh-TW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45954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方塊 37">
            <a:hlinkClick r:id="" action="ppaction://noaction"/>
            <a:extLst>
              <a:ext uri="{FF2B5EF4-FFF2-40B4-BE49-F238E27FC236}">
                <a16:creationId xmlns:a16="http://schemas.microsoft.com/office/drawing/2014/main" id="{C9639997-EE7F-4B7F-B5D7-2794BB102E00}"/>
              </a:ext>
            </a:extLst>
          </p:cNvPr>
          <p:cNvSpPr txBox="1"/>
          <p:nvPr/>
        </p:nvSpPr>
        <p:spPr>
          <a:xfrm>
            <a:off x="2952431" y="1514372"/>
            <a:ext cx="5683567" cy="43088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zh-TW" altLang="en-US" sz="2800" dirty="0">
                <a:solidFill>
                  <a:srgbClr val="313131"/>
                </a:solidFill>
              </a:rPr>
              <a:t>專案價格方案</a:t>
            </a:r>
          </a:p>
        </p:txBody>
      </p:sp>
      <p:sp>
        <p:nvSpPr>
          <p:cNvPr id="39" name="文字方塊 38">
            <a:hlinkClick r:id="rId3" action="ppaction://hlinksldjump"/>
            <a:extLst>
              <a:ext uri="{FF2B5EF4-FFF2-40B4-BE49-F238E27FC236}">
                <a16:creationId xmlns:a16="http://schemas.microsoft.com/office/drawing/2014/main" id="{6CF210C2-8B44-4396-8ACF-0534B015F96E}"/>
              </a:ext>
            </a:extLst>
          </p:cNvPr>
          <p:cNvSpPr txBox="1"/>
          <p:nvPr/>
        </p:nvSpPr>
        <p:spPr>
          <a:xfrm>
            <a:off x="2952432" y="2505455"/>
            <a:ext cx="5683567" cy="43088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600"/>
              </a:spcBef>
              <a:buSzPct val="100000"/>
              <a:defRPr sz="2800">
                <a:solidFill>
                  <a:srgbClr val="313131"/>
                </a:solidFill>
              </a:defRPr>
            </a:lvl1pPr>
          </a:lstStyle>
          <a:p>
            <a:r>
              <a:rPr lang="zh-TW" altLang="en-US" dirty="0"/>
              <a:t>系統維護費用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86C932D-CFB3-4671-A486-F36D817B1EFB}"/>
              </a:ext>
            </a:extLst>
          </p:cNvPr>
          <p:cNvSpPr txBox="1"/>
          <p:nvPr/>
        </p:nvSpPr>
        <p:spPr>
          <a:xfrm>
            <a:off x="8506561" y="1498697"/>
            <a:ext cx="46451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altLang="zh-TW" dirty="0">
                <a:solidFill>
                  <a:srgbClr val="313131"/>
                </a:solidFill>
              </a:rPr>
              <a:t>   3</a:t>
            </a:r>
            <a:endParaRPr lang="zh-TW" altLang="en-US" dirty="0">
              <a:solidFill>
                <a:srgbClr val="31313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EA006EE-9903-4B60-9767-BF25DC70CEC7}"/>
              </a:ext>
            </a:extLst>
          </p:cNvPr>
          <p:cNvSpPr txBox="1"/>
          <p:nvPr/>
        </p:nvSpPr>
        <p:spPr>
          <a:xfrm>
            <a:off x="8506561" y="2579447"/>
            <a:ext cx="616922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altLang="zh-TW" dirty="0">
                <a:solidFill>
                  <a:srgbClr val="313131"/>
                </a:solidFill>
              </a:rPr>
              <a:t>  12</a:t>
            </a:r>
            <a:endParaRPr lang="zh-TW" altLang="en-US" dirty="0">
              <a:solidFill>
                <a:srgbClr val="313131"/>
              </a:solidFill>
            </a:endParaRPr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423125CE-E276-4299-A964-27A9E47EE3CE}"/>
              </a:ext>
            </a:extLst>
          </p:cNvPr>
          <p:cNvSpPr/>
          <p:nvPr/>
        </p:nvSpPr>
        <p:spPr bwMode="gray">
          <a:xfrm>
            <a:off x="1665148" y="1463247"/>
            <a:ext cx="888762" cy="533138"/>
          </a:xfrm>
          <a:prstGeom prst="diamond">
            <a:avLst/>
          </a:prstGeom>
          <a:solidFill>
            <a:srgbClr val="00D5D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30876267-F1FC-4528-A280-2B568FF676CE}"/>
              </a:ext>
            </a:extLst>
          </p:cNvPr>
          <p:cNvSpPr/>
          <p:nvPr/>
        </p:nvSpPr>
        <p:spPr bwMode="gray">
          <a:xfrm>
            <a:off x="1642219" y="2497544"/>
            <a:ext cx="888762" cy="533138"/>
          </a:xfrm>
          <a:prstGeom prst="diamond">
            <a:avLst/>
          </a:prstGeom>
          <a:solidFill>
            <a:srgbClr val="00ABAB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48" name="TextBox 52">
            <a:extLst>
              <a:ext uri="{FF2B5EF4-FFF2-40B4-BE49-F238E27FC236}">
                <a16:creationId xmlns:a16="http://schemas.microsoft.com/office/drawing/2014/main" id="{D6E3B1A5-1C06-4F39-A4DA-457356DCF466}"/>
              </a:ext>
            </a:extLst>
          </p:cNvPr>
          <p:cNvSpPr txBox="1"/>
          <p:nvPr/>
        </p:nvSpPr>
        <p:spPr>
          <a:xfrm>
            <a:off x="1665148" y="1075120"/>
            <a:ext cx="88876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4800" dirty="0"/>
              <a:t>1</a:t>
            </a:r>
          </a:p>
        </p:txBody>
      </p:sp>
      <p:sp>
        <p:nvSpPr>
          <p:cNvPr id="49" name="TextBox 52">
            <a:extLst>
              <a:ext uri="{FF2B5EF4-FFF2-40B4-BE49-F238E27FC236}">
                <a16:creationId xmlns:a16="http://schemas.microsoft.com/office/drawing/2014/main" id="{109B7171-E980-42ED-B592-06F50243D72C}"/>
              </a:ext>
            </a:extLst>
          </p:cNvPr>
          <p:cNvSpPr txBox="1"/>
          <p:nvPr/>
        </p:nvSpPr>
        <p:spPr>
          <a:xfrm>
            <a:off x="1642218" y="2086160"/>
            <a:ext cx="88876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4800" dirty="0"/>
              <a:t>2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09450287-2909-D0BE-E9F4-95CCBA4BD698}"/>
              </a:ext>
            </a:extLst>
          </p:cNvPr>
          <p:cNvSpPr txBox="1">
            <a:spLocks/>
          </p:cNvSpPr>
          <p:nvPr/>
        </p:nvSpPr>
        <p:spPr bwMode="gray">
          <a:xfrm>
            <a:off x="622300" y="432941"/>
            <a:ext cx="11252200" cy="45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2800" b="1" dirty="0"/>
              <a:t>大綱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2063728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12" y="2528634"/>
            <a:ext cx="10418233" cy="1592403"/>
          </a:xfrm>
        </p:spPr>
        <p:txBody>
          <a:bodyPr/>
          <a:lstStyle/>
          <a:p>
            <a:r>
              <a:rPr lang="zh-TW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TW" sz="440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zh-TW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專案價格方案</a:t>
            </a:r>
          </a:p>
        </p:txBody>
      </p:sp>
    </p:spTree>
    <p:extLst>
      <p:ext uri="{BB962C8B-B14F-4D97-AF65-F5344CB8AC3E}">
        <p14:creationId xmlns:p14="http://schemas.microsoft.com/office/powerpoint/2010/main" val="111204240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21FAC-9FB7-AF3F-BC7A-5D77B071D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54CEED6-5B2B-CFED-307E-B841A2AE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FDDCC6-DFD7-CFD0-C2A1-BAA1BF14D543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ADD537FB-1B0C-020A-E8A1-2448E0FE9187}"/>
              </a:ext>
            </a:extLst>
          </p:cNvPr>
          <p:cNvSpPr/>
          <p:nvPr/>
        </p:nvSpPr>
        <p:spPr>
          <a:xfrm>
            <a:off x="1722995" y="1544963"/>
            <a:ext cx="3475554" cy="922866"/>
          </a:xfrm>
          <a:custGeom>
            <a:avLst/>
            <a:gdLst>
              <a:gd name="connsiteX0" fmla="*/ 0 w 2881833"/>
              <a:gd name="connsiteY0" fmla="*/ 0 h 1122087"/>
              <a:gd name="connsiteX1" fmla="*/ 2881833 w 2881833"/>
              <a:gd name="connsiteY1" fmla="*/ 0 h 1122087"/>
              <a:gd name="connsiteX2" fmla="*/ 2881833 w 2881833"/>
              <a:gd name="connsiteY2" fmla="*/ 1122087 h 1122087"/>
              <a:gd name="connsiteX3" fmla="*/ 0 w 2881833"/>
              <a:gd name="connsiteY3" fmla="*/ 1122087 h 1122087"/>
              <a:gd name="connsiteX4" fmla="*/ 0 w 2881833"/>
              <a:gd name="connsiteY4" fmla="*/ 0 h 112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122087">
                <a:moveTo>
                  <a:pt x="0" y="0"/>
                </a:moveTo>
                <a:lnTo>
                  <a:pt x="2881833" y="0"/>
                </a:lnTo>
                <a:lnTo>
                  <a:pt x="2881833" y="1122087"/>
                </a:lnTo>
                <a:lnTo>
                  <a:pt x="0" y="1122087"/>
                </a:lnTo>
                <a:lnTo>
                  <a:pt x="0" y="0"/>
                </a:lnTo>
                <a:close/>
              </a:path>
            </a:pathLst>
          </a:custGeom>
          <a:solidFill>
            <a:srgbClr val="005587"/>
          </a:solidFill>
        </p:spPr>
        <p:style>
          <a:lnRef idx="1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TW" b="1" kern="1200" dirty="0"/>
              <a:t>1. </a:t>
            </a:r>
            <a:r>
              <a:rPr lang="zh-TW" altLang="en-US" b="1" kern="1200" dirty="0"/>
              <a:t>產品費用</a:t>
            </a:r>
            <a:endParaRPr lang="en-US" altLang="zh-TW" b="1" kern="1200" dirty="0"/>
          </a:p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TW" sz="2200" b="1" dirty="0">
                <a:solidFill>
                  <a:srgbClr val="FF898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2200" b="1" dirty="0">
                <a:solidFill>
                  <a:srgbClr val="FF898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必要</a:t>
            </a:r>
            <a:r>
              <a:rPr lang="en-US" altLang="zh-TW" sz="2200" b="1" dirty="0">
                <a:solidFill>
                  <a:srgbClr val="FF898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endParaRPr lang="zh-TW" altLang="en-US" sz="2200" b="1" kern="1200" dirty="0">
              <a:solidFill>
                <a:srgbClr val="FF8989"/>
              </a:solidFill>
              <a:latin typeface="+mn-ea"/>
            </a:endParaRPr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9C7E7327-C739-8BDA-07E5-998CD6B8BA04}"/>
              </a:ext>
            </a:extLst>
          </p:cNvPr>
          <p:cNvSpPr/>
          <p:nvPr/>
        </p:nvSpPr>
        <p:spPr>
          <a:xfrm>
            <a:off x="1722995" y="2467829"/>
            <a:ext cx="3475554" cy="1122088"/>
          </a:xfrm>
          <a:custGeom>
            <a:avLst/>
            <a:gdLst>
              <a:gd name="connsiteX0" fmla="*/ 0 w 2881833"/>
              <a:gd name="connsiteY0" fmla="*/ 0 h 1325835"/>
              <a:gd name="connsiteX1" fmla="*/ 2881833 w 2881833"/>
              <a:gd name="connsiteY1" fmla="*/ 0 h 1325835"/>
              <a:gd name="connsiteX2" fmla="*/ 2881833 w 2881833"/>
              <a:gd name="connsiteY2" fmla="*/ 1325835 h 1325835"/>
              <a:gd name="connsiteX3" fmla="*/ 0 w 2881833"/>
              <a:gd name="connsiteY3" fmla="*/ 1325835 h 1325835"/>
              <a:gd name="connsiteX4" fmla="*/ 0 w 2881833"/>
              <a:gd name="connsiteY4" fmla="*/ 0 h 13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325835">
                <a:moveTo>
                  <a:pt x="0" y="0"/>
                </a:moveTo>
                <a:lnTo>
                  <a:pt x="2881833" y="0"/>
                </a:lnTo>
                <a:lnTo>
                  <a:pt x="2881833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ctr" anchorCtr="0">
            <a:noAutofit/>
          </a:bodyPr>
          <a:lstStyle/>
          <a:p>
            <a:pPr marL="342900" lvl="1" indent="-342900" algn="l" defTabSz="1022350"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en-US" altLang="zh-TW" sz="2200" b="1" kern="1200" dirty="0"/>
              <a:t>【</a:t>
            </a:r>
            <a:r>
              <a:rPr lang="zh-TW" altLang="en-US" sz="2200" b="1" kern="1200" dirty="0"/>
              <a:t>基本版</a:t>
            </a:r>
            <a:r>
              <a:rPr lang="en-US" altLang="zh-TW" sz="2200" b="1" kern="1200" dirty="0"/>
              <a:t>】</a:t>
            </a:r>
            <a:r>
              <a:rPr lang="zh-TW" altLang="en-US" sz="2200" b="1" kern="1200" dirty="0"/>
              <a:t>產品</a:t>
            </a:r>
          </a:p>
          <a:p>
            <a:pPr marL="342900" lvl="1" indent="-342900" defTabSz="1022350"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en-US" altLang="zh-TW" sz="2200" dirty="0"/>
              <a:t>【</a:t>
            </a:r>
            <a:r>
              <a:rPr lang="zh-TW" altLang="en-US" sz="2200" dirty="0"/>
              <a:t>旗艦版</a:t>
            </a:r>
            <a:r>
              <a:rPr lang="en-US" altLang="zh-TW" sz="2200" dirty="0"/>
              <a:t>】</a:t>
            </a:r>
            <a:r>
              <a:rPr lang="zh-TW" altLang="en-US" sz="2200" dirty="0"/>
              <a:t>產品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A8E53944-DDDD-604A-1B86-F026E6DF55DE}"/>
              </a:ext>
            </a:extLst>
          </p:cNvPr>
          <p:cNvGrpSpPr/>
          <p:nvPr/>
        </p:nvGrpSpPr>
        <p:grpSpPr>
          <a:xfrm>
            <a:off x="304804" y="689833"/>
            <a:ext cx="10525012" cy="595009"/>
            <a:chOff x="220134" y="757569"/>
            <a:chExt cx="10525012" cy="595009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596DB628-9A00-EC82-17A9-A72FB5F92F97}"/>
                </a:ext>
              </a:extLst>
            </p:cNvPr>
            <p:cNvSpPr/>
            <p:nvPr/>
          </p:nvSpPr>
          <p:spPr bwMode="gray">
            <a:xfrm>
              <a:off x="220134" y="757569"/>
              <a:ext cx="10525012" cy="595009"/>
            </a:xfrm>
            <a:prstGeom prst="roundRect">
              <a:avLst>
                <a:gd name="adj" fmla="val 11023"/>
              </a:avLst>
            </a:prstGeom>
            <a:noFill/>
            <a:ln w="12700" algn="ctr">
              <a:solidFill>
                <a:srgbClr val="FF99CC"/>
              </a:solidFill>
              <a:prstDash val="sysDash"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TW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79A59822-43E9-E21F-5B30-7FFC07C4991A}"/>
                </a:ext>
              </a:extLst>
            </p:cNvPr>
            <p:cNvSpPr txBox="1"/>
            <p:nvPr/>
          </p:nvSpPr>
          <p:spPr>
            <a:xfrm>
              <a:off x="279404" y="840143"/>
              <a:ext cx="1044786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altLang="zh-TW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iLegL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合約管理平台</a:t>
              </a:r>
              <a:r>
                <a:rPr lang="en-US" altLang="zh-TW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系統建置專案，</a:t>
              </a:r>
              <a:r>
                <a:rPr lang="zh-TW" altLang="en-US" sz="22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整體費用報價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由以下</a:t>
              </a:r>
              <a:r>
                <a:rPr lang="en-US" altLang="zh-TW" sz="20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《</a:t>
              </a:r>
              <a:r>
                <a:rPr lang="zh-TW" altLang="en-US" sz="20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必要</a:t>
              </a:r>
              <a:r>
                <a:rPr lang="en-US" altLang="zh-TW" sz="20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》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</a:t>
              </a:r>
              <a:r>
                <a:rPr lang="en-US" altLang="zh-TW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《</a:t>
              </a:r>
              <a:r>
                <a:rPr lang="zh-TW" altLang="en-US" sz="2000" b="1" dirty="0">
                  <a:solidFill>
                    <a:srgbClr val="0038A8"/>
                  </a:solidFill>
                  <a:latin typeface="+mj-lt"/>
                  <a:ea typeface="微軟正黑體" panose="020B0604030504040204" pitchFamily="34" charset="-120"/>
                  <a:cs typeface="+mj-cs"/>
                </a:rPr>
                <a:t>非必要</a:t>
              </a:r>
              <a:r>
                <a:rPr lang="en-US" altLang="zh-TW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》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項目組成。</a:t>
              </a:r>
              <a:endParaRPr lang="en-US" altLang="zh-TW" sz="20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5" name="手繪多邊形: 圖案 14">
            <a:extLst>
              <a:ext uri="{FF2B5EF4-FFF2-40B4-BE49-F238E27FC236}">
                <a16:creationId xmlns:a16="http://schemas.microsoft.com/office/drawing/2014/main" id="{A04CC86F-EE4F-1CA6-E008-8E132E38350D}"/>
              </a:ext>
            </a:extLst>
          </p:cNvPr>
          <p:cNvSpPr/>
          <p:nvPr/>
        </p:nvSpPr>
        <p:spPr>
          <a:xfrm>
            <a:off x="5783949" y="1544963"/>
            <a:ext cx="3475554" cy="922866"/>
          </a:xfrm>
          <a:custGeom>
            <a:avLst/>
            <a:gdLst>
              <a:gd name="connsiteX0" fmla="*/ 0 w 2881833"/>
              <a:gd name="connsiteY0" fmla="*/ 0 h 1122087"/>
              <a:gd name="connsiteX1" fmla="*/ 2881833 w 2881833"/>
              <a:gd name="connsiteY1" fmla="*/ 0 h 1122087"/>
              <a:gd name="connsiteX2" fmla="*/ 2881833 w 2881833"/>
              <a:gd name="connsiteY2" fmla="*/ 1122087 h 1122087"/>
              <a:gd name="connsiteX3" fmla="*/ 0 w 2881833"/>
              <a:gd name="connsiteY3" fmla="*/ 1122087 h 1122087"/>
              <a:gd name="connsiteX4" fmla="*/ 0 w 2881833"/>
              <a:gd name="connsiteY4" fmla="*/ 0 h 112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122087">
                <a:moveTo>
                  <a:pt x="0" y="0"/>
                </a:moveTo>
                <a:lnTo>
                  <a:pt x="2881833" y="0"/>
                </a:lnTo>
                <a:lnTo>
                  <a:pt x="2881833" y="1122087"/>
                </a:lnTo>
                <a:lnTo>
                  <a:pt x="0" y="1122087"/>
                </a:lnTo>
                <a:lnTo>
                  <a:pt x="0" y="0"/>
                </a:lnTo>
                <a:close/>
              </a:path>
            </a:pathLst>
          </a:custGeom>
          <a:solidFill>
            <a:srgbClr val="005587"/>
          </a:solidFill>
        </p:spPr>
        <p:style>
          <a:lnRef idx="1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TW" b="1" dirty="0"/>
              <a:t>2. </a:t>
            </a:r>
            <a:r>
              <a:rPr lang="zh-TW" altLang="en-US" b="1" dirty="0"/>
              <a:t>導入費用</a:t>
            </a:r>
            <a:endParaRPr lang="en-US" altLang="zh-TW" b="1" dirty="0"/>
          </a:p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TW" sz="2200" b="1" dirty="0">
                <a:solidFill>
                  <a:srgbClr val="FF898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2200" b="1" dirty="0">
                <a:solidFill>
                  <a:srgbClr val="FF898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必要</a:t>
            </a:r>
            <a:r>
              <a:rPr lang="en-US" altLang="zh-TW" sz="2200" b="1" dirty="0">
                <a:solidFill>
                  <a:srgbClr val="FF898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endParaRPr lang="zh-TW" altLang="en-US" sz="2200" b="1" dirty="0">
              <a:solidFill>
                <a:srgbClr val="FF8989"/>
              </a:solidFill>
              <a:latin typeface="+mn-ea"/>
            </a:endParaRPr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DFCF27F6-0B4D-0D58-8680-C5B0363F19FA}"/>
              </a:ext>
            </a:extLst>
          </p:cNvPr>
          <p:cNvSpPr/>
          <p:nvPr/>
        </p:nvSpPr>
        <p:spPr>
          <a:xfrm>
            <a:off x="5783949" y="2467829"/>
            <a:ext cx="3475554" cy="1122088"/>
          </a:xfrm>
          <a:custGeom>
            <a:avLst/>
            <a:gdLst>
              <a:gd name="connsiteX0" fmla="*/ 0 w 2881833"/>
              <a:gd name="connsiteY0" fmla="*/ 0 h 1325835"/>
              <a:gd name="connsiteX1" fmla="*/ 2881833 w 2881833"/>
              <a:gd name="connsiteY1" fmla="*/ 0 h 1325835"/>
              <a:gd name="connsiteX2" fmla="*/ 2881833 w 2881833"/>
              <a:gd name="connsiteY2" fmla="*/ 1325835 h 1325835"/>
              <a:gd name="connsiteX3" fmla="*/ 0 w 2881833"/>
              <a:gd name="connsiteY3" fmla="*/ 1325835 h 1325835"/>
              <a:gd name="connsiteX4" fmla="*/ 0 w 2881833"/>
              <a:gd name="connsiteY4" fmla="*/ 0 h 13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325835">
                <a:moveTo>
                  <a:pt x="0" y="0"/>
                </a:moveTo>
                <a:lnTo>
                  <a:pt x="2881833" y="0"/>
                </a:lnTo>
                <a:lnTo>
                  <a:pt x="2881833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ctr" anchorCtr="0">
            <a:noAutofit/>
          </a:bodyPr>
          <a:lstStyle/>
          <a:p>
            <a:pPr marL="342900" lvl="1" indent="-342900" algn="l" defTabSz="1022350"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en-US" altLang="zh-TW" sz="2200" b="1" dirty="0"/>
              <a:t>【</a:t>
            </a:r>
            <a:r>
              <a:rPr lang="zh-TW" altLang="en-US" sz="2200" b="1" dirty="0"/>
              <a:t>標準導入</a:t>
            </a:r>
            <a:r>
              <a:rPr lang="en-US" altLang="zh-TW" sz="2200" b="1" dirty="0"/>
              <a:t>】</a:t>
            </a:r>
            <a:r>
              <a:rPr lang="zh-TW" altLang="en-US" sz="2200" b="1" dirty="0"/>
              <a:t>方案</a:t>
            </a:r>
          </a:p>
        </p:txBody>
      </p:sp>
      <p:sp>
        <p:nvSpPr>
          <p:cNvPr id="19" name="手繪多邊形: 圖案 18">
            <a:extLst>
              <a:ext uri="{FF2B5EF4-FFF2-40B4-BE49-F238E27FC236}">
                <a16:creationId xmlns:a16="http://schemas.microsoft.com/office/drawing/2014/main" id="{0DF296C3-98ED-2A18-C374-CB68373342EA}"/>
              </a:ext>
            </a:extLst>
          </p:cNvPr>
          <p:cNvSpPr/>
          <p:nvPr/>
        </p:nvSpPr>
        <p:spPr>
          <a:xfrm>
            <a:off x="3880981" y="3926585"/>
            <a:ext cx="3827114" cy="922866"/>
          </a:xfrm>
          <a:custGeom>
            <a:avLst/>
            <a:gdLst>
              <a:gd name="connsiteX0" fmla="*/ 0 w 2881833"/>
              <a:gd name="connsiteY0" fmla="*/ 0 h 1122087"/>
              <a:gd name="connsiteX1" fmla="*/ 2881833 w 2881833"/>
              <a:gd name="connsiteY1" fmla="*/ 0 h 1122087"/>
              <a:gd name="connsiteX2" fmla="*/ 2881833 w 2881833"/>
              <a:gd name="connsiteY2" fmla="*/ 1122087 h 1122087"/>
              <a:gd name="connsiteX3" fmla="*/ 0 w 2881833"/>
              <a:gd name="connsiteY3" fmla="*/ 1122087 h 1122087"/>
              <a:gd name="connsiteX4" fmla="*/ 0 w 2881833"/>
              <a:gd name="connsiteY4" fmla="*/ 0 h 112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122087">
                <a:moveTo>
                  <a:pt x="0" y="0"/>
                </a:moveTo>
                <a:lnTo>
                  <a:pt x="2881833" y="0"/>
                </a:lnTo>
                <a:lnTo>
                  <a:pt x="2881833" y="1122087"/>
                </a:lnTo>
                <a:lnTo>
                  <a:pt x="0" y="1122087"/>
                </a:lnTo>
                <a:lnTo>
                  <a:pt x="0" y="0"/>
                </a:lnTo>
                <a:close/>
              </a:path>
            </a:pathLst>
          </a:custGeom>
          <a:solidFill>
            <a:srgbClr val="046A38"/>
          </a:solidFill>
        </p:spPr>
        <p:style>
          <a:lnRef idx="1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TW" b="1" dirty="0"/>
              <a:t>4. </a:t>
            </a:r>
            <a:r>
              <a:rPr lang="zh-TW" altLang="en-US" b="1" dirty="0"/>
              <a:t>客製服務費用</a:t>
            </a:r>
            <a:endParaRPr lang="en-US" altLang="zh-TW" b="1" dirty="0"/>
          </a:p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TW" sz="2000" b="1" dirty="0">
                <a:solidFill>
                  <a:srgbClr val="E3E48D"/>
                </a:solidFill>
                <a:latin typeface="+mn-ea"/>
              </a:rPr>
              <a:t>(</a:t>
            </a:r>
            <a:r>
              <a:rPr lang="zh-TW" altLang="en-US" sz="2000" b="1" dirty="0">
                <a:solidFill>
                  <a:srgbClr val="A0DCFF"/>
                </a:solidFill>
                <a:latin typeface="+mn-ea"/>
              </a:rPr>
              <a:t>非必要</a:t>
            </a:r>
            <a:r>
              <a:rPr lang="zh-TW" altLang="en-US" sz="2000" b="1" dirty="0">
                <a:solidFill>
                  <a:srgbClr val="E3E48D"/>
                </a:solidFill>
                <a:latin typeface="+mn-ea"/>
              </a:rPr>
              <a:t>，</a:t>
            </a:r>
            <a:r>
              <a:rPr lang="zh-TW" altLang="en-US" sz="2000" b="1" dirty="0">
                <a:solidFill>
                  <a:srgbClr val="A0DCFF"/>
                </a:solidFill>
                <a:latin typeface="+mn-ea"/>
              </a:rPr>
              <a:t>有需要再加購</a:t>
            </a:r>
            <a:r>
              <a:rPr lang="en-US" altLang="zh-TW" sz="2000" b="1" dirty="0">
                <a:solidFill>
                  <a:srgbClr val="E3E48D"/>
                </a:solidFill>
                <a:latin typeface="+mn-ea"/>
              </a:rPr>
              <a:t>)</a:t>
            </a:r>
            <a:endParaRPr lang="zh-TW" altLang="en-US" sz="2000" b="1" dirty="0">
              <a:solidFill>
                <a:srgbClr val="E3E48D"/>
              </a:solidFill>
              <a:latin typeface="+mn-ea"/>
            </a:endParaRPr>
          </a:p>
        </p:txBody>
      </p:sp>
      <p:sp>
        <p:nvSpPr>
          <p:cNvPr id="20" name="手繪多邊形: 圖案 19">
            <a:extLst>
              <a:ext uri="{FF2B5EF4-FFF2-40B4-BE49-F238E27FC236}">
                <a16:creationId xmlns:a16="http://schemas.microsoft.com/office/drawing/2014/main" id="{6A9BBA6E-9348-090E-F22D-B8D4BE9DD536}"/>
              </a:ext>
            </a:extLst>
          </p:cNvPr>
          <p:cNvSpPr/>
          <p:nvPr/>
        </p:nvSpPr>
        <p:spPr>
          <a:xfrm>
            <a:off x="3880981" y="4849450"/>
            <a:ext cx="3827114" cy="1577085"/>
          </a:xfrm>
          <a:custGeom>
            <a:avLst/>
            <a:gdLst>
              <a:gd name="connsiteX0" fmla="*/ 0 w 2881833"/>
              <a:gd name="connsiteY0" fmla="*/ 0 h 1325835"/>
              <a:gd name="connsiteX1" fmla="*/ 2881833 w 2881833"/>
              <a:gd name="connsiteY1" fmla="*/ 0 h 1325835"/>
              <a:gd name="connsiteX2" fmla="*/ 2881833 w 2881833"/>
              <a:gd name="connsiteY2" fmla="*/ 1325835 h 1325835"/>
              <a:gd name="connsiteX3" fmla="*/ 0 w 2881833"/>
              <a:gd name="connsiteY3" fmla="*/ 1325835 h 1325835"/>
              <a:gd name="connsiteX4" fmla="*/ 0 w 2881833"/>
              <a:gd name="connsiteY4" fmla="*/ 0 h 13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325835">
                <a:moveTo>
                  <a:pt x="0" y="0"/>
                </a:moveTo>
                <a:lnTo>
                  <a:pt x="2881833" y="0"/>
                </a:lnTo>
                <a:lnTo>
                  <a:pt x="2881833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ctr" anchorCtr="0">
            <a:noAutofit/>
          </a:bodyPr>
          <a:lstStyle/>
          <a:p>
            <a:pPr marL="342900" lvl="1" indent="-342900" algn="l" defTabSz="1022350"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/>
              <a:t>客戶提出目前產品沒有支援的功能或標準規格以外的需求項目，皆屬客製範疇。</a:t>
            </a:r>
            <a:endParaRPr lang="en-US" altLang="zh-TW" sz="2000" dirty="0"/>
          </a:p>
          <a:p>
            <a:pPr marL="342900" lvl="1" indent="-342900" algn="l" defTabSz="1022350"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/>
              <a:t>與其他系統介接整合。</a:t>
            </a:r>
            <a:endParaRPr lang="en-US" altLang="zh-TW" sz="2000" dirty="0"/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BE594FD9-7962-BE02-F30E-EB528D7EE22B}"/>
              </a:ext>
            </a:extLst>
          </p:cNvPr>
          <p:cNvSpPr/>
          <p:nvPr/>
        </p:nvSpPr>
        <p:spPr>
          <a:xfrm>
            <a:off x="8052862" y="3926584"/>
            <a:ext cx="3942538" cy="922866"/>
          </a:xfrm>
          <a:custGeom>
            <a:avLst/>
            <a:gdLst>
              <a:gd name="connsiteX0" fmla="*/ 0 w 2881833"/>
              <a:gd name="connsiteY0" fmla="*/ 0 h 1122087"/>
              <a:gd name="connsiteX1" fmla="*/ 2881833 w 2881833"/>
              <a:gd name="connsiteY1" fmla="*/ 0 h 1122087"/>
              <a:gd name="connsiteX2" fmla="*/ 2881833 w 2881833"/>
              <a:gd name="connsiteY2" fmla="*/ 1122087 h 1122087"/>
              <a:gd name="connsiteX3" fmla="*/ 0 w 2881833"/>
              <a:gd name="connsiteY3" fmla="*/ 1122087 h 1122087"/>
              <a:gd name="connsiteX4" fmla="*/ 0 w 2881833"/>
              <a:gd name="connsiteY4" fmla="*/ 0 h 112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122087">
                <a:moveTo>
                  <a:pt x="0" y="0"/>
                </a:moveTo>
                <a:lnTo>
                  <a:pt x="2881833" y="0"/>
                </a:lnTo>
                <a:lnTo>
                  <a:pt x="2881833" y="1122087"/>
                </a:lnTo>
                <a:lnTo>
                  <a:pt x="0" y="1122087"/>
                </a:lnTo>
                <a:lnTo>
                  <a:pt x="0" y="0"/>
                </a:lnTo>
                <a:close/>
              </a:path>
            </a:pathLst>
          </a:custGeom>
          <a:solidFill>
            <a:srgbClr val="046A38"/>
          </a:solidFill>
        </p:spPr>
        <p:style>
          <a:lnRef idx="1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TW" b="1" dirty="0"/>
              <a:t>5. </a:t>
            </a:r>
            <a:r>
              <a:rPr lang="zh-TW" altLang="en-US" b="1" dirty="0"/>
              <a:t>加購顧問時數</a:t>
            </a:r>
            <a:endParaRPr lang="en-US" altLang="zh-TW" b="1" dirty="0"/>
          </a:p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TW" sz="2000" b="1" dirty="0">
                <a:solidFill>
                  <a:srgbClr val="E3E48D"/>
                </a:solidFill>
                <a:latin typeface="+mn-ea"/>
              </a:rPr>
              <a:t>(</a:t>
            </a:r>
            <a:r>
              <a:rPr lang="zh-TW" altLang="en-US" sz="2000" b="1" dirty="0">
                <a:solidFill>
                  <a:srgbClr val="A0DCFF"/>
                </a:solidFill>
                <a:latin typeface="+mn-ea"/>
              </a:rPr>
              <a:t>非必要</a:t>
            </a:r>
            <a:r>
              <a:rPr lang="zh-TW" altLang="en-US" sz="2000" b="1" dirty="0">
                <a:solidFill>
                  <a:srgbClr val="E3E48D"/>
                </a:solidFill>
                <a:latin typeface="+mn-ea"/>
              </a:rPr>
              <a:t>，</a:t>
            </a:r>
            <a:r>
              <a:rPr lang="zh-TW" altLang="en-US" sz="2000" b="1" dirty="0">
                <a:solidFill>
                  <a:srgbClr val="A0DCFF"/>
                </a:solidFill>
                <a:latin typeface="+mn-ea"/>
              </a:rPr>
              <a:t>有需要再加購</a:t>
            </a:r>
            <a:r>
              <a:rPr lang="en-US" altLang="zh-TW" sz="2000" b="1" dirty="0">
                <a:solidFill>
                  <a:srgbClr val="E3E48D"/>
                </a:solidFill>
                <a:latin typeface="+mn-ea"/>
              </a:rPr>
              <a:t>)</a:t>
            </a:r>
            <a:endParaRPr lang="zh-TW" altLang="en-US" sz="2000" b="1" dirty="0">
              <a:solidFill>
                <a:srgbClr val="E3E48D"/>
              </a:solidFill>
              <a:latin typeface="+mn-ea"/>
            </a:endParaRPr>
          </a:p>
        </p:txBody>
      </p:sp>
      <p:sp>
        <p:nvSpPr>
          <p:cNvPr id="22" name="手繪多邊形: 圖案 21">
            <a:extLst>
              <a:ext uri="{FF2B5EF4-FFF2-40B4-BE49-F238E27FC236}">
                <a16:creationId xmlns:a16="http://schemas.microsoft.com/office/drawing/2014/main" id="{661DF129-6FE1-A215-B067-D1AA6F13F903}"/>
              </a:ext>
            </a:extLst>
          </p:cNvPr>
          <p:cNvSpPr/>
          <p:nvPr/>
        </p:nvSpPr>
        <p:spPr>
          <a:xfrm>
            <a:off x="8052862" y="4849450"/>
            <a:ext cx="3942538" cy="1577085"/>
          </a:xfrm>
          <a:custGeom>
            <a:avLst/>
            <a:gdLst>
              <a:gd name="connsiteX0" fmla="*/ 0 w 2881833"/>
              <a:gd name="connsiteY0" fmla="*/ 0 h 1325835"/>
              <a:gd name="connsiteX1" fmla="*/ 2881833 w 2881833"/>
              <a:gd name="connsiteY1" fmla="*/ 0 h 1325835"/>
              <a:gd name="connsiteX2" fmla="*/ 2881833 w 2881833"/>
              <a:gd name="connsiteY2" fmla="*/ 1325835 h 1325835"/>
              <a:gd name="connsiteX3" fmla="*/ 0 w 2881833"/>
              <a:gd name="connsiteY3" fmla="*/ 1325835 h 1325835"/>
              <a:gd name="connsiteX4" fmla="*/ 0 w 2881833"/>
              <a:gd name="connsiteY4" fmla="*/ 0 h 13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325835">
                <a:moveTo>
                  <a:pt x="0" y="0"/>
                </a:moveTo>
                <a:lnTo>
                  <a:pt x="2881833" y="0"/>
                </a:lnTo>
                <a:lnTo>
                  <a:pt x="2881833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ctr" anchorCtr="0">
            <a:noAutofit/>
          </a:bodyPr>
          <a:lstStyle/>
          <a:p>
            <a:pPr marL="342900" lvl="1" indent="-342900" defTabSz="1022350"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/>
              <a:t>當選擇</a:t>
            </a:r>
            <a:r>
              <a:rPr lang="en-US" altLang="zh-TW" sz="2000" dirty="0"/>
              <a:t>【</a:t>
            </a:r>
            <a:r>
              <a:rPr lang="zh-TW" altLang="en-US" sz="2000" dirty="0"/>
              <a:t>標準導入</a:t>
            </a:r>
            <a:r>
              <a:rPr lang="en-US" altLang="zh-TW" sz="2000" dirty="0"/>
              <a:t>】</a:t>
            </a:r>
            <a:r>
              <a:rPr lang="zh-TW" altLang="en-US" sz="2000" dirty="0"/>
              <a:t>方案時，</a:t>
            </a:r>
            <a:endParaRPr lang="en-US" altLang="zh-TW" sz="2000" dirty="0"/>
          </a:p>
          <a:p>
            <a:pPr marL="0" lvl="1" defTabSz="1022350">
              <a:spcBef>
                <a:spcPct val="0"/>
              </a:spcBef>
              <a:spcAft>
                <a:spcPct val="15000"/>
              </a:spcAft>
            </a:pPr>
            <a:r>
              <a:rPr lang="zh-TW" altLang="en-US" sz="2000" dirty="0"/>
              <a:t>針對需要由客戶自行設定的項目，</a:t>
            </a:r>
            <a:endParaRPr lang="en-US" altLang="zh-TW" sz="2000" dirty="0"/>
          </a:p>
          <a:p>
            <a:pPr marL="0" lvl="1" defTabSz="1022350">
              <a:spcBef>
                <a:spcPct val="0"/>
              </a:spcBef>
              <a:spcAft>
                <a:spcPct val="15000"/>
              </a:spcAft>
            </a:pPr>
            <a:r>
              <a:rPr lang="zh-TW" altLang="en-US" sz="2000" dirty="0"/>
              <a:t>可購買顧問時數，用於諮詢顧問</a:t>
            </a:r>
            <a:endParaRPr lang="en-US" altLang="zh-TW" sz="2000" dirty="0"/>
          </a:p>
          <a:p>
            <a:pPr marL="0" lvl="1" defTabSz="1022350">
              <a:spcBef>
                <a:spcPct val="0"/>
              </a:spcBef>
              <a:spcAft>
                <a:spcPct val="15000"/>
              </a:spcAft>
            </a:pPr>
            <a:r>
              <a:rPr lang="zh-TW" altLang="en-US" sz="2000" dirty="0"/>
              <a:t>如何設定或請顧問協助設定</a:t>
            </a:r>
            <a:r>
              <a:rPr lang="en-US" altLang="zh-TW" sz="2000" dirty="0"/>
              <a:t>/</a:t>
            </a:r>
            <a:r>
              <a:rPr lang="zh-TW" altLang="en-US" sz="2000" dirty="0"/>
              <a:t>處理。</a:t>
            </a:r>
            <a:endParaRPr lang="en-US" altLang="zh-TW" sz="2000" dirty="0"/>
          </a:p>
        </p:txBody>
      </p:sp>
      <p:sp>
        <p:nvSpPr>
          <p:cNvPr id="3" name="手繪多邊形: 圖案 2">
            <a:extLst>
              <a:ext uri="{FF2B5EF4-FFF2-40B4-BE49-F238E27FC236}">
                <a16:creationId xmlns:a16="http://schemas.microsoft.com/office/drawing/2014/main" id="{29D8E018-A086-928E-7AA3-EA3E3EEC32D7}"/>
              </a:ext>
            </a:extLst>
          </p:cNvPr>
          <p:cNvSpPr/>
          <p:nvPr/>
        </p:nvSpPr>
        <p:spPr>
          <a:xfrm>
            <a:off x="304804" y="3926585"/>
            <a:ext cx="3339614" cy="922866"/>
          </a:xfrm>
          <a:custGeom>
            <a:avLst/>
            <a:gdLst>
              <a:gd name="connsiteX0" fmla="*/ 0 w 2881833"/>
              <a:gd name="connsiteY0" fmla="*/ 0 h 1122087"/>
              <a:gd name="connsiteX1" fmla="*/ 2881833 w 2881833"/>
              <a:gd name="connsiteY1" fmla="*/ 0 h 1122087"/>
              <a:gd name="connsiteX2" fmla="*/ 2881833 w 2881833"/>
              <a:gd name="connsiteY2" fmla="*/ 1122087 h 1122087"/>
              <a:gd name="connsiteX3" fmla="*/ 0 w 2881833"/>
              <a:gd name="connsiteY3" fmla="*/ 1122087 h 1122087"/>
              <a:gd name="connsiteX4" fmla="*/ 0 w 2881833"/>
              <a:gd name="connsiteY4" fmla="*/ 0 h 112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122087">
                <a:moveTo>
                  <a:pt x="0" y="0"/>
                </a:moveTo>
                <a:lnTo>
                  <a:pt x="2881833" y="0"/>
                </a:lnTo>
                <a:lnTo>
                  <a:pt x="2881833" y="1122087"/>
                </a:lnTo>
                <a:lnTo>
                  <a:pt x="0" y="1122087"/>
                </a:lnTo>
                <a:lnTo>
                  <a:pt x="0" y="0"/>
                </a:lnTo>
                <a:close/>
              </a:path>
            </a:pathLst>
          </a:custGeom>
          <a:solidFill>
            <a:srgbClr val="046A38"/>
          </a:solidFill>
        </p:spPr>
        <p:style>
          <a:lnRef idx="1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TW" b="1" dirty="0"/>
              <a:t>3. </a:t>
            </a:r>
            <a:r>
              <a:rPr lang="zh-TW" altLang="en-US" b="1" dirty="0"/>
              <a:t>加購</a:t>
            </a:r>
            <a:endParaRPr lang="en-US" altLang="zh-TW" b="1" dirty="0">
              <a:latin typeface="+mn-ea"/>
            </a:endParaRP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TW" sz="2000" b="1" dirty="0">
                <a:solidFill>
                  <a:srgbClr val="E3E48D"/>
                </a:solidFill>
                <a:latin typeface="+mn-ea"/>
              </a:rPr>
              <a:t>(</a:t>
            </a:r>
            <a:r>
              <a:rPr lang="zh-TW" altLang="en-US" sz="2000" b="1" dirty="0">
                <a:solidFill>
                  <a:srgbClr val="A0DCFF"/>
                </a:solidFill>
                <a:latin typeface="+mn-ea"/>
              </a:rPr>
              <a:t>非必要</a:t>
            </a:r>
            <a:r>
              <a:rPr lang="zh-TW" altLang="en-US" sz="2000" b="1" dirty="0">
                <a:solidFill>
                  <a:srgbClr val="E3E48D"/>
                </a:solidFill>
                <a:latin typeface="+mn-ea"/>
              </a:rPr>
              <a:t>，</a:t>
            </a:r>
            <a:r>
              <a:rPr lang="zh-TW" altLang="en-US" sz="2000" b="1" dirty="0">
                <a:solidFill>
                  <a:srgbClr val="A0DCFF"/>
                </a:solidFill>
                <a:latin typeface="+mn-ea"/>
              </a:rPr>
              <a:t>有需要再加購</a:t>
            </a:r>
            <a:r>
              <a:rPr lang="en-US" altLang="zh-TW" sz="2000" b="1" dirty="0">
                <a:solidFill>
                  <a:srgbClr val="E3E48D"/>
                </a:solidFill>
                <a:latin typeface="+mn-ea"/>
              </a:rPr>
              <a:t>)</a:t>
            </a:r>
            <a:endParaRPr lang="zh-TW" altLang="en-US" sz="2000" b="1" kern="1200" dirty="0">
              <a:solidFill>
                <a:srgbClr val="E3E48D"/>
              </a:solidFill>
              <a:latin typeface="+mn-ea"/>
            </a:endParaRPr>
          </a:p>
        </p:txBody>
      </p:sp>
      <p:sp>
        <p:nvSpPr>
          <p:cNvPr id="6" name="手繪多邊形: 圖案 5">
            <a:extLst>
              <a:ext uri="{FF2B5EF4-FFF2-40B4-BE49-F238E27FC236}">
                <a16:creationId xmlns:a16="http://schemas.microsoft.com/office/drawing/2014/main" id="{11B8EC69-1FD9-2B19-469F-D892C1E53374}"/>
              </a:ext>
            </a:extLst>
          </p:cNvPr>
          <p:cNvSpPr/>
          <p:nvPr/>
        </p:nvSpPr>
        <p:spPr>
          <a:xfrm>
            <a:off x="304804" y="4849452"/>
            <a:ext cx="3339614" cy="1583520"/>
          </a:xfrm>
          <a:custGeom>
            <a:avLst/>
            <a:gdLst>
              <a:gd name="connsiteX0" fmla="*/ 0 w 2881833"/>
              <a:gd name="connsiteY0" fmla="*/ 0 h 1325835"/>
              <a:gd name="connsiteX1" fmla="*/ 2881833 w 2881833"/>
              <a:gd name="connsiteY1" fmla="*/ 0 h 1325835"/>
              <a:gd name="connsiteX2" fmla="*/ 2881833 w 2881833"/>
              <a:gd name="connsiteY2" fmla="*/ 1325835 h 1325835"/>
              <a:gd name="connsiteX3" fmla="*/ 0 w 2881833"/>
              <a:gd name="connsiteY3" fmla="*/ 1325835 h 1325835"/>
              <a:gd name="connsiteX4" fmla="*/ 0 w 2881833"/>
              <a:gd name="connsiteY4" fmla="*/ 0 h 13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325835">
                <a:moveTo>
                  <a:pt x="0" y="0"/>
                </a:moveTo>
                <a:lnTo>
                  <a:pt x="2881833" y="0"/>
                </a:lnTo>
                <a:lnTo>
                  <a:pt x="2881833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ctr" anchorCtr="0">
            <a:noAutofit/>
          </a:bodyPr>
          <a:lstStyle/>
          <a:p>
            <a:pPr marL="342900" lvl="1" indent="-342900" defTabSz="102235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zh-TW" altLang="en-US" sz="2200" dirty="0"/>
              <a:t>加購模組</a:t>
            </a:r>
            <a:endParaRPr lang="en-US" altLang="zh-TW" sz="2200" dirty="0"/>
          </a:p>
          <a:p>
            <a:pPr marL="342900" lvl="1" indent="-342900" defTabSz="102235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l"/>
            </a:pPr>
            <a:r>
              <a:rPr lang="zh-TW" altLang="en-US" sz="2200" dirty="0"/>
              <a:t>加購服務</a:t>
            </a:r>
          </a:p>
        </p:txBody>
      </p:sp>
    </p:spTree>
    <p:extLst>
      <p:ext uri="{BB962C8B-B14F-4D97-AF65-F5344CB8AC3E}">
        <p14:creationId xmlns:p14="http://schemas.microsoft.com/office/powerpoint/2010/main" val="169890199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F9FA-44F3-45EA-7D55-EC502FB9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51E0136-68C0-3B6B-8157-287A6614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  <a:r>
              <a:rPr lang="en-US" altLang="zh-TW" sz="2800" b="1" dirty="0"/>
              <a:t>_</a:t>
            </a:r>
            <a:r>
              <a:rPr lang="en-US" altLang="zh-TW" sz="2800" b="1" dirty="0">
                <a:solidFill>
                  <a:srgbClr val="FF000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</a:rPr>
              <a:t>《</a:t>
            </a:r>
            <a:r>
              <a:rPr lang="zh-TW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</a:rPr>
              <a:t>必要</a:t>
            </a:r>
            <a:r>
              <a:rPr lang="en-US" altLang="zh-TW" sz="2800" b="1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</a:rPr>
              <a:t>》</a:t>
            </a:r>
            <a:r>
              <a:rPr lang="en-US" altLang="zh-TW" sz="2800" b="1" dirty="0">
                <a:solidFill>
                  <a:srgbClr val="FF000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800" b="1" dirty="0">
                <a:solidFill>
                  <a:srgbClr val="005587"/>
                </a:solidFill>
              </a:rPr>
              <a:t>1. </a:t>
            </a:r>
            <a:r>
              <a:rPr lang="zh-TW" altLang="en-US" sz="2800" b="1" dirty="0">
                <a:solidFill>
                  <a:srgbClr val="005587"/>
                </a:solidFill>
              </a:rPr>
              <a:t>產品費用 </a:t>
            </a:r>
            <a:r>
              <a:rPr lang="en-US" altLang="zh-TW" sz="2800" b="1" dirty="0">
                <a:solidFill>
                  <a:srgbClr val="005587"/>
                </a:solidFill>
              </a:rPr>
              <a:t>-</a:t>
            </a:r>
            <a:r>
              <a:rPr lang="zh-TW" altLang="en-US" sz="2800" b="1" dirty="0">
                <a:solidFill>
                  <a:srgbClr val="005587"/>
                </a:solidFill>
              </a:rPr>
              <a:t>  選擇要購買的產品版本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60FF99-F996-5C83-73D3-BB03F6EBEBDA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19" name="手繪多邊形: 圖案 18">
            <a:extLst>
              <a:ext uri="{FF2B5EF4-FFF2-40B4-BE49-F238E27FC236}">
                <a16:creationId xmlns:a16="http://schemas.microsoft.com/office/drawing/2014/main" id="{04C7E136-7535-9DA3-968F-AF1449FA702F}"/>
              </a:ext>
            </a:extLst>
          </p:cNvPr>
          <p:cNvSpPr/>
          <p:nvPr/>
        </p:nvSpPr>
        <p:spPr>
          <a:xfrm>
            <a:off x="669942" y="1358411"/>
            <a:ext cx="4759435" cy="854667"/>
          </a:xfrm>
          <a:custGeom>
            <a:avLst/>
            <a:gdLst>
              <a:gd name="connsiteX0" fmla="*/ 0 w 2881833"/>
              <a:gd name="connsiteY0" fmla="*/ 0 h 1122087"/>
              <a:gd name="connsiteX1" fmla="*/ 2881833 w 2881833"/>
              <a:gd name="connsiteY1" fmla="*/ 0 h 1122087"/>
              <a:gd name="connsiteX2" fmla="*/ 2881833 w 2881833"/>
              <a:gd name="connsiteY2" fmla="*/ 1122087 h 1122087"/>
              <a:gd name="connsiteX3" fmla="*/ 0 w 2881833"/>
              <a:gd name="connsiteY3" fmla="*/ 1122087 h 1122087"/>
              <a:gd name="connsiteX4" fmla="*/ 0 w 2881833"/>
              <a:gd name="connsiteY4" fmla="*/ 0 h 112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122087">
                <a:moveTo>
                  <a:pt x="0" y="0"/>
                </a:moveTo>
                <a:lnTo>
                  <a:pt x="2881833" y="0"/>
                </a:lnTo>
                <a:lnTo>
                  <a:pt x="2881833" y="1122087"/>
                </a:lnTo>
                <a:lnTo>
                  <a:pt x="0" y="1122087"/>
                </a:lnTo>
                <a:lnTo>
                  <a:pt x="0" y="0"/>
                </a:lnTo>
                <a:close/>
              </a:path>
            </a:pathLst>
          </a:custGeom>
          <a:solidFill>
            <a:srgbClr val="005587"/>
          </a:solidFill>
        </p:spPr>
        <p:style>
          <a:lnRef idx="1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t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000" b="1" dirty="0"/>
              <a:t>產品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基本版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200" strike="sngStrike" dirty="0">
                <a:solidFill>
                  <a:srgbClr val="FF99FF"/>
                </a:solidFill>
              </a:rPr>
              <a:t>定價</a:t>
            </a:r>
            <a:r>
              <a:rPr lang="en-US" altLang="zh-TW" sz="2200" strike="sngStrike" dirty="0">
                <a:solidFill>
                  <a:srgbClr val="FF99FF"/>
                </a:solidFill>
              </a:rPr>
              <a:t>120</a:t>
            </a:r>
            <a:r>
              <a:rPr lang="zh-TW" altLang="en-US" sz="2200" strike="sngStrike" dirty="0">
                <a:solidFill>
                  <a:srgbClr val="FF99FF"/>
                </a:solidFill>
              </a:rPr>
              <a:t>萬</a:t>
            </a:r>
            <a:r>
              <a:rPr lang="zh-TW" altLang="en-US" sz="2200" dirty="0"/>
              <a:t>  </a:t>
            </a:r>
            <a:r>
              <a:rPr lang="zh-TW" altLang="en-US" b="1" dirty="0">
                <a:solidFill>
                  <a:srgbClr val="FFFF11"/>
                </a:solidFill>
              </a:rPr>
              <a:t>優惠價</a:t>
            </a:r>
            <a:r>
              <a:rPr lang="en-US" altLang="zh-TW" b="1" dirty="0">
                <a:solidFill>
                  <a:srgbClr val="FFFF11"/>
                </a:solidFill>
              </a:rPr>
              <a:t>80</a:t>
            </a:r>
            <a:r>
              <a:rPr lang="zh-TW" altLang="en-US" b="1" dirty="0">
                <a:solidFill>
                  <a:srgbClr val="FFFF11"/>
                </a:solidFill>
              </a:rPr>
              <a:t>萬</a:t>
            </a:r>
            <a:endParaRPr lang="en-US" altLang="zh-TW" b="1" dirty="0">
              <a:solidFill>
                <a:srgbClr val="FFFF11"/>
              </a:solidFill>
            </a:endParaRP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TW" altLang="en-US" sz="2000" b="1" dirty="0"/>
          </a:p>
        </p:txBody>
      </p:sp>
      <p:sp>
        <p:nvSpPr>
          <p:cNvPr id="20" name="手繪多邊形: 圖案 19">
            <a:extLst>
              <a:ext uri="{FF2B5EF4-FFF2-40B4-BE49-F238E27FC236}">
                <a16:creationId xmlns:a16="http://schemas.microsoft.com/office/drawing/2014/main" id="{5E55D753-1AFD-4925-A5AC-2F69B3285D37}"/>
              </a:ext>
            </a:extLst>
          </p:cNvPr>
          <p:cNvSpPr/>
          <p:nvPr/>
        </p:nvSpPr>
        <p:spPr>
          <a:xfrm>
            <a:off x="669942" y="2281276"/>
            <a:ext cx="4759435" cy="4197261"/>
          </a:xfrm>
          <a:custGeom>
            <a:avLst/>
            <a:gdLst>
              <a:gd name="connsiteX0" fmla="*/ 0 w 2881833"/>
              <a:gd name="connsiteY0" fmla="*/ 0 h 1325835"/>
              <a:gd name="connsiteX1" fmla="*/ 2881833 w 2881833"/>
              <a:gd name="connsiteY1" fmla="*/ 0 h 1325835"/>
              <a:gd name="connsiteX2" fmla="*/ 2881833 w 2881833"/>
              <a:gd name="connsiteY2" fmla="*/ 1325835 h 1325835"/>
              <a:gd name="connsiteX3" fmla="*/ 0 w 2881833"/>
              <a:gd name="connsiteY3" fmla="*/ 1325835 h 1325835"/>
              <a:gd name="connsiteX4" fmla="*/ 0 w 2881833"/>
              <a:gd name="connsiteY4" fmla="*/ 0 h 13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325835">
                <a:moveTo>
                  <a:pt x="0" y="0"/>
                </a:moveTo>
                <a:lnTo>
                  <a:pt x="2881833" y="0"/>
                </a:lnTo>
                <a:lnTo>
                  <a:pt x="2881833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議約管理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審核管理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履約管理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報表管理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合約查詢</a:t>
            </a:r>
            <a:r>
              <a:rPr lang="en-US" altLang="en-US" sz="1600" b="1" dirty="0"/>
              <a:t>(</a:t>
            </a:r>
            <a:r>
              <a:rPr lang="zh-TW" altLang="en-US" sz="1600" b="1" dirty="0"/>
              <a:t>含本文查詢</a:t>
            </a:r>
            <a:r>
              <a:rPr lang="en-US" altLang="en-US" sz="1600" b="1" dirty="0"/>
              <a:t>)</a:t>
            </a:r>
            <a:endParaRPr lang="zh-TW" altLang="en-US" sz="1600" b="1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合約比對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支援行動裝置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審核介面支援手機、平板操作</a:t>
            </a:r>
            <a:r>
              <a:rPr lang="en-US" altLang="zh-TW" sz="1600" b="1" dirty="0"/>
              <a:t>)</a:t>
            </a:r>
            <a:endParaRPr lang="zh-TW" altLang="en-US" sz="1600" b="1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多公司架構設計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合約範本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內建</a:t>
            </a:r>
            <a:r>
              <a:rPr lang="en-US" altLang="zh-TW" sz="1600" b="1" dirty="0"/>
              <a:t>11</a:t>
            </a:r>
            <a:r>
              <a:rPr lang="zh-TW" altLang="en-US" sz="1600" b="1" dirty="0"/>
              <a:t>個合約範本</a:t>
            </a:r>
            <a:r>
              <a:rPr lang="en-US" altLang="zh-TW" sz="1600" b="1" dirty="0"/>
              <a:t>)</a:t>
            </a:r>
            <a:endParaRPr lang="zh-TW" altLang="en-US" sz="1600" b="1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微軟</a:t>
            </a:r>
            <a:r>
              <a:rPr lang="en-US" altLang="en-US" sz="1600" b="1" dirty="0"/>
              <a:t>AD</a:t>
            </a:r>
            <a:r>
              <a:rPr lang="zh-TW" altLang="en-US" sz="1600" b="1" dirty="0"/>
              <a:t>目錄串接</a:t>
            </a:r>
          </a:p>
          <a:p>
            <a:pPr marL="0" lvl="1" algn="l" defTabSz="1022350">
              <a:spcBef>
                <a:spcPct val="0"/>
              </a:spcBef>
              <a:spcAft>
                <a:spcPct val="15000"/>
              </a:spcAft>
            </a:pPr>
            <a:endParaRPr lang="en-US" altLang="zh-TW" sz="1800" b="1" dirty="0"/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2D7FA61E-CEAC-9EC4-792F-37D7BF6CB6E3}"/>
              </a:ext>
            </a:extLst>
          </p:cNvPr>
          <p:cNvSpPr/>
          <p:nvPr/>
        </p:nvSpPr>
        <p:spPr>
          <a:xfrm>
            <a:off x="5765711" y="1358411"/>
            <a:ext cx="4759435" cy="854667"/>
          </a:xfrm>
          <a:custGeom>
            <a:avLst/>
            <a:gdLst>
              <a:gd name="connsiteX0" fmla="*/ 0 w 2881833"/>
              <a:gd name="connsiteY0" fmla="*/ 0 h 1122087"/>
              <a:gd name="connsiteX1" fmla="*/ 2881833 w 2881833"/>
              <a:gd name="connsiteY1" fmla="*/ 0 h 1122087"/>
              <a:gd name="connsiteX2" fmla="*/ 2881833 w 2881833"/>
              <a:gd name="connsiteY2" fmla="*/ 1122087 h 1122087"/>
              <a:gd name="connsiteX3" fmla="*/ 0 w 2881833"/>
              <a:gd name="connsiteY3" fmla="*/ 1122087 h 1122087"/>
              <a:gd name="connsiteX4" fmla="*/ 0 w 2881833"/>
              <a:gd name="connsiteY4" fmla="*/ 0 h 112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122087">
                <a:moveTo>
                  <a:pt x="0" y="0"/>
                </a:moveTo>
                <a:lnTo>
                  <a:pt x="2881833" y="0"/>
                </a:lnTo>
                <a:lnTo>
                  <a:pt x="2881833" y="1122087"/>
                </a:lnTo>
                <a:lnTo>
                  <a:pt x="0" y="1122087"/>
                </a:lnTo>
                <a:lnTo>
                  <a:pt x="0" y="0"/>
                </a:lnTo>
                <a:close/>
              </a:path>
            </a:pathLst>
          </a:custGeom>
          <a:solidFill>
            <a:srgbClr val="005587"/>
          </a:solidFill>
        </p:spPr>
        <p:style>
          <a:lnRef idx="1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t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000" b="1" dirty="0"/>
              <a:t>產品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旗艦版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000" b="1" dirty="0"/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200" strike="sngStrike" dirty="0">
                <a:solidFill>
                  <a:srgbClr val="FF99FF"/>
                </a:solidFill>
              </a:rPr>
              <a:t>定價</a:t>
            </a:r>
            <a:r>
              <a:rPr lang="en-US" altLang="zh-TW" sz="2200" strike="sngStrike" dirty="0">
                <a:solidFill>
                  <a:srgbClr val="FF99FF"/>
                </a:solidFill>
              </a:rPr>
              <a:t>300</a:t>
            </a:r>
            <a:r>
              <a:rPr lang="zh-TW" altLang="en-US" sz="2200" strike="sngStrike" dirty="0">
                <a:solidFill>
                  <a:srgbClr val="FF99FF"/>
                </a:solidFill>
              </a:rPr>
              <a:t>萬</a:t>
            </a:r>
            <a:r>
              <a:rPr lang="zh-TW" altLang="en-US" sz="2200" dirty="0">
                <a:solidFill>
                  <a:srgbClr val="FF99FF"/>
                </a:solidFill>
              </a:rPr>
              <a:t>  </a:t>
            </a:r>
            <a:r>
              <a:rPr lang="zh-TW" altLang="en-US" sz="2400" b="1" dirty="0">
                <a:solidFill>
                  <a:srgbClr val="FFFF00"/>
                </a:solidFill>
              </a:rPr>
              <a:t>優惠價</a:t>
            </a:r>
            <a:r>
              <a:rPr lang="en-US" altLang="zh-TW" b="1" dirty="0">
                <a:solidFill>
                  <a:srgbClr val="FFFF00"/>
                </a:solidFill>
              </a:rPr>
              <a:t>20</a:t>
            </a:r>
            <a:r>
              <a:rPr lang="en-US" altLang="zh-TW" sz="2400" b="1" dirty="0">
                <a:solidFill>
                  <a:srgbClr val="FFFF00"/>
                </a:solidFill>
              </a:rPr>
              <a:t>0</a:t>
            </a:r>
            <a:r>
              <a:rPr lang="zh-TW" altLang="en-US" sz="2400" b="1" dirty="0">
                <a:solidFill>
                  <a:srgbClr val="FFFF00"/>
                </a:solidFill>
              </a:rPr>
              <a:t>萬</a:t>
            </a:r>
            <a:endParaRPr lang="en-US" altLang="zh-TW" sz="2400" b="1" dirty="0">
              <a:solidFill>
                <a:srgbClr val="FFFF00"/>
              </a:solidFill>
            </a:endParaRPr>
          </a:p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TW" altLang="en-US" sz="2000" b="1" dirty="0">
              <a:solidFill>
                <a:srgbClr val="E3E48D"/>
              </a:solidFill>
              <a:latin typeface="+mn-ea"/>
            </a:endParaRP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E03708BD-D5CF-5AFD-AC76-BF863FEAC7D6}"/>
              </a:ext>
            </a:extLst>
          </p:cNvPr>
          <p:cNvSpPr/>
          <p:nvPr/>
        </p:nvSpPr>
        <p:spPr>
          <a:xfrm>
            <a:off x="5765711" y="2281276"/>
            <a:ext cx="4759435" cy="4197261"/>
          </a:xfrm>
          <a:custGeom>
            <a:avLst/>
            <a:gdLst>
              <a:gd name="connsiteX0" fmla="*/ 0 w 2881833"/>
              <a:gd name="connsiteY0" fmla="*/ 0 h 1325835"/>
              <a:gd name="connsiteX1" fmla="*/ 2881833 w 2881833"/>
              <a:gd name="connsiteY1" fmla="*/ 0 h 1325835"/>
              <a:gd name="connsiteX2" fmla="*/ 2881833 w 2881833"/>
              <a:gd name="connsiteY2" fmla="*/ 1325835 h 1325835"/>
              <a:gd name="connsiteX3" fmla="*/ 0 w 2881833"/>
              <a:gd name="connsiteY3" fmla="*/ 1325835 h 1325835"/>
              <a:gd name="connsiteX4" fmla="*/ 0 w 2881833"/>
              <a:gd name="connsiteY4" fmla="*/ 0 h 13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833" h="1325835">
                <a:moveTo>
                  <a:pt x="0" y="0"/>
                </a:moveTo>
                <a:lnTo>
                  <a:pt x="2881833" y="0"/>
                </a:lnTo>
                <a:lnTo>
                  <a:pt x="2881833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議約管理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審核管理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履約管理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報表管理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合約查詢</a:t>
            </a:r>
            <a:r>
              <a:rPr lang="en-US" altLang="en-US" sz="1600" b="1" dirty="0"/>
              <a:t>(</a:t>
            </a:r>
            <a:r>
              <a:rPr lang="zh-TW" altLang="en-US" sz="1600" b="1" dirty="0"/>
              <a:t>含本文查詢</a:t>
            </a:r>
            <a:r>
              <a:rPr lang="en-US" altLang="en-US" sz="1600" b="1" dirty="0"/>
              <a:t>)</a:t>
            </a:r>
            <a:endParaRPr lang="zh-TW" altLang="en-US" sz="1600" b="1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合約比對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支援行動裝置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審核介面支援手機、平板操作</a:t>
            </a:r>
            <a:r>
              <a:rPr lang="en-US" altLang="zh-TW" sz="1600" b="1" dirty="0"/>
              <a:t>)</a:t>
            </a:r>
            <a:endParaRPr lang="zh-TW" altLang="en-US" sz="1600" b="1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多公司架構設計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合約範本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內建</a:t>
            </a:r>
            <a:r>
              <a:rPr lang="en-US" altLang="zh-TW" sz="1600" b="1" dirty="0"/>
              <a:t>11</a:t>
            </a:r>
            <a:r>
              <a:rPr lang="zh-TW" altLang="en-US" sz="1600" b="1" dirty="0"/>
              <a:t>個合約範本</a:t>
            </a:r>
            <a:r>
              <a:rPr lang="en-US" altLang="zh-TW" sz="1600" b="1" dirty="0"/>
              <a:t>)</a:t>
            </a:r>
            <a:endParaRPr lang="zh-TW" altLang="en-US" sz="1600" b="1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/>
              <a:t>微軟</a:t>
            </a:r>
            <a:r>
              <a:rPr lang="en-US" altLang="en-US" sz="1600" b="1" dirty="0"/>
              <a:t>AD</a:t>
            </a:r>
            <a:r>
              <a:rPr lang="zh-TW" altLang="en-US" sz="1600" b="1" dirty="0"/>
              <a:t>目錄串接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>
                <a:solidFill>
                  <a:srgbClr val="0076A8"/>
                </a:solidFill>
              </a:rPr>
              <a:t>多國語言支援</a:t>
            </a:r>
            <a:r>
              <a:rPr lang="en-US" altLang="zh-TW" sz="1600" b="1" dirty="0">
                <a:solidFill>
                  <a:srgbClr val="0076A8"/>
                </a:solidFill>
              </a:rPr>
              <a:t>(</a:t>
            </a:r>
            <a:r>
              <a:rPr lang="zh-TW" altLang="en-US" sz="1600" b="1" dirty="0">
                <a:solidFill>
                  <a:srgbClr val="0076A8"/>
                </a:solidFill>
              </a:rPr>
              <a:t>繁體中文、簡體中文、英文</a:t>
            </a:r>
            <a:r>
              <a:rPr lang="en-US" altLang="zh-TW" sz="1600" b="1" dirty="0">
                <a:solidFill>
                  <a:srgbClr val="0076A8"/>
                </a:solidFill>
              </a:rPr>
              <a:t>)</a:t>
            </a:r>
            <a:endParaRPr lang="zh-TW" altLang="en-US" sz="1600" b="1" dirty="0">
              <a:solidFill>
                <a:srgbClr val="0076A8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en-US" altLang="en-US" sz="1600" b="1" dirty="0">
                <a:solidFill>
                  <a:srgbClr val="0076A8"/>
                </a:solidFill>
              </a:rPr>
              <a:t>OCR</a:t>
            </a:r>
            <a:r>
              <a:rPr lang="zh-TW" altLang="en-US" sz="1600" b="1" dirty="0">
                <a:solidFill>
                  <a:srgbClr val="0076A8"/>
                </a:solidFill>
              </a:rPr>
              <a:t>模組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>
                <a:solidFill>
                  <a:srgbClr val="0076A8"/>
                </a:solidFill>
              </a:rPr>
              <a:t>制訂合約範本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>
                <a:solidFill>
                  <a:srgbClr val="0076A8"/>
                </a:solidFill>
              </a:rPr>
              <a:t>智慧提醒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>
                <a:solidFill>
                  <a:srgbClr val="0076A8"/>
                </a:solidFill>
              </a:rPr>
              <a:t>合約產生器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TW" altLang="en-US" sz="1600" b="1" dirty="0">
                <a:solidFill>
                  <a:srgbClr val="0076A8"/>
                </a:solidFill>
              </a:rPr>
              <a:t>線上討論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96C8F96-9286-9E2F-19D3-5753ACA2EB0D}"/>
              </a:ext>
            </a:extLst>
          </p:cNvPr>
          <p:cNvGrpSpPr/>
          <p:nvPr/>
        </p:nvGrpSpPr>
        <p:grpSpPr>
          <a:xfrm>
            <a:off x="274296" y="679409"/>
            <a:ext cx="10812804" cy="512431"/>
            <a:chOff x="166559" y="757569"/>
            <a:chExt cx="10694905" cy="595009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F9E23BF5-CA4C-AAE9-8E09-5CB1251E3224}"/>
                </a:ext>
              </a:extLst>
            </p:cNvPr>
            <p:cNvSpPr/>
            <p:nvPr/>
          </p:nvSpPr>
          <p:spPr bwMode="gray">
            <a:xfrm>
              <a:off x="166559" y="757569"/>
              <a:ext cx="10694905" cy="595009"/>
            </a:xfrm>
            <a:prstGeom prst="roundRect">
              <a:avLst>
                <a:gd name="adj" fmla="val 11023"/>
              </a:avLst>
            </a:prstGeom>
            <a:noFill/>
            <a:ln w="12700" algn="ctr">
              <a:solidFill>
                <a:srgbClr val="FF99CC"/>
              </a:solidFill>
              <a:prstDash val="sysDash"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TW" altLang="en-US" sz="20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41C377C-AEFD-A64E-F436-FA6F69A9B84A}"/>
                </a:ext>
              </a:extLst>
            </p:cNvPr>
            <p:cNvSpPr txBox="1"/>
            <p:nvPr/>
          </p:nvSpPr>
          <p:spPr>
            <a:xfrm>
              <a:off x="166559" y="822779"/>
              <a:ext cx="10615831" cy="464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產品分為</a:t>
              </a:r>
              <a:r>
                <a:rPr lang="en-US" altLang="zh-TW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基本版</a:t>
              </a:r>
              <a:r>
                <a:rPr lang="en-US" altLang="zh-TW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</a:t>
              </a:r>
              <a:r>
                <a:rPr lang="en-US" altLang="zh-TW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旗艦版</a:t>
              </a:r>
              <a:r>
                <a:rPr lang="en-US" altLang="zh-TW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。建議採購</a:t>
              </a:r>
              <a:r>
                <a:rPr lang="en-US" altLang="zh-TW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基本版</a:t>
              </a:r>
              <a:r>
                <a:rPr lang="en-US" altLang="zh-TW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  <a:r>
                <a:rPr lang="zh-TW" altLang="en-US" sz="2000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再視需求，加購其他適合功能模組。</a:t>
              </a:r>
              <a:endParaRPr lang="en-US" altLang="zh-TW" sz="20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079423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4599-AC10-0199-FC2D-6AA0398C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3AFE7EE-8580-A54D-0F72-F35E8C77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  <a:r>
              <a:rPr lang="en-US" altLang="zh-TW" sz="2800" b="1" dirty="0"/>
              <a:t>_</a:t>
            </a:r>
            <a:r>
              <a:rPr lang="en-US" altLang="zh-TW" sz="2800" b="1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</a:rPr>
              <a:t>《</a:t>
            </a:r>
            <a:r>
              <a:rPr lang="zh-TW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</a:rPr>
              <a:t>必要</a:t>
            </a:r>
            <a:r>
              <a:rPr lang="en-US" altLang="zh-TW" sz="2800" b="1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</a:rPr>
              <a:t>》</a:t>
            </a:r>
            <a:r>
              <a:rPr lang="en-US" altLang="zh-TW" sz="2800" b="1" dirty="0">
                <a:solidFill>
                  <a:srgbClr val="005587"/>
                </a:solidFill>
              </a:rPr>
              <a:t>2. </a:t>
            </a:r>
            <a:r>
              <a:rPr lang="zh-TW" altLang="en-US" sz="2800" b="1" dirty="0">
                <a:solidFill>
                  <a:srgbClr val="005587"/>
                </a:solidFill>
              </a:rPr>
              <a:t>導入費用</a:t>
            </a:r>
            <a:r>
              <a:rPr lang="en-US" altLang="zh-TW" sz="2800" b="1" dirty="0">
                <a:solidFill>
                  <a:srgbClr val="FF000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800" b="1" dirty="0">
                <a:solidFill>
                  <a:srgbClr val="005587"/>
                </a:solidFill>
              </a:rPr>
              <a:t>–</a:t>
            </a:r>
            <a:r>
              <a:rPr lang="zh-TW" altLang="en-US" sz="2800" b="1" dirty="0">
                <a:solidFill>
                  <a:srgbClr val="005587"/>
                </a:solidFill>
              </a:rPr>
              <a:t> </a:t>
            </a:r>
            <a:r>
              <a:rPr lang="en-US" altLang="zh-TW" sz="2800" b="1" dirty="0">
                <a:solidFill>
                  <a:srgbClr val="005587"/>
                </a:solidFill>
              </a:rPr>
              <a:t>【</a:t>
            </a:r>
            <a:r>
              <a:rPr lang="zh-TW" altLang="en-US" sz="2800" b="1" dirty="0">
                <a:solidFill>
                  <a:srgbClr val="005587"/>
                </a:solidFill>
              </a:rPr>
              <a:t>標準導入方案</a:t>
            </a:r>
            <a:r>
              <a:rPr lang="en-US" altLang="zh-TW" sz="2800" b="1" dirty="0">
                <a:solidFill>
                  <a:srgbClr val="005587"/>
                </a:solidFill>
              </a:rPr>
              <a:t>】</a:t>
            </a:r>
            <a:endParaRPr lang="zh-TW" altLang="en-US" sz="2800" b="1" dirty="0">
              <a:solidFill>
                <a:srgbClr val="00558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A496E8-87CC-F72D-D2CF-97A7C8E9CB34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7B3F47D-3B2B-4F10-DDA7-DBAB09FDC0B7}"/>
              </a:ext>
            </a:extLst>
          </p:cNvPr>
          <p:cNvGrpSpPr/>
          <p:nvPr/>
        </p:nvGrpSpPr>
        <p:grpSpPr>
          <a:xfrm>
            <a:off x="469900" y="782804"/>
            <a:ext cx="4894366" cy="5809185"/>
            <a:chOff x="5983761" y="633815"/>
            <a:chExt cx="4894366" cy="5809185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D4287A0D-EE87-208E-C51D-4FCB3BBC4227}"/>
                </a:ext>
              </a:extLst>
            </p:cNvPr>
            <p:cNvSpPr/>
            <p:nvPr/>
          </p:nvSpPr>
          <p:spPr>
            <a:xfrm>
              <a:off x="5983763" y="633815"/>
              <a:ext cx="4894364" cy="870145"/>
            </a:xfrm>
            <a:custGeom>
              <a:avLst/>
              <a:gdLst>
                <a:gd name="connsiteX0" fmla="*/ 0 w 2881833"/>
                <a:gd name="connsiteY0" fmla="*/ 0 h 1122087"/>
                <a:gd name="connsiteX1" fmla="*/ 2881833 w 2881833"/>
                <a:gd name="connsiteY1" fmla="*/ 0 h 1122087"/>
                <a:gd name="connsiteX2" fmla="*/ 2881833 w 2881833"/>
                <a:gd name="connsiteY2" fmla="*/ 1122087 h 1122087"/>
                <a:gd name="connsiteX3" fmla="*/ 0 w 2881833"/>
                <a:gd name="connsiteY3" fmla="*/ 1122087 h 1122087"/>
                <a:gd name="connsiteX4" fmla="*/ 0 w 2881833"/>
                <a:gd name="connsiteY4" fmla="*/ 0 h 112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1833" h="1122087">
                  <a:moveTo>
                    <a:pt x="0" y="0"/>
                  </a:moveTo>
                  <a:lnTo>
                    <a:pt x="2881833" y="0"/>
                  </a:lnTo>
                  <a:lnTo>
                    <a:pt x="2881833" y="1122087"/>
                  </a:lnTo>
                  <a:lnTo>
                    <a:pt x="0" y="1122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587"/>
            </a:solidFill>
          </p:spPr>
          <p:style>
            <a:lnRef idx="1">
              <a:schemeClr val="accent1">
                <a:shade val="5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shade val="5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93472" rIns="163576" bIns="93472" numCol="1" spcCol="1270" anchor="t" anchorCtr="0">
              <a:noAutofit/>
            </a:bodyPr>
            <a:lstStyle/>
            <a:p>
              <a:pPr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標準導入</a:t>
              </a:r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方案 </a:t>
              </a:r>
              <a:endPara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200" strike="sngStrike" dirty="0">
                  <a:solidFill>
                    <a:srgbClr val="FF99FF"/>
                  </a:solidFill>
                </a:rPr>
                <a:t>定價</a:t>
              </a:r>
              <a:r>
                <a:rPr lang="en-US" altLang="zh-TW" sz="2200" strike="sngStrike" dirty="0">
                  <a:solidFill>
                    <a:srgbClr val="FF99FF"/>
                  </a:solidFill>
                </a:rPr>
                <a:t>30</a:t>
              </a:r>
              <a:r>
                <a:rPr lang="zh-TW" altLang="en-US" sz="2200" strike="sngStrike" dirty="0">
                  <a:solidFill>
                    <a:srgbClr val="FF99FF"/>
                  </a:solidFill>
                </a:rPr>
                <a:t>萬</a:t>
              </a:r>
              <a:r>
                <a:rPr lang="zh-TW" altLang="en-US" sz="2200" dirty="0">
                  <a:solidFill>
                    <a:srgbClr val="FF99FF"/>
                  </a:solidFill>
                </a:rPr>
                <a:t>  </a:t>
              </a:r>
              <a:r>
                <a:rPr lang="zh-TW" altLang="en-US" b="1" dirty="0">
                  <a:solidFill>
                    <a:srgbClr val="FFFF11"/>
                  </a:solidFill>
                </a:rPr>
                <a:t>優惠價</a:t>
              </a:r>
              <a:r>
                <a:rPr lang="en-US" altLang="zh-TW" b="1" dirty="0">
                  <a:solidFill>
                    <a:srgbClr val="FFFF11"/>
                  </a:solidFill>
                </a:rPr>
                <a:t>25</a:t>
              </a:r>
              <a:r>
                <a:rPr lang="zh-TW" altLang="en-US" b="1" dirty="0">
                  <a:solidFill>
                    <a:srgbClr val="FFFF11"/>
                  </a:solidFill>
                </a:rPr>
                <a:t>萬</a:t>
              </a:r>
              <a:endParaRPr lang="en-US" altLang="zh-TW" b="1" dirty="0">
                <a:solidFill>
                  <a:srgbClr val="FFFF11"/>
                </a:solidFill>
              </a:endParaRPr>
            </a:p>
            <a:p>
              <a:pPr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TW" altLang="en-US" sz="2000" b="1" dirty="0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1D2CEA22-3C5F-F99A-5986-C3B50DF25EAE}"/>
                </a:ext>
              </a:extLst>
            </p:cNvPr>
            <p:cNvSpPr/>
            <p:nvPr/>
          </p:nvSpPr>
          <p:spPr>
            <a:xfrm>
              <a:off x="5983761" y="1562149"/>
              <a:ext cx="4894365" cy="4880851"/>
            </a:xfrm>
            <a:custGeom>
              <a:avLst/>
              <a:gdLst>
                <a:gd name="connsiteX0" fmla="*/ 0 w 2881833"/>
                <a:gd name="connsiteY0" fmla="*/ 0 h 1325835"/>
                <a:gd name="connsiteX1" fmla="*/ 2881833 w 2881833"/>
                <a:gd name="connsiteY1" fmla="*/ 0 h 1325835"/>
                <a:gd name="connsiteX2" fmla="*/ 2881833 w 2881833"/>
                <a:gd name="connsiteY2" fmla="*/ 1325835 h 1325835"/>
                <a:gd name="connsiteX3" fmla="*/ 0 w 2881833"/>
                <a:gd name="connsiteY3" fmla="*/ 1325835 h 1325835"/>
                <a:gd name="connsiteX4" fmla="*/ 0 w 2881833"/>
                <a:gd name="connsiteY4" fmla="*/ 0 h 132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1833" h="1325835">
                  <a:moveTo>
                    <a:pt x="0" y="0"/>
                  </a:moveTo>
                  <a:lnTo>
                    <a:pt x="2881833" y="0"/>
                  </a:lnTo>
                  <a:lnTo>
                    <a:pt x="2881833" y="1325835"/>
                  </a:lnTo>
                  <a:lnTo>
                    <a:pt x="0" y="13258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682" tIns="122682" rIns="163576" bIns="184023" numCol="1" spcCol="1270" anchor="ctr" anchorCtr="0">
              <a:noAutofit/>
            </a:bodyPr>
            <a:lstStyle/>
            <a:p>
              <a:pPr marL="285750" indent="-285750">
                <a:lnSpc>
                  <a:spcPct val="106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b="1" dirty="0"/>
                <a:t>整合</a:t>
              </a:r>
              <a:r>
                <a:rPr lang="en-US" altLang="zh-TW" sz="1600" b="1" dirty="0"/>
                <a:t>SSO</a:t>
              </a:r>
              <a:r>
                <a:rPr lang="zh-TW" altLang="en-US" sz="1600" b="1" dirty="0"/>
                <a:t>與人事組織資料</a:t>
              </a:r>
              <a:endParaRPr lang="en-US" altLang="zh-TW" sz="1600" b="1" dirty="0"/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SSO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整合 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(</a:t>
              </a:r>
              <a:r>
                <a:rPr lang="zh-TW" altLang="en-US" sz="1200" b="1" dirty="0">
                  <a:solidFill>
                    <a:srgbClr val="FF0000"/>
                  </a:solidFill>
                  <a:latin typeface="+mn-ea"/>
                </a:rPr>
                <a:t>限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微軟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AD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目錄串接或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LDAP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整合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)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人事與組織整合 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(</a:t>
              </a:r>
              <a:r>
                <a:rPr lang="zh-TW" altLang="en-US" sz="1200" b="1" dirty="0">
                  <a:solidFill>
                    <a:srgbClr val="FF0000"/>
                  </a:solidFill>
                  <a:latin typeface="+mn-ea"/>
                </a:rPr>
                <a:t>限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使用宏思提供的暫存人事及組織的資料表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)</a:t>
              </a:r>
              <a:endParaRPr lang="en-US" altLang="zh-TW" sz="1300" b="1" dirty="0">
                <a:latin typeface="+mn-ea"/>
              </a:endParaRPr>
            </a:p>
            <a:p>
              <a:pPr marL="285750" indent="-285750">
                <a:lnSpc>
                  <a:spcPct val="106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b="1" dirty="0"/>
                <a:t>資安檢測</a:t>
              </a:r>
              <a:endParaRPr lang="en-US" altLang="zh-TW" sz="1600" b="1" dirty="0"/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弱點掃描 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(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資安檢測軟體：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OWASP ZAP )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源碼掃描 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(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資安檢測軟體：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 Security Code Scan )</a:t>
              </a:r>
              <a:r>
                <a:rPr lang="zh-TW" altLang="en-US" sz="1200" b="1" dirty="0">
                  <a:solidFill>
                    <a:srgbClr val="002060"/>
                  </a:solidFill>
                  <a:latin typeface="+mn-ea"/>
                </a:rPr>
                <a:t> </a:t>
              </a:r>
              <a:endParaRPr lang="en-US" altLang="zh-TW" sz="1200" b="1" dirty="0">
                <a:solidFill>
                  <a:srgbClr val="002060"/>
                </a:solidFill>
                <a:latin typeface="+mn-ea"/>
              </a:endParaRP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提供資安檢測報告</a:t>
              </a:r>
              <a:endParaRPr lang="en-US" altLang="zh-TW" sz="1200" b="1" dirty="0">
                <a:solidFill>
                  <a:srgbClr val="0038A8"/>
                </a:solidFill>
                <a:latin typeface="+mn-ea"/>
              </a:endParaRPr>
            </a:p>
            <a:p>
              <a:pPr marL="285750" indent="-285750">
                <a:lnSpc>
                  <a:spcPct val="106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b="1" dirty="0"/>
                <a:t>系統建置 </a:t>
              </a:r>
              <a:r>
                <a:rPr lang="en-US" altLang="zh-TW" sz="1600" b="1" dirty="0"/>
                <a:t>(</a:t>
              </a:r>
              <a:r>
                <a:rPr lang="zh-TW" altLang="en-US" sz="1600" b="1" dirty="0"/>
                <a:t>客戶端正式環境與測試環境</a:t>
              </a:r>
              <a:r>
                <a:rPr lang="en-US" altLang="zh-TW" sz="1600" b="1" dirty="0"/>
                <a:t>)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客戶端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-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測試環境</a:t>
              </a:r>
              <a:endParaRPr lang="en-US" altLang="zh-TW" sz="1200" b="1" dirty="0">
                <a:solidFill>
                  <a:srgbClr val="0038A8"/>
                </a:solidFill>
                <a:latin typeface="+mn-ea"/>
              </a:endParaRP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客戶端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-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正式環境</a:t>
              </a:r>
              <a:endParaRPr lang="en-US" altLang="zh-TW" sz="1200" b="1" dirty="0">
                <a:solidFill>
                  <a:srgbClr val="0038A8"/>
                </a:solidFill>
                <a:latin typeface="+mn-ea"/>
              </a:endParaRPr>
            </a:p>
            <a:p>
              <a:pPr marL="285750" indent="-285750">
                <a:lnSpc>
                  <a:spcPct val="106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b="1" dirty="0"/>
                <a:t>系統基本設定：</a:t>
              </a:r>
              <a:endParaRPr lang="en-US" altLang="zh-TW" sz="1600" b="1" dirty="0"/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Config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檔案設定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(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包含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SSO</a:t>
              </a: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參數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)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SMTP Server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網站網址</a:t>
              </a:r>
              <a:endParaRPr lang="en-US" altLang="zh-TW" sz="1200" b="1" dirty="0">
                <a:solidFill>
                  <a:srgbClr val="0038A8"/>
                </a:solidFill>
                <a:latin typeface="+mn-ea"/>
              </a:endParaRPr>
            </a:p>
            <a:p>
              <a:pPr marL="285750" indent="-285750">
                <a:lnSpc>
                  <a:spcPct val="106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b="1" dirty="0"/>
                <a:t>系統基本驗證</a:t>
              </a:r>
              <a:endParaRPr lang="en-US" altLang="zh-TW" sz="1600" b="1" dirty="0"/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</a:rPr>
                <a:t>網站、背景程式是否正常、</a:t>
              </a:r>
              <a:r>
                <a:rPr lang="en-US" altLang="zh-TW" sz="1200" b="1" dirty="0">
                  <a:solidFill>
                    <a:srgbClr val="0038A8"/>
                  </a:solidFill>
                </a:rPr>
                <a:t>SSO</a:t>
              </a:r>
              <a:r>
                <a:rPr lang="zh-TW" altLang="en-US" sz="1200" b="1" dirty="0">
                  <a:solidFill>
                    <a:srgbClr val="0038A8"/>
                  </a:solidFill>
                </a:rPr>
                <a:t>登入、寄信、</a:t>
              </a:r>
              <a:r>
                <a:rPr lang="en-US" altLang="zh-TW" sz="1200" b="1" dirty="0">
                  <a:solidFill>
                    <a:srgbClr val="0038A8"/>
                  </a:solidFill>
                </a:rPr>
                <a:t> Word</a:t>
              </a:r>
              <a:r>
                <a:rPr lang="zh-TW" altLang="en-US" sz="1200" b="1" dirty="0">
                  <a:solidFill>
                    <a:srgbClr val="0038A8"/>
                  </a:solidFill>
                </a:rPr>
                <a:t>轉</a:t>
              </a:r>
              <a:r>
                <a:rPr lang="en-US" altLang="zh-TW" sz="1200" b="1" dirty="0">
                  <a:solidFill>
                    <a:srgbClr val="0038A8"/>
                  </a:solidFill>
                </a:rPr>
                <a:t>Pdf</a:t>
              </a:r>
              <a:r>
                <a:rPr lang="zh-TW" altLang="en-US" sz="1200" b="1" dirty="0">
                  <a:solidFill>
                    <a:srgbClr val="0038A8"/>
                  </a:solidFill>
                </a:rPr>
                <a:t>驗證</a:t>
              </a:r>
              <a:br>
                <a:rPr lang="en-US" altLang="zh-TW" sz="1200" b="1" dirty="0">
                  <a:solidFill>
                    <a:srgbClr val="0038A8"/>
                  </a:solidFill>
                </a:rPr>
              </a:br>
              <a:r>
                <a:rPr lang="zh-TW" altLang="en-US" sz="1200" b="1" dirty="0">
                  <a:solidFill>
                    <a:srgbClr val="0038A8"/>
                  </a:solidFill>
                </a:rPr>
                <a:t>    人事組織資料是否匯入</a:t>
              </a:r>
              <a:endParaRPr lang="en-US" altLang="zh-TW" sz="1200" b="1" dirty="0">
                <a:solidFill>
                  <a:srgbClr val="0038A8"/>
                </a:solidFill>
              </a:endParaRPr>
            </a:p>
            <a:p>
              <a:pPr marL="285750" indent="-285750">
                <a:lnSpc>
                  <a:spcPct val="106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b="1" dirty="0"/>
                <a:t>教育訓練</a:t>
              </a:r>
              <a:r>
                <a:rPr lang="en-US" altLang="zh-TW" sz="1600" b="1" dirty="0"/>
                <a:t> (</a:t>
              </a:r>
              <a:r>
                <a:rPr lang="zh-TW" altLang="en-US" sz="1600" b="1" dirty="0"/>
                <a:t>線上，中文授課</a:t>
              </a:r>
              <a:r>
                <a:rPr lang="en-US" altLang="zh-TW" sz="1600" b="1" dirty="0"/>
                <a:t>)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系統管理者教育訓練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(1hr)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  <a:latin typeface="+mn-ea"/>
                </a:rPr>
                <a:t>使用者教育訓練</a:t>
              </a:r>
              <a:r>
                <a:rPr lang="en-US" altLang="zh-TW" sz="1200" b="1" dirty="0">
                  <a:solidFill>
                    <a:srgbClr val="0038A8"/>
                  </a:solidFill>
                  <a:latin typeface="+mn-ea"/>
                </a:rPr>
                <a:t>(1.5hrs)</a:t>
              </a:r>
              <a:r>
                <a:rPr lang="zh-TW" altLang="en-US" sz="1200" b="1" dirty="0">
                  <a:solidFill>
                    <a:srgbClr val="002060"/>
                  </a:solidFill>
                  <a:latin typeface="+mn-ea"/>
                </a:rPr>
                <a:t> </a:t>
              </a:r>
              <a:endParaRPr lang="en-US" altLang="zh-TW" sz="1200" b="1" dirty="0">
                <a:solidFill>
                  <a:srgbClr val="0038A8"/>
                </a:solidFill>
              </a:endParaRPr>
            </a:p>
            <a:p>
              <a:pPr marL="285750" indent="-285750">
                <a:lnSpc>
                  <a:spcPct val="106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b="1" dirty="0"/>
                <a:t>客戶系統正式上線期間，提供</a:t>
              </a:r>
              <a:r>
                <a:rPr lang="en-US" altLang="zh-TW" sz="1600" b="1" dirty="0"/>
                <a:t>3</a:t>
              </a:r>
              <a:r>
                <a:rPr lang="zh-TW" altLang="en-US" sz="1600" b="1" dirty="0"/>
                <a:t>天待命作業</a:t>
              </a:r>
              <a:r>
                <a:rPr lang="en-US" altLang="zh-TW" sz="1600" b="1" dirty="0"/>
                <a:t>(</a:t>
              </a:r>
              <a:r>
                <a:rPr lang="zh-TW" altLang="en-US" sz="1600" b="1" dirty="0"/>
                <a:t>遠端</a:t>
              </a:r>
              <a:r>
                <a:rPr lang="en-US" altLang="zh-TW" sz="1600" b="1" dirty="0"/>
                <a:t>)</a:t>
              </a:r>
            </a:p>
            <a:p>
              <a:pPr marL="285750" indent="163513">
                <a:lnSpc>
                  <a:spcPct val="106000"/>
                </a:lnSpc>
                <a:buFont typeface="Arial" panose="020B0604020202020204" pitchFamily="34" charset="0"/>
                <a:buChar char="•"/>
              </a:pPr>
              <a:r>
                <a:rPr lang="zh-TW" altLang="en-US" sz="1200" b="1" dirty="0">
                  <a:solidFill>
                    <a:srgbClr val="0038A8"/>
                  </a:solidFill>
                </a:rPr>
                <a:t>問題確認與調整、問題調整後驗證、程式更新</a:t>
              </a:r>
              <a:endParaRPr lang="en-US" altLang="zh-TW" sz="1200" b="1" dirty="0">
                <a:solidFill>
                  <a:srgbClr val="0038A8"/>
                </a:solidFill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C594FD7C-C679-282B-8607-116B112BCA58}"/>
              </a:ext>
            </a:extLst>
          </p:cNvPr>
          <p:cNvSpPr txBox="1"/>
          <p:nvPr/>
        </p:nvSpPr>
        <p:spPr>
          <a:xfrm>
            <a:off x="5549140" y="1107000"/>
            <a:ext cx="6096991" cy="3831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SzPct val="100000"/>
            </a:pPr>
            <a:r>
              <a:rPr lang="zh-TW" altLang="en-US" sz="1600" b="1" dirty="0">
                <a:solidFill>
                  <a:srgbClr val="002060"/>
                </a:solidFill>
              </a:rPr>
              <a:t> </a:t>
            </a:r>
            <a:r>
              <a:rPr lang="en-US" altLang="zh-TW" sz="1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1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標準導入方案</a:t>
            </a:r>
            <a:r>
              <a:rPr lang="en-US" altLang="zh-TW" sz="1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1600" b="1" dirty="0">
                <a:solidFill>
                  <a:srgbClr val="002060"/>
                </a:solidFill>
              </a:rPr>
              <a:t>說明：</a:t>
            </a:r>
            <a:br>
              <a:rPr lang="en-US" altLang="zh-TW" sz="1400" dirty="0">
                <a:solidFill>
                  <a:srgbClr val="FF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套用目前產品所支援之標準規格，包括以下：</a:t>
            </a:r>
            <a:endParaRPr lang="en-US" altLang="zh-TW" sz="16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600"/>
              </a:spcBef>
              <a:buSzPct val="100000"/>
            </a:pP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支援的審核流程條件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資料閱覽權限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《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支援的簽核功能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b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《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支援的審核者角色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《AD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整合方式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人事和組織資料整合方式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solidFill>
                <a:srgbClr val="046A3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2563">
              <a:spcBef>
                <a:spcPts val="600"/>
              </a:spcBef>
              <a:buSzPct val="100000"/>
              <a:buFont typeface="Wingdings" panose="05000000000000000000" pitchFamily="2" charset="2"/>
              <a:buChar char="u"/>
              <a:tabLst>
                <a:tab pos="357188" algn="l"/>
              </a:tabLst>
            </a:pPr>
            <a:r>
              <a:rPr lang="zh-TW" altLang="en-US" sz="1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如為標準規格以外之需求，即屬客製，需另外評估客製費用。</a:t>
            </a:r>
            <a:endParaRPr lang="en-US" altLang="zh-TW" sz="14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49263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u"/>
            </a:pPr>
            <a:r>
              <a:rPr lang="zh-TW" altLang="en-US" sz="1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目前產品所支援之標準規格，請參考檔案：</a:t>
            </a:r>
            <a:br>
              <a:rPr lang="en-US" altLang="zh-TW" sz="1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宏思</a:t>
            </a:r>
            <a:r>
              <a:rPr lang="en-US" altLang="zh-TW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)iLegL</a:t>
            </a:r>
            <a:r>
              <a:rPr lang="zh-TW" altLang="en-US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合約管理平台</a:t>
            </a:r>
            <a:r>
              <a:rPr lang="en-US" altLang="zh-TW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標準導入方案說明</a:t>
            </a:r>
            <a:r>
              <a:rPr lang="en-US" altLang="zh-TW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產品支援規格及導入流程</a:t>
            </a:r>
            <a:r>
              <a:rPr lang="en-US" altLang="zh-TW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dirty="0">
                <a:solidFill>
                  <a:srgbClr val="009A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endParaRPr lang="en-US" altLang="zh-TW" sz="1200" dirty="0">
              <a:solidFill>
                <a:srgbClr val="009A4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600"/>
              </a:spcBef>
              <a:buSzPct val="100000"/>
            </a:pP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僅針對一家公司進行導入工程。</a:t>
            </a:r>
            <a:endParaRPr lang="en-US" altLang="zh-TW" sz="16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2563">
              <a:spcBef>
                <a:spcPts val="600"/>
              </a:spcBef>
              <a:buSzPct val="100000"/>
              <a:buFont typeface="Wingdings" panose="05000000000000000000" pitchFamily="2" charset="2"/>
              <a:buChar char="u"/>
            </a:pPr>
            <a:r>
              <a:rPr lang="zh-TW" altLang="en-US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如需導入其他子公司，可以加購</a:t>
            </a:r>
            <a:r>
              <a:rPr lang="en-US" altLang="zh-TW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多增加一家子公司使用</a:t>
            </a:r>
            <a:r>
              <a:rPr lang="en-US" altLang="zh-TW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服務。</a:t>
            </a:r>
            <a:endParaRPr lang="en-US" altLang="zh-TW" sz="1400" dirty="0">
              <a:solidFill>
                <a:srgbClr val="DA291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600"/>
              </a:spcBef>
              <a:buSzPct val="100000"/>
            </a:pP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系統正式啟用前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必要完成的資料設定，需由甲方處理。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</a:p>
          <a:p>
            <a:pPr marL="449263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u"/>
            </a:pPr>
            <a:r>
              <a:rPr lang="zh-TW" altLang="en-US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建議加購顧問服務時數，如需諮詢宏思顧問如何設定或協助設定時，</a:t>
            </a:r>
            <a:br>
              <a:rPr lang="en-US" altLang="zh-TW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即可使用。     </a:t>
            </a:r>
            <a:endParaRPr lang="en-US" altLang="zh-TW" sz="1400" dirty="0">
              <a:solidFill>
                <a:srgbClr val="DA291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49263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u"/>
            </a:pPr>
            <a:r>
              <a:rPr lang="zh-TW" altLang="en-US" sz="1400" dirty="0">
                <a:solidFill>
                  <a:srgbClr val="DA291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當需要顧問協助時，可填寫顧問服務申請單跟顧問預約時間處理。</a:t>
            </a:r>
            <a:endParaRPr lang="en-US" altLang="zh-TW" sz="1400" dirty="0">
              <a:solidFill>
                <a:srgbClr val="DA291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466977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7DF6-11F7-9EE8-1A5F-9E3FDEA0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D9D3DF3-7464-37DD-2572-2C66F410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  <a:r>
              <a:rPr lang="en-US" altLang="zh-TW" sz="2800" b="1" dirty="0"/>
              <a:t>_</a:t>
            </a:r>
            <a:r>
              <a:rPr lang="zh-TW" altLang="en-US" sz="2400" b="1" dirty="0">
                <a:solidFill>
                  <a:srgbClr val="0038A8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800" b="1" dirty="0">
                <a:solidFill>
                  <a:srgbClr val="005587"/>
                </a:solidFill>
              </a:rPr>
              <a:t>3.</a:t>
            </a:r>
            <a:r>
              <a:rPr lang="en-US" altLang="zh-TW" sz="2800" b="1" dirty="0"/>
              <a:t> </a:t>
            </a:r>
            <a:r>
              <a:rPr lang="zh-TW" altLang="en-US" sz="2800" b="1" dirty="0">
                <a:solidFill>
                  <a:srgbClr val="005587"/>
                </a:solidFill>
                <a:highlight>
                  <a:srgbClr val="FFFF11"/>
                </a:highlight>
              </a:rPr>
              <a:t>加購模組</a:t>
            </a:r>
            <a:r>
              <a:rPr lang="en-US" altLang="zh-TW" sz="2400" b="1" dirty="0">
                <a:solidFill>
                  <a:srgbClr val="0038A8"/>
                </a:solidFill>
                <a:latin typeface="微軟正黑體" panose="020B0604030504040204" pitchFamily="34" charset="-120"/>
              </a:rPr>
              <a:t>《</a:t>
            </a:r>
            <a:r>
              <a:rPr lang="zh-TW" altLang="en-US" sz="2400" b="1" dirty="0">
                <a:solidFill>
                  <a:srgbClr val="0038A8"/>
                </a:solidFill>
              </a:rPr>
              <a:t>非必要</a:t>
            </a:r>
            <a:r>
              <a:rPr lang="en-US" altLang="zh-TW" sz="2400" b="1" dirty="0">
                <a:solidFill>
                  <a:srgbClr val="0038A8"/>
                </a:solidFill>
                <a:latin typeface="微軟正黑體" panose="020B0604030504040204" pitchFamily="34" charset="-120"/>
              </a:rPr>
              <a:t>》</a:t>
            </a:r>
            <a:endParaRPr lang="zh-TW" altLang="en-US" sz="2400" b="1" dirty="0">
              <a:solidFill>
                <a:srgbClr val="00558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BBFAF1-14EB-0375-DFB5-27C0E5916363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810A494-E8F0-CAB5-2FB2-66495F634653}"/>
              </a:ext>
            </a:extLst>
          </p:cNvPr>
          <p:cNvGrpSpPr/>
          <p:nvPr/>
        </p:nvGrpSpPr>
        <p:grpSpPr>
          <a:xfrm>
            <a:off x="429930" y="689833"/>
            <a:ext cx="10525013" cy="512431"/>
            <a:chOff x="220133" y="757569"/>
            <a:chExt cx="10525013" cy="595009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1F6965C0-089A-A1AE-F26C-F5814310BBA2}"/>
                </a:ext>
              </a:extLst>
            </p:cNvPr>
            <p:cNvSpPr/>
            <p:nvPr/>
          </p:nvSpPr>
          <p:spPr bwMode="gray">
            <a:xfrm>
              <a:off x="220134" y="757569"/>
              <a:ext cx="10525012" cy="595009"/>
            </a:xfrm>
            <a:prstGeom prst="roundRect">
              <a:avLst>
                <a:gd name="adj" fmla="val 11023"/>
              </a:avLst>
            </a:prstGeom>
            <a:noFill/>
            <a:ln w="12700" algn="ctr">
              <a:solidFill>
                <a:srgbClr val="FF99CC"/>
              </a:solidFill>
              <a:prstDash val="sysDash"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TW" altLang="en-US" sz="1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A513234-A8D9-A63A-E972-42048E09A9D7}"/>
                </a:ext>
              </a:extLst>
            </p:cNvPr>
            <p:cNvSpPr txBox="1"/>
            <p:nvPr/>
          </p:nvSpPr>
          <p:spPr>
            <a:xfrm>
              <a:off x="220133" y="828947"/>
              <a:ext cx="10525013" cy="464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當您選擇購買</a:t>
              </a:r>
              <a:r>
                <a:rPr lang="en-US" altLang="zh-TW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基本版</a:t>
              </a:r>
              <a:r>
                <a:rPr lang="en-US" altLang="zh-TW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產品時，可以加購方式來購買其他需要的功能模組。</a:t>
              </a:r>
              <a:endParaRPr lang="en-US" altLang="zh-TW" sz="20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BF7453D5-D8CD-BC44-4CBA-AFC768F25BEC}"/>
              </a:ext>
            </a:extLst>
          </p:cNvPr>
          <p:cNvGrpSpPr/>
          <p:nvPr/>
        </p:nvGrpSpPr>
        <p:grpSpPr>
          <a:xfrm>
            <a:off x="429931" y="1295838"/>
            <a:ext cx="10525012" cy="2317764"/>
            <a:chOff x="1251331" y="1330192"/>
            <a:chExt cx="9451213" cy="1787792"/>
          </a:xfrm>
        </p:grpSpPr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1C878F5C-9DFB-EB43-06A0-EFB06BB44A6A}"/>
                </a:ext>
              </a:extLst>
            </p:cNvPr>
            <p:cNvSpPr/>
            <p:nvPr/>
          </p:nvSpPr>
          <p:spPr>
            <a:xfrm>
              <a:off x="1251331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kern="1200" dirty="0">
                  <a:latin typeface="+mn-ea"/>
                </a:rPr>
                <a:t>多國語言支援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b="1" strike="sngStrike" kern="1200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kern="1200" dirty="0">
                  <a:solidFill>
                    <a:srgbClr val="FF99FF"/>
                  </a:solidFill>
                  <a:latin typeface="+mn-ea"/>
                </a:rPr>
                <a:t>30</a:t>
              </a:r>
              <a:r>
                <a:rPr lang="zh-TW" altLang="en-US" sz="1600" b="1" strike="sngStrike" kern="1200" dirty="0">
                  <a:solidFill>
                    <a:srgbClr val="FF99FF"/>
                  </a:solidFill>
                  <a:latin typeface="+mn-ea"/>
                </a:rPr>
                <a:t>萬</a:t>
              </a:r>
              <a:r>
                <a:rPr lang="zh-TW" altLang="en-US" sz="1400" b="1" kern="1200" dirty="0">
                  <a:latin typeface="+mn-ea"/>
                </a:rPr>
                <a:t>  </a:t>
              </a:r>
              <a:r>
                <a:rPr lang="zh-TW" altLang="en-US" sz="1800" b="1" kern="1200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kern="1200" dirty="0">
                  <a:solidFill>
                    <a:srgbClr val="FFFF00"/>
                  </a:solidFill>
                  <a:latin typeface="+mn-ea"/>
                </a:rPr>
                <a:t>20</a:t>
              </a:r>
              <a:r>
                <a:rPr lang="zh-TW" altLang="en-US" sz="1800" b="1" kern="1200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57028943-2F21-8C29-EA88-86D2093F64AC}"/>
                </a:ext>
              </a:extLst>
            </p:cNvPr>
            <p:cNvSpPr/>
            <p:nvPr/>
          </p:nvSpPr>
          <p:spPr>
            <a:xfrm>
              <a:off x="1251331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支援語系</a:t>
              </a:r>
              <a:r>
                <a:rPr lang="zh-TW" altLang="en-US" sz="1400" b="1" dirty="0">
                  <a:latin typeface="+mn-ea"/>
                </a:rPr>
                <a:t>：</a:t>
              </a:r>
              <a:endParaRPr lang="en-US" altLang="zh-TW" sz="1400" b="1" dirty="0">
                <a:latin typeface="+mn-ea"/>
              </a:endParaRPr>
            </a:p>
            <a:p>
              <a:pPr marL="0" lvl="1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TW" altLang="en-US" sz="1400" b="1" kern="1200" dirty="0">
                  <a:latin typeface="+mn-ea"/>
                </a:rPr>
                <a:t>  繁中、簡中、英文</a:t>
              </a:r>
              <a:r>
                <a:rPr lang="zh-TW" altLang="en-US" sz="1400" b="1" dirty="0">
                  <a:latin typeface="+mn-ea"/>
                </a:rPr>
                <a:t>。</a:t>
              </a:r>
              <a:endParaRPr lang="zh-TW" altLang="en-US" sz="1400" b="1" kern="1200" dirty="0">
                <a:latin typeface="+mn-ea"/>
              </a:endParaRPr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2D0ECEC8-CE51-4164-80B1-F7E24C3E4961}"/>
                </a:ext>
              </a:extLst>
            </p:cNvPr>
            <p:cNvSpPr/>
            <p:nvPr/>
          </p:nvSpPr>
          <p:spPr>
            <a:xfrm>
              <a:off x="3688974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TW" sz="1800" b="1" kern="1200" dirty="0">
                  <a:latin typeface="+mn-ea"/>
                </a:rPr>
                <a:t>OCR</a:t>
              </a:r>
              <a:r>
                <a:rPr lang="zh-TW" altLang="en-US" sz="1800" b="1" kern="1200" dirty="0">
                  <a:latin typeface="+mn-ea"/>
                </a:rPr>
                <a:t>模組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dirty="0">
                  <a:solidFill>
                    <a:srgbClr val="FF99FF"/>
                  </a:solidFill>
                  <a:latin typeface="+mn-ea"/>
                </a:rPr>
                <a:t>30</a:t>
              </a: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dirty="0">
                  <a:solidFill>
                    <a:srgbClr val="FFFF00"/>
                  </a:solidFill>
                  <a:latin typeface="+mn-ea"/>
                </a:rPr>
                <a:t>20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844D518B-5D5B-B222-8C4D-412D1536878A}"/>
                </a:ext>
              </a:extLst>
            </p:cNvPr>
            <p:cNvSpPr/>
            <p:nvPr/>
          </p:nvSpPr>
          <p:spPr>
            <a:xfrm>
              <a:off x="3688974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適用於</a:t>
              </a:r>
              <a:r>
                <a:rPr lang="zh-TW" altLang="en-US" sz="1400" b="1" dirty="0">
                  <a:latin typeface="+mn-ea"/>
                </a:rPr>
                <a:t>公</a:t>
              </a:r>
              <a:r>
                <a:rPr lang="zh-TW" altLang="en-US" sz="1400" b="1" kern="1200" dirty="0">
                  <a:latin typeface="+mn-ea"/>
                </a:rPr>
                <a:t>司有舊合約的紙本掃描檔，需要歸檔到系統並希望可以搜尋到合約本文的內容時，可使用此模組。</a:t>
              </a:r>
              <a:endParaRPr lang="en-US" altLang="zh-TW" sz="1400" b="1" kern="1200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支援：繁中、英文</a:t>
              </a:r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D95627A4-A364-3701-E3F5-21582BCA6873}"/>
                </a:ext>
              </a:extLst>
            </p:cNvPr>
            <p:cNvSpPr/>
            <p:nvPr/>
          </p:nvSpPr>
          <p:spPr>
            <a:xfrm>
              <a:off x="6126617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kern="1200" dirty="0">
                  <a:latin typeface="+mn-ea"/>
                </a:rPr>
                <a:t>制訂合約範本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dirty="0">
                  <a:solidFill>
                    <a:srgbClr val="FF99FF"/>
                  </a:solidFill>
                  <a:latin typeface="+mn-ea"/>
                </a:rPr>
                <a:t>30</a:t>
              </a: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dirty="0">
                  <a:solidFill>
                    <a:srgbClr val="FFFF00"/>
                  </a:solidFill>
                  <a:latin typeface="+mn-ea"/>
                </a:rPr>
                <a:t>20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61606369-A57F-28E4-B212-0A20DFF27A9C}"/>
                </a:ext>
              </a:extLst>
            </p:cNvPr>
            <p:cNvSpPr/>
            <p:nvPr/>
          </p:nvSpPr>
          <p:spPr>
            <a:xfrm>
              <a:off x="6126617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zh-TW" altLang="en-US" sz="1400" b="1" kern="1200" dirty="0">
                  <a:latin typeface="+mn-ea"/>
                </a:rPr>
                <a:t>適用於合約條文不提供給簽約對象異動的制式合約</a:t>
              </a:r>
              <a:r>
                <a:rPr lang="zh-TW" altLang="en-US" sz="1400" b="1" dirty="0">
                  <a:latin typeface="+mn-ea"/>
                </a:rPr>
                <a:t>。</a:t>
              </a:r>
              <a:endParaRPr lang="en-US" altLang="zh-TW" sz="1400" b="1" kern="1200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可針對制式合約的商業條件，設定為只能在系統上填寫的欄位。</a:t>
              </a:r>
              <a:endParaRPr lang="en-US" altLang="zh-TW" sz="1400" b="1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下載的合約為</a:t>
              </a:r>
              <a:r>
                <a:rPr lang="en-US" altLang="zh-TW" sz="1400" b="1" dirty="0">
                  <a:latin typeface="+mn-ea"/>
                </a:rPr>
                <a:t>PDF</a:t>
              </a:r>
              <a:r>
                <a:rPr lang="zh-TW" altLang="en-US" sz="1400" b="1" dirty="0">
                  <a:latin typeface="+mn-ea"/>
                </a:rPr>
                <a:t>檔。</a:t>
              </a:r>
              <a:endParaRPr lang="en-US" altLang="zh-TW" sz="1400" b="1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TW" altLang="en-US" sz="1400" b="1" kern="1200" dirty="0">
                <a:latin typeface="+mn-ea"/>
              </a:endParaRPr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0D8A766-EC70-4CC4-B715-00E83A534918}"/>
                </a:ext>
              </a:extLst>
            </p:cNvPr>
            <p:cNvSpPr/>
            <p:nvPr/>
          </p:nvSpPr>
          <p:spPr>
            <a:xfrm>
              <a:off x="8564261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kern="1200" dirty="0">
                  <a:latin typeface="+mn-ea"/>
                </a:rPr>
                <a:t>智慧提醒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dirty="0">
                  <a:solidFill>
                    <a:srgbClr val="FF99FF"/>
                  </a:solidFill>
                  <a:latin typeface="+mn-ea"/>
                </a:rPr>
                <a:t>30</a:t>
              </a: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dirty="0">
                  <a:solidFill>
                    <a:srgbClr val="FFFF00"/>
                  </a:solidFill>
                  <a:latin typeface="+mn-ea"/>
                </a:rPr>
                <a:t>20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8736428D-EA33-3199-F34D-3F9962D18C52}"/>
                </a:ext>
              </a:extLst>
            </p:cNvPr>
            <p:cNvSpPr/>
            <p:nvPr/>
          </p:nvSpPr>
          <p:spPr>
            <a:xfrm>
              <a:off x="8564261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由系統為該份合約，自動產出預設的提醒項目以及要提醒的時間、通知的對象與內容。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3DF90DEC-AE22-9B02-0694-716ACF007918}"/>
              </a:ext>
            </a:extLst>
          </p:cNvPr>
          <p:cNvGrpSpPr/>
          <p:nvPr/>
        </p:nvGrpSpPr>
        <p:grpSpPr>
          <a:xfrm>
            <a:off x="429931" y="3756209"/>
            <a:ext cx="10525012" cy="3006992"/>
            <a:chOff x="1251331" y="1330192"/>
            <a:chExt cx="9451213" cy="178779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34AD22D-650D-65DD-7F68-9A862B0D218B}"/>
                </a:ext>
              </a:extLst>
            </p:cNvPr>
            <p:cNvSpPr/>
            <p:nvPr/>
          </p:nvSpPr>
          <p:spPr>
            <a:xfrm>
              <a:off x="1251331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800" b="1" dirty="0">
                  <a:latin typeface="+mn-ea"/>
                </a:rPr>
                <a:t>合約產生器</a:t>
              </a:r>
              <a:r>
                <a:rPr lang="en-US" altLang="zh-TW" sz="1800" b="1" dirty="0">
                  <a:latin typeface="+mn-ea"/>
                </a:rPr>
                <a:t>-</a:t>
              </a:r>
              <a:r>
                <a:rPr lang="zh-TW" altLang="en-US" sz="1800" b="1" dirty="0">
                  <a:latin typeface="+mn-ea"/>
                </a:rPr>
                <a:t>固定型</a:t>
              </a:r>
              <a:endParaRPr lang="en-US" altLang="zh-TW" sz="1800" b="1" dirty="0">
                <a:latin typeface="+mn-ea"/>
              </a:endParaRPr>
            </a:p>
            <a:p>
              <a:pPr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dirty="0">
                  <a:solidFill>
                    <a:srgbClr val="FF99FF"/>
                  </a:solidFill>
                  <a:latin typeface="+mn-ea"/>
                </a:rPr>
                <a:t>30</a:t>
              </a: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dirty="0">
                  <a:solidFill>
                    <a:srgbClr val="FFFF00"/>
                  </a:solidFill>
                  <a:latin typeface="+mn-ea"/>
                </a:rPr>
                <a:t>20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CC89402-5992-00FA-95F8-749818527405}"/>
                </a:ext>
              </a:extLst>
            </p:cNvPr>
            <p:cNvSpPr/>
            <p:nvPr/>
          </p:nvSpPr>
          <p:spPr>
            <a:xfrm>
              <a:off x="1251331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提供</a:t>
              </a:r>
              <a:r>
                <a:rPr lang="en-US" altLang="zh-TW" sz="1400" b="1" dirty="0">
                  <a:latin typeface="+mn-ea"/>
                </a:rPr>
                <a:t>5</a:t>
              </a:r>
              <a:r>
                <a:rPr lang="zh-TW" altLang="en-US" sz="1400" b="1" dirty="0">
                  <a:latin typeface="+mn-ea"/>
                </a:rPr>
                <a:t>種固定的合約產生器範本。</a:t>
              </a:r>
              <a:endParaRPr lang="zh-TW" altLang="en-US" sz="1400" b="1" kern="1200" dirty="0">
                <a:latin typeface="+mn-ea"/>
              </a:endParaRPr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683C0AB0-128E-4FEB-D685-12AF51EA3692}"/>
                </a:ext>
              </a:extLst>
            </p:cNvPr>
            <p:cNvSpPr/>
            <p:nvPr/>
          </p:nvSpPr>
          <p:spPr>
            <a:xfrm>
              <a:off x="3688974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800" b="1" dirty="0">
                  <a:latin typeface="+mn-ea"/>
                </a:rPr>
                <a:t>合約產生器</a:t>
              </a:r>
              <a:r>
                <a:rPr lang="en-US" altLang="zh-TW" sz="1800" b="1" dirty="0">
                  <a:latin typeface="+mn-ea"/>
                </a:rPr>
                <a:t>-</a:t>
              </a:r>
              <a:r>
                <a:rPr lang="zh-TW" altLang="en-US" sz="1800" b="1" dirty="0">
                  <a:latin typeface="+mn-ea"/>
                </a:rPr>
                <a:t>訂制型</a:t>
              </a:r>
              <a:endParaRPr lang="en-US" altLang="zh-TW" sz="1800" b="1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dirty="0">
                  <a:solidFill>
                    <a:srgbClr val="FF99FF"/>
                  </a:solidFill>
                  <a:latin typeface="+mn-ea"/>
                </a:rPr>
                <a:t>45</a:t>
              </a: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dirty="0">
                  <a:solidFill>
                    <a:srgbClr val="FFFF00"/>
                  </a:solidFill>
                  <a:latin typeface="+mn-ea"/>
                </a:rPr>
                <a:t>30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EA91A194-096A-64E6-AFF3-D65DC120D178}"/>
                </a:ext>
              </a:extLst>
            </p:cNvPr>
            <p:cNvSpPr/>
            <p:nvPr/>
          </p:nvSpPr>
          <p:spPr>
            <a:xfrm>
              <a:off x="3688974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可設定問卷項目。</a:t>
              </a:r>
              <a:endParaRPr lang="zh-TW" altLang="en-US" sz="1400" b="1" kern="1200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可自訂合約產生器範本。</a:t>
              </a:r>
              <a:endParaRPr lang="zh-TW" altLang="en-US" sz="1400" b="1" kern="1200" dirty="0">
                <a:latin typeface="+mn-ea"/>
              </a:endParaRPr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053931D3-D95D-5A3A-7B3F-14ABB107A40E}"/>
                </a:ext>
              </a:extLst>
            </p:cNvPr>
            <p:cNvSpPr/>
            <p:nvPr/>
          </p:nvSpPr>
          <p:spPr>
            <a:xfrm>
              <a:off x="6126617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kern="1200" dirty="0">
                  <a:latin typeface="+mn-ea"/>
                </a:rPr>
                <a:t>線上討論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dirty="0">
                  <a:solidFill>
                    <a:srgbClr val="FF99FF"/>
                  </a:solidFill>
                  <a:latin typeface="+mn-ea"/>
                </a:rPr>
                <a:t>30</a:t>
              </a: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dirty="0">
                  <a:solidFill>
                    <a:srgbClr val="FFFF00"/>
                  </a:solidFill>
                  <a:latin typeface="+mn-ea"/>
                </a:rPr>
                <a:t>20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F498F60D-F4E3-92A2-3E60-19F8B222BC54}"/>
                </a:ext>
              </a:extLst>
            </p:cNvPr>
            <p:cNvSpPr/>
            <p:nvPr/>
          </p:nvSpPr>
          <p:spPr>
            <a:xfrm>
              <a:off x="6126617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可設定線上討論會議。</a:t>
              </a:r>
              <a:endParaRPr lang="en-US" altLang="zh-TW" sz="1400" b="1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可</a:t>
              </a:r>
              <a:r>
                <a:rPr lang="zh-TW" altLang="en-US" sz="1400" b="1" kern="1200" dirty="0">
                  <a:latin typeface="+mn-ea"/>
                </a:rPr>
                <a:t>跨部門邀約成員加入，</a:t>
              </a:r>
              <a:endParaRPr lang="en-US" altLang="zh-TW" sz="1400" b="1" kern="1200" dirty="0">
                <a:latin typeface="+mn-ea"/>
              </a:endParaRPr>
            </a:p>
            <a:p>
              <a:pPr marL="0" lvl="1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TW" altLang="en-US" sz="1400" b="1" dirty="0">
                  <a:latin typeface="+mn-ea"/>
                </a:rPr>
                <a:t>   進行合約內容討論。</a:t>
              </a:r>
              <a:endParaRPr lang="en-US" altLang="zh-TW" sz="1400" b="1" dirty="0">
                <a:latin typeface="+mn-ea"/>
              </a:endParaRPr>
            </a:p>
            <a:p>
              <a:pPr marL="0" lvl="1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zh-TW" altLang="en-US" sz="1400" b="1" dirty="0">
                <a:latin typeface="+mn-ea"/>
              </a:endParaRPr>
            </a:p>
            <a:p>
              <a:pPr marL="0" lvl="1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altLang="zh-TW" sz="1400" b="1" kern="1200" dirty="0">
                <a:latin typeface="+mn-ea"/>
              </a:endParaRPr>
            </a:p>
            <a:p>
              <a:pPr marL="0" lvl="1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altLang="zh-TW" sz="1400" b="1" kern="1200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TW" altLang="en-US" sz="1400" b="1" kern="1200" dirty="0">
                <a:latin typeface="+mn-ea"/>
              </a:endParaRPr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16303E3D-191A-9458-A75E-1FF7D57CC3B8}"/>
                </a:ext>
              </a:extLst>
            </p:cNvPr>
            <p:cNvSpPr/>
            <p:nvPr/>
          </p:nvSpPr>
          <p:spPr>
            <a:xfrm>
              <a:off x="8564261" y="1330192"/>
              <a:ext cx="2138283" cy="735085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1E42"/>
            </a:solidFill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kern="1200" dirty="0">
                  <a:latin typeface="+mn-ea"/>
                </a:rPr>
                <a:t>整合一家電子簽章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600" b="1" strike="sngStrike" dirty="0">
                  <a:solidFill>
                    <a:srgbClr val="FF99FF"/>
                  </a:solidFill>
                  <a:latin typeface="+mn-ea"/>
                </a:rPr>
                <a:t>38</a:t>
              </a:r>
              <a:r>
                <a:rPr lang="zh-TW" altLang="en-US" sz="16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1800" b="1" dirty="0">
                  <a:solidFill>
                    <a:srgbClr val="FFFF00"/>
                  </a:solidFill>
                  <a:latin typeface="+mn-ea"/>
                </a:rPr>
                <a:t>25</a:t>
              </a:r>
              <a:r>
                <a:rPr lang="zh-TW" altLang="en-US" sz="18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1F07D24E-51FC-0E36-CF8B-BF49D054B2E8}"/>
                </a:ext>
              </a:extLst>
            </p:cNvPr>
            <p:cNvSpPr/>
            <p:nvPr/>
          </p:nvSpPr>
          <p:spPr>
            <a:xfrm>
              <a:off x="8564261" y="2065277"/>
              <a:ext cx="2138283" cy="105270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可選擇要整合哪一家電子簽章廠商。</a:t>
              </a:r>
              <a:endParaRPr lang="en-US" altLang="zh-TW" sz="1400" b="1" kern="1200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整合該</a:t>
              </a:r>
              <a:r>
                <a:rPr lang="zh-TW" altLang="en-US" sz="1400" b="1" kern="1200" dirty="0">
                  <a:latin typeface="+mn-ea"/>
                </a:rPr>
                <a:t>電子簽章廠商的</a:t>
              </a:r>
              <a:r>
                <a:rPr lang="en-US" altLang="zh-TW" sz="1400" b="1" kern="1200" dirty="0">
                  <a:latin typeface="+mn-ea"/>
                </a:rPr>
                <a:t>API</a:t>
              </a:r>
            </a:p>
            <a:p>
              <a:pPr marL="0" lvl="1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TW" altLang="en-US" sz="1400" b="1" dirty="0">
                  <a:latin typeface="+mn-ea"/>
                </a:rPr>
                <a:t>  </a:t>
              </a:r>
              <a:r>
                <a:rPr lang="zh-TW" altLang="en-US" sz="1400" b="1" kern="1200" dirty="0">
                  <a:latin typeface="+mn-ea"/>
                </a:rPr>
                <a:t>到</a:t>
              </a:r>
              <a:r>
                <a:rPr lang="en-US" altLang="zh-TW" sz="1400" b="1" dirty="0">
                  <a:latin typeface="+mn-ea"/>
                </a:rPr>
                <a:t>iLegL</a:t>
              </a:r>
              <a:r>
                <a:rPr lang="zh-TW" altLang="en-US" sz="1400" b="1" dirty="0">
                  <a:latin typeface="+mn-ea"/>
                </a:rPr>
                <a:t>合約管理平台</a:t>
              </a:r>
              <a:r>
                <a:rPr lang="zh-TW" altLang="en-US" sz="1400" b="1" kern="1200" dirty="0">
                  <a:latin typeface="+mn-ea"/>
                </a:rPr>
                <a:t>。</a:t>
              </a:r>
              <a:endParaRPr lang="en-US" altLang="zh-TW" sz="1400" b="1" dirty="0">
                <a:latin typeface="+mn-ea"/>
              </a:endParaRPr>
            </a:p>
            <a:p>
              <a:pPr marL="114300" lvl="1" indent="-114300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整合後，系統可觸發簽署通知信給簽署人。</a:t>
              </a:r>
              <a:endParaRPr lang="en-US" altLang="zh-TW" sz="1400" b="1" dirty="0">
                <a:latin typeface="+mn-ea"/>
              </a:endParaRPr>
            </a:p>
            <a:p>
              <a:pPr marL="114300" lvl="1" indent="-114300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可追蹤簽署進度與取回簽署完畢的合約到系統歸檔。</a:t>
              </a:r>
              <a:endParaRPr lang="en-US" altLang="zh-TW" sz="1400" b="1" dirty="0">
                <a:latin typeface="+mn-ea"/>
              </a:endParaRPr>
            </a:p>
            <a:p>
              <a:pPr marL="0" lvl="1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altLang="zh-TW" sz="1400" b="1" dirty="0">
                <a:latin typeface="+mn-ea"/>
              </a:endParaRPr>
            </a:p>
            <a:p>
              <a:pPr marL="0" lvl="1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altLang="zh-TW" sz="1400" b="1" kern="1200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TW" altLang="en-US" sz="1400" b="1" kern="12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10447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D05E-9820-8C90-5079-D6D42FF4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1743A2D-B725-D7D6-73AE-1FEC1B57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  <a:r>
              <a:rPr lang="en-US" altLang="zh-TW" sz="2800" b="1" dirty="0"/>
              <a:t>_</a:t>
            </a:r>
            <a:r>
              <a:rPr lang="en-US" altLang="zh-TW" sz="2800" b="1" dirty="0">
                <a:solidFill>
                  <a:srgbClr val="005587"/>
                </a:solidFill>
              </a:rPr>
              <a:t>3. </a:t>
            </a:r>
            <a:r>
              <a:rPr lang="zh-TW" altLang="en-US" sz="2800" b="1" dirty="0">
                <a:solidFill>
                  <a:srgbClr val="005587"/>
                </a:solidFill>
                <a:highlight>
                  <a:srgbClr val="FFFF00"/>
                </a:highlight>
              </a:rPr>
              <a:t>加購服務 </a:t>
            </a:r>
            <a:r>
              <a:rPr lang="en-US" altLang="zh-TW" sz="2400" b="1" dirty="0">
                <a:solidFill>
                  <a:srgbClr val="0038A8"/>
                </a:solidFill>
                <a:latin typeface="微軟正黑體" panose="020B0604030504040204" pitchFamily="34" charset="-120"/>
              </a:rPr>
              <a:t>《</a:t>
            </a:r>
            <a:r>
              <a:rPr lang="zh-TW" altLang="en-US" sz="2400" b="1" dirty="0">
                <a:solidFill>
                  <a:srgbClr val="0038A8"/>
                </a:solidFill>
              </a:rPr>
              <a:t>非必要</a:t>
            </a:r>
            <a:r>
              <a:rPr lang="en-US" altLang="zh-TW" sz="2400" b="1" dirty="0">
                <a:solidFill>
                  <a:srgbClr val="0038A8"/>
                </a:solidFill>
                <a:latin typeface="微軟正黑體" panose="020B0604030504040204" pitchFamily="34" charset="-120"/>
              </a:rPr>
              <a:t>》</a:t>
            </a:r>
            <a:endParaRPr lang="zh-TW" altLang="en-US" sz="2400" b="1" dirty="0">
              <a:solidFill>
                <a:srgbClr val="00558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08CE54-6EE3-8866-920D-0D16B2AD1725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BB6E3DE-4533-F867-B9FE-7C91B01D08BA}"/>
              </a:ext>
            </a:extLst>
          </p:cNvPr>
          <p:cNvGrpSpPr/>
          <p:nvPr/>
        </p:nvGrpSpPr>
        <p:grpSpPr>
          <a:xfrm>
            <a:off x="289409" y="1923078"/>
            <a:ext cx="3320991" cy="3754513"/>
            <a:chOff x="666808" y="1617572"/>
            <a:chExt cx="3320991" cy="2509503"/>
          </a:xfrm>
        </p:grpSpPr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2B4F1DC6-851C-9F8F-E6A2-A77340936833}"/>
                </a:ext>
              </a:extLst>
            </p:cNvPr>
            <p:cNvSpPr/>
            <p:nvPr/>
          </p:nvSpPr>
          <p:spPr>
            <a:xfrm>
              <a:off x="666808" y="1617572"/>
              <a:ext cx="3320991" cy="825976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3300"/>
            </a:solidFill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dirty="0">
                  <a:latin typeface="+mn-ea"/>
                </a:rPr>
                <a:t>成批舊合約匯入</a:t>
              </a:r>
              <a:r>
                <a:rPr lang="en-US" altLang="zh-TW" sz="1800" b="1" dirty="0">
                  <a:latin typeface="+mn-ea"/>
                </a:rPr>
                <a:t>_5000</a:t>
              </a:r>
              <a:r>
                <a:rPr lang="zh-TW" altLang="en-US" sz="1800" b="1" dirty="0">
                  <a:latin typeface="+mn-ea"/>
                </a:rPr>
                <a:t>筆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800" b="1" strike="sngStrike" dirty="0">
                  <a:solidFill>
                    <a:srgbClr val="FF99FF"/>
                  </a:solidFill>
                  <a:latin typeface="+mn-ea"/>
                </a:rPr>
                <a:t>25</a:t>
              </a:r>
              <a:r>
                <a:rPr lang="zh-TW" altLang="en-US" sz="1800" b="1" strike="sngStrike" dirty="0">
                  <a:solidFill>
                    <a:srgbClr val="FF99FF"/>
                  </a:solidFill>
                  <a:latin typeface="+mn-ea"/>
                </a:rPr>
                <a:t>萬  </a:t>
              </a:r>
              <a:r>
                <a:rPr lang="zh-TW" altLang="en-US" sz="20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2000" b="1" dirty="0">
                  <a:solidFill>
                    <a:srgbClr val="FFFF00"/>
                  </a:solidFill>
                  <a:latin typeface="+mn-ea"/>
                </a:rPr>
                <a:t>15</a:t>
              </a:r>
              <a:r>
                <a:rPr lang="zh-TW" altLang="en-US" sz="20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5D7FB2FC-516F-8936-4254-5EAEAA5E9668}"/>
                </a:ext>
              </a:extLst>
            </p:cNvPr>
            <p:cNvSpPr/>
            <p:nvPr/>
          </p:nvSpPr>
          <p:spPr>
            <a:xfrm>
              <a:off x="666808" y="2443548"/>
              <a:ext cx="3320991" cy="1683527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90000"/>
              </a:schemeClr>
            </a:solidFill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宏思提供合約資料匯入範例文件</a:t>
              </a:r>
              <a:r>
                <a:rPr lang="en-US" altLang="zh-TW" sz="1400" b="1" kern="1200" dirty="0">
                  <a:latin typeface="+mn-ea"/>
                </a:rPr>
                <a:t>(Excel)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客戶整理匯入資料</a:t>
              </a:r>
              <a:r>
                <a:rPr lang="en-US" altLang="zh-TW" sz="1400" b="1" dirty="0">
                  <a:latin typeface="+mn-ea"/>
                </a:rPr>
                <a:t>(Excel</a:t>
              </a:r>
              <a:r>
                <a:rPr lang="zh-TW" altLang="en-US" sz="1400" b="1" dirty="0">
                  <a:latin typeface="+mn-ea"/>
                </a:rPr>
                <a:t>檔案</a:t>
              </a:r>
              <a:r>
                <a:rPr lang="en-US" altLang="zh-TW" sz="1400" b="1" dirty="0">
                  <a:latin typeface="+mn-ea"/>
                </a:rPr>
                <a:t>)</a:t>
              </a:r>
              <a:r>
                <a:rPr lang="zh-TW" altLang="en-US" sz="1400" b="1" dirty="0">
                  <a:latin typeface="+mn-ea"/>
                </a:rPr>
                <a:t>給宏思</a:t>
              </a:r>
              <a:endParaRPr lang="en-US" altLang="zh-TW" sz="1400" b="1" dirty="0">
                <a:latin typeface="+mn-ea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宏思將舊合約資料成批匯入到系統</a:t>
              </a:r>
              <a:endParaRPr lang="en-US" altLang="zh-TW" sz="1400" b="1" kern="1200" dirty="0">
                <a:latin typeface="+mn-ea"/>
              </a:endParaRPr>
            </a:p>
            <a:p>
              <a:pPr marL="114300" lvl="1" indent="-114300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zh-TW" altLang="en-US" sz="1400" b="1" dirty="0">
                  <a:latin typeface="+mn-ea"/>
                </a:rPr>
                <a:t>採一次性匯入</a:t>
              </a:r>
              <a:r>
                <a:rPr lang="en-US" altLang="zh-TW" sz="1400" b="1" dirty="0">
                  <a:latin typeface="+mn-ea"/>
                </a:rPr>
                <a:t>(</a:t>
              </a:r>
              <a:r>
                <a:rPr lang="zh-TW" altLang="en-US" sz="1400" b="1" dirty="0">
                  <a:latin typeface="+mn-ea"/>
                </a:rPr>
                <a:t>不可分次匯入</a:t>
              </a:r>
              <a:r>
                <a:rPr lang="en-US" altLang="zh-TW" sz="1400" b="1" dirty="0">
                  <a:latin typeface="+mn-ea"/>
                </a:rPr>
                <a:t>)</a:t>
              </a:r>
              <a:endParaRPr lang="zh-TW" altLang="en-US" sz="1400" b="1" dirty="0">
                <a:latin typeface="+mn-ea"/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BE6C820-5199-CE88-7423-F744A04818DB}"/>
              </a:ext>
            </a:extLst>
          </p:cNvPr>
          <p:cNvGrpSpPr/>
          <p:nvPr/>
        </p:nvGrpSpPr>
        <p:grpSpPr>
          <a:xfrm>
            <a:off x="3829708" y="1923078"/>
            <a:ext cx="3320991" cy="3754513"/>
            <a:chOff x="666808" y="1617572"/>
            <a:chExt cx="3320991" cy="2518215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98A75FE3-D000-DAD9-1F99-CA01831FC845}"/>
                </a:ext>
              </a:extLst>
            </p:cNvPr>
            <p:cNvSpPr/>
            <p:nvPr/>
          </p:nvSpPr>
          <p:spPr>
            <a:xfrm>
              <a:off x="666808" y="1617572"/>
              <a:ext cx="3320991" cy="828844"/>
            </a:xfrm>
            <a:custGeom>
              <a:avLst/>
              <a:gdLst>
                <a:gd name="connsiteX0" fmla="*/ 0 w 2138283"/>
                <a:gd name="connsiteY0" fmla="*/ 0 h 735085"/>
                <a:gd name="connsiteX1" fmla="*/ 2138283 w 2138283"/>
                <a:gd name="connsiteY1" fmla="*/ 0 h 735085"/>
                <a:gd name="connsiteX2" fmla="*/ 2138283 w 2138283"/>
                <a:gd name="connsiteY2" fmla="*/ 735085 h 735085"/>
                <a:gd name="connsiteX3" fmla="*/ 0 w 2138283"/>
                <a:gd name="connsiteY3" fmla="*/ 735085 h 735085"/>
                <a:gd name="connsiteX4" fmla="*/ 0 w 2138283"/>
                <a:gd name="connsiteY4" fmla="*/ 0 h 7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735085">
                  <a:moveTo>
                    <a:pt x="0" y="0"/>
                  </a:moveTo>
                  <a:lnTo>
                    <a:pt x="2138283" y="0"/>
                  </a:lnTo>
                  <a:lnTo>
                    <a:pt x="2138283" y="735085"/>
                  </a:lnTo>
                  <a:lnTo>
                    <a:pt x="0" y="7350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3300"/>
            </a:solidFill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dirty="0">
                  <a:latin typeface="+mn-ea"/>
                </a:rPr>
                <a:t>成批舊合約匯入</a:t>
              </a:r>
              <a:r>
                <a:rPr lang="en-US" altLang="zh-TW" sz="1800" b="1" dirty="0">
                  <a:latin typeface="+mn-ea"/>
                </a:rPr>
                <a:t>_8000</a:t>
              </a:r>
              <a:r>
                <a:rPr lang="zh-TW" altLang="en-US" sz="1800" b="1" dirty="0">
                  <a:latin typeface="+mn-ea"/>
                </a:rPr>
                <a:t>筆</a:t>
              </a:r>
              <a:endParaRPr lang="en-US" altLang="zh-TW" sz="1800" b="1" kern="1200" dirty="0">
                <a:latin typeface="+mn-ea"/>
              </a:endParaRPr>
            </a:p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800" b="1" strike="sngStrike" dirty="0">
                  <a:solidFill>
                    <a:srgbClr val="FF99FF"/>
                  </a:solidFill>
                  <a:latin typeface="+mn-ea"/>
                </a:rPr>
                <a:t>定價</a:t>
              </a:r>
              <a:r>
                <a:rPr lang="en-US" altLang="zh-TW" sz="1800" b="1" strike="sngStrike" dirty="0">
                  <a:solidFill>
                    <a:srgbClr val="FF99FF"/>
                  </a:solidFill>
                  <a:latin typeface="+mn-ea"/>
                </a:rPr>
                <a:t>40</a:t>
              </a:r>
              <a:r>
                <a:rPr lang="zh-TW" altLang="en-US" sz="1800" b="1" strike="sngStrike" dirty="0">
                  <a:solidFill>
                    <a:srgbClr val="FF99FF"/>
                  </a:solidFill>
                  <a:latin typeface="+mn-ea"/>
                </a:rPr>
                <a:t>萬</a:t>
              </a:r>
              <a:r>
                <a:rPr lang="zh-TW" altLang="en-US" sz="1800" b="1" dirty="0">
                  <a:solidFill>
                    <a:srgbClr val="FF99FF"/>
                  </a:solidFill>
                  <a:latin typeface="+mn-ea"/>
                </a:rPr>
                <a:t>  </a:t>
              </a:r>
              <a:r>
                <a:rPr lang="zh-TW" altLang="en-US" sz="2000" b="1" dirty="0">
                  <a:solidFill>
                    <a:srgbClr val="FFFF00"/>
                  </a:solidFill>
                  <a:latin typeface="+mn-ea"/>
                </a:rPr>
                <a:t>優惠價</a:t>
              </a:r>
              <a:r>
                <a:rPr lang="en-US" altLang="zh-TW" sz="2000" b="1" dirty="0">
                  <a:solidFill>
                    <a:srgbClr val="FFFF00"/>
                  </a:solidFill>
                  <a:latin typeface="+mn-ea"/>
                </a:rPr>
                <a:t>20</a:t>
              </a:r>
              <a:r>
                <a:rPr lang="zh-TW" altLang="en-US" sz="2000" b="1" dirty="0">
                  <a:solidFill>
                    <a:srgbClr val="FFFF00"/>
                  </a:solidFill>
                  <a:latin typeface="+mn-ea"/>
                </a:rPr>
                <a:t>萬</a:t>
              </a:r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FFDBF03D-A01D-BD3F-D28F-0C65B214C8C1}"/>
                </a:ext>
              </a:extLst>
            </p:cNvPr>
            <p:cNvSpPr/>
            <p:nvPr/>
          </p:nvSpPr>
          <p:spPr>
            <a:xfrm>
              <a:off x="666808" y="2446416"/>
              <a:ext cx="3320991" cy="1689371"/>
            </a:xfrm>
            <a:custGeom>
              <a:avLst/>
              <a:gdLst>
                <a:gd name="connsiteX0" fmla="*/ 0 w 2138283"/>
                <a:gd name="connsiteY0" fmla="*/ 0 h 1052707"/>
                <a:gd name="connsiteX1" fmla="*/ 2138283 w 2138283"/>
                <a:gd name="connsiteY1" fmla="*/ 0 h 1052707"/>
                <a:gd name="connsiteX2" fmla="*/ 2138283 w 2138283"/>
                <a:gd name="connsiteY2" fmla="*/ 1052707 h 1052707"/>
                <a:gd name="connsiteX3" fmla="*/ 0 w 2138283"/>
                <a:gd name="connsiteY3" fmla="*/ 1052707 h 1052707"/>
                <a:gd name="connsiteX4" fmla="*/ 0 w 2138283"/>
                <a:gd name="connsiteY4" fmla="*/ 0 h 105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8283" h="1052707">
                  <a:moveTo>
                    <a:pt x="0" y="0"/>
                  </a:moveTo>
                  <a:lnTo>
                    <a:pt x="2138283" y="0"/>
                  </a:lnTo>
                  <a:lnTo>
                    <a:pt x="2138283" y="1052707"/>
                  </a:lnTo>
                  <a:lnTo>
                    <a:pt x="0" y="1052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90000"/>
              </a:schemeClr>
            </a:solidFill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kern="1200" dirty="0">
                  <a:latin typeface="+mn-ea"/>
                </a:rPr>
                <a:t>宏思提供合約資料匯入範例文件</a:t>
              </a:r>
              <a:r>
                <a:rPr lang="en-US" altLang="zh-TW" sz="1400" b="1" kern="1200" dirty="0">
                  <a:latin typeface="+mn-ea"/>
                </a:rPr>
                <a:t>(Excel)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TW" altLang="en-US" sz="1400" b="1" dirty="0">
                  <a:latin typeface="+mn-ea"/>
                </a:rPr>
                <a:t>客戶整理匯入資料</a:t>
              </a:r>
              <a:r>
                <a:rPr lang="en-US" altLang="zh-TW" sz="1400" b="1" dirty="0">
                  <a:latin typeface="+mn-ea"/>
                </a:rPr>
                <a:t>(Excel</a:t>
              </a:r>
              <a:r>
                <a:rPr lang="zh-TW" altLang="en-US" sz="1400" b="1" dirty="0">
                  <a:latin typeface="+mn-ea"/>
                </a:rPr>
                <a:t>檔案</a:t>
              </a:r>
              <a:r>
                <a:rPr lang="en-US" altLang="zh-TW" sz="1400" b="1" dirty="0">
                  <a:latin typeface="+mn-ea"/>
                </a:rPr>
                <a:t>)</a:t>
              </a:r>
              <a:r>
                <a:rPr lang="zh-TW" altLang="en-US" sz="1400" b="1" dirty="0">
                  <a:latin typeface="+mn-ea"/>
                </a:rPr>
                <a:t>給宏思</a:t>
              </a:r>
              <a:endParaRPr lang="en-US" altLang="zh-TW" sz="1400" b="1" dirty="0">
                <a:latin typeface="+mn-ea"/>
              </a:endParaRPr>
            </a:p>
            <a:p>
              <a:pPr marL="114300" lvl="1" indent="-114300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zh-TW" altLang="en-US" sz="1400" b="1" kern="1200" dirty="0">
                  <a:latin typeface="+mn-ea"/>
                </a:rPr>
                <a:t>宏思將舊合約資料成批匯入到系統</a:t>
              </a:r>
              <a:endParaRPr lang="en-US" altLang="zh-TW" sz="1400" b="1" kern="1200" dirty="0">
                <a:latin typeface="+mn-ea"/>
              </a:endParaRPr>
            </a:p>
            <a:p>
              <a:pPr marL="114300" lvl="1" indent="-114300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zh-TW" altLang="en-US" sz="1400" b="1" kern="1200" dirty="0">
                  <a:latin typeface="+mn-ea"/>
                </a:rPr>
                <a:t>採一次性匯入</a:t>
              </a:r>
              <a:r>
                <a:rPr lang="en-US" altLang="zh-TW" sz="1400" b="1" kern="1200" dirty="0">
                  <a:latin typeface="+mn-ea"/>
                </a:rPr>
                <a:t>(</a:t>
              </a:r>
              <a:r>
                <a:rPr lang="zh-TW" altLang="en-US" sz="1400" b="1" kern="1200" dirty="0">
                  <a:latin typeface="+mn-ea"/>
                </a:rPr>
                <a:t>不可分次匯入</a:t>
              </a:r>
              <a:r>
                <a:rPr lang="en-US" altLang="zh-TW" sz="1400" b="1" kern="1200" dirty="0">
                  <a:latin typeface="+mn-ea"/>
                </a:rPr>
                <a:t>)</a:t>
              </a:r>
              <a:endParaRPr lang="zh-TW" altLang="en-US" sz="1400" b="1" kern="1200" dirty="0">
                <a:latin typeface="+mn-ea"/>
              </a:endParaRPr>
            </a:p>
          </p:txBody>
        </p:sp>
      </p:grp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41CB5430-D64A-19FC-77E8-96E7C05DBBBF}"/>
              </a:ext>
            </a:extLst>
          </p:cNvPr>
          <p:cNvSpPr/>
          <p:nvPr/>
        </p:nvSpPr>
        <p:spPr>
          <a:xfrm>
            <a:off x="7361689" y="1923078"/>
            <a:ext cx="4159747" cy="1235758"/>
          </a:xfrm>
          <a:custGeom>
            <a:avLst/>
            <a:gdLst>
              <a:gd name="connsiteX0" fmla="*/ 0 w 2138283"/>
              <a:gd name="connsiteY0" fmla="*/ 0 h 735085"/>
              <a:gd name="connsiteX1" fmla="*/ 2138283 w 2138283"/>
              <a:gd name="connsiteY1" fmla="*/ 0 h 735085"/>
              <a:gd name="connsiteX2" fmla="*/ 2138283 w 2138283"/>
              <a:gd name="connsiteY2" fmla="*/ 735085 h 735085"/>
              <a:gd name="connsiteX3" fmla="*/ 0 w 2138283"/>
              <a:gd name="connsiteY3" fmla="*/ 735085 h 735085"/>
              <a:gd name="connsiteX4" fmla="*/ 0 w 2138283"/>
              <a:gd name="connsiteY4" fmla="*/ 0 h 7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8283" h="735085">
                <a:moveTo>
                  <a:pt x="0" y="0"/>
                </a:moveTo>
                <a:lnTo>
                  <a:pt x="2138283" y="0"/>
                </a:lnTo>
                <a:lnTo>
                  <a:pt x="2138283" y="735085"/>
                </a:lnTo>
                <a:lnTo>
                  <a:pt x="0" y="735085"/>
                </a:lnTo>
                <a:lnTo>
                  <a:pt x="0" y="0"/>
                </a:lnTo>
                <a:close/>
              </a:path>
            </a:pathLst>
          </a:custGeom>
          <a:solidFill>
            <a:srgbClr val="663300"/>
          </a:solidFill>
        </p:spPr>
        <p:style>
          <a:lnRef idx="1">
            <a:schemeClr val="dk2">
              <a:hueOff val="0"/>
              <a:satOff val="0"/>
              <a:lumOff val="0"/>
              <a:alphaOff val="0"/>
            </a:schemeClr>
          </a:lnRef>
          <a:fillRef idx="3">
            <a:schemeClr val="dk2">
              <a:hueOff val="0"/>
              <a:satOff val="0"/>
              <a:lumOff val="0"/>
              <a:alphaOff val="0"/>
            </a:schemeClr>
          </a:fillRef>
          <a:effectRef idx="2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2456" tIns="52832" rIns="92456" bIns="5283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TW" altLang="en-US" sz="1800" b="1" dirty="0">
                <a:latin typeface="+mn-ea"/>
              </a:rPr>
              <a:t>多增加一家子公司使用</a:t>
            </a:r>
            <a:endParaRPr lang="en-US" altLang="zh-TW" sz="1800" b="1" dirty="0">
              <a:latin typeface="+mn-ea"/>
            </a:endParaRP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TW" altLang="en-US" sz="1200" dirty="0">
                <a:solidFill>
                  <a:srgbClr val="663300"/>
                </a:solidFill>
                <a:latin typeface="+mn-ea"/>
              </a:rPr>
              <a:t> </a:t>
            </a:r>
            <a:r>
              <a:rPr lang="en-US" altLang="zh-TW" sz="1200" dirty="0">
                <a:solidFill>
                  <a:srgbClr val="663300"/>
                </a:solidFill>
                <a:latin typeface="+mn-ea"/>
              </a:rPr>
              <a:t>(</a:t>
            </a:r>
            <a:r>
              <a:rPr lang="zh-TW" altLang="en-US" sz="1200" dirty="0">
                <a:solidFill>
                  <a:srgbClr val="663300"/>
                </a:solidFill>
                <a:latin typeface="+mn-ea"/>
              </a:rPr>
              <a:t>註</a:t>
            </a:r>
            <a:r>
              <a:rPr lang="en-US" altLang="zh-TW" sz="1200" dirty="0">
                <a:solidFill>
                  <a:srgbClr val="663300"/>
                </a:solidFill>
                <a:latin typeface="+mn-ea"/>
              </a:rPr>
              <a:t>)</a:t>
            </a:r>
            <a:r>
              <a:rPr lang="zh-TW" altLang="en-US" sz="1200" dirty="0">
                <a:solidFill>
                  <a:srgbClr val="663300"/>
                </a:solidFill>
                <a:latin typeface="+mn-ea"/>
              </a:rPr>
              <a:t> 每家  </a:t>
            </a:r>
            <a:r>
              <a:rPr lang="en-US" altLang="zh-TW" sz="1200" dirty="0">
                <a:solidFill>
                  <a:srgbClr val="A0DCFF"/>
                </a:solidFill>
                <a:latin typeface="+mn-ea"/>
              </a:rPr>
              <a:t>(</a:t>
            </a:r>
            <a:r>
              <a:rPr lang="zh-TW" altLang="en-US" sz="1200" dirty="0">
                <a:solidFill>
                  <a:srgbClr val="A0DCFF"/>
                </a:solidFill>
                <a:latin typeface="+mn-ea"/>
              </a:rPr>
              <a:t>註</a:t>
            </a:r>
            <a:r>
              <a:rPr lang="en-US" altLang="zh-TW" sz="1200" dirty="0">
                <a:solidFill>
                  <a:srgbClr val="A0DCFF"/>
                </a:solidFill>
                <a:latin typeface="+mn-ea"/>
              </a:rPr>
              <a:t>)</a:t>
            </a:r>
            <a:r>
              <a:rPr lang="zh-TW" altLang="en-US" sz="1200" dirty="0">
                <a:solidFill>
                  <a:srgbClr val="A0DCFF"/>
                </a:solidFill>
                <a:latin typeface="+mn-ea"/>
              </a:rPr>
              <a:t>每家子公司可自行設定自己的審核流程、</a:t>
            </a:r>
            <a:endParaRPr lang="en-US" altLang="zh-TW" sz="1200" dirty="0">
              <a:solidFill>
                <a:srgbClr val="A0DCFF"/>
              </a:solidFill>
              <a:latin typeface="+mn-ea"/>
            </a:endParaRP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TW" sz="1200" dirty="0">
                <a:solidFill>
                  <a:srgbClr val="A0DCFF"/>
                </a:solidFill>
                <a:latin typeface="+mn-ea"/>
              </a:rPr>
              <a:t>     </a:t>
            </a:r>
            <a:r>
              <a:rPr lang="zh-TW" altLang="en-US" sz="1200" dirty="0">
                <a:solidFill>
                  <a:srgbClr val="A0DCFF"/>
                </a:solidFill>
                <a:latin typeface="+mn-ea"/>
              </a:rPr>
              <a:t> </a:t>
            </a:r>
            <a:r>
              <a:rPr lang="en-US" altLang="zh-TW" sz="1200" dirty="0">
                <a:solidFill>
                  <a:srgbClr val="A0DCFF"/>
                </a:solidFill>
                <a:latin typeface="+mn-ea"/>
              </a:rPr>
              <a:t>   </a:t>
            </a:r>
            <a:r>
              <a:rPr lang="zh-TW" altLang="en-US" sz="1200" dirty="0">
                <a:solidFill>
                  <a:srgbClr val="A0DCFF"/>
                </a:solidFill>
                <a:latin typeface="+mn-ea"/>
              </a:rPr>
              <a:t>                合約編號規則、審核者身分的人員。</a:t>
            </a:r>
            <a:endParaRPr lang="en-US" altLang="zh-TW" sz="1200" dirty="0">
              <a:solidFill>
                <a:srgbClr val="A0DCFF"/>
              </a:solidFill>
              <a:latin typeface="+mn-ea"/>
            </a:endParaRPr>
          </a:p>
          <a:p>
            <a:pPr marL="0" lvl="1" algn="ctr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TW" sz="1800" b="1" dirty="0">
                <a:solidFill>
                  <a:srgbClr val="FFFF00"/>
                </a:solidFill>
                <a:latin typeface="+mn-ea"/>
              </a:rPr>
              <a:t>【</a:t>
            </a:r>
            <a:r>
              <a:rPr lang="zh-TW" altLang="en-US" sz="1800" b="1" dirty="0">
                <a:solidFill>
                  <a:srgbClr val="FFFF00"/>
                </a:solidFill>
                <a:latin typeface="+mn-ea"/>
              </a:rPr>
              <a:t>開通</a:t>
            </a:r>
            <a:r>
              <a:rPr lang="zh-TW" altLang="en-US" sz="1200" b="1" dirty="0">
                <a:solidFill>
                  <a:srgbClr val="FFFF00"/>
                </a:solidFill>
                <a:latin typeface="+mn-ea"/>
              </a:rPr>
              <a:t>暨</a:t>
            </a:r>
            <a:r>
              <a:rPr lang="zh-TW" altLang="en-US" sz="1800" b="1" dirty="0">
                <a:solidFill>
                  <a:srgbClr val="FFFF00"/>
                </a:solidFill>
                <a:latin typeface="+mn-ea"/>
              </a:rPr>
              <a:t>使用授權</a:t>
            </a:r>
            <a:r>
              <a:rPr lang="en-US" altLang="zh-TW" sz="1800" b="1" dirty="0">
                <a:solidFill>
                  <a:srgbClr val="FFFF00"/>
                </a:solidFill>
                <a:latin typeface="+mn-ea"/>
              </a:rPr>
              <a:t>】</a:t>
            </a:r>
            <a:r>
              <a:rPr lang="zh-TW" altLang="en-US" sz="1800" b="1" dirty="0">
                <a:solidFill>
                  <a:srgbClr val="FFFF00"/>
                </a:solidFill>
                <a:latin typeface="+mn-ea"/>
              </a:rPr>
              <a:t>費用</a:t>
            </a:r>
            <a:r>
              <a:rPr lang="en-US" altLang="zh-TW" sz="1800" b="1" dirty="0">
                <a:solidFill>
                  <a:srgbClr val="FFFF00"/>
                </a:solidFill>
                <a:latin typeface="+mn-ea"/>
              </a:rPr>
              <a:t>+【</a:t>
            </a:r>
            <a:r>
              <a:rPr lang="zh-TW" altLang="en-US" sz="1800" b="1" dirty="0">
                <a:solidFill>
                  <a:srgbClr val="FFFF00"/>
                </a:solidFill>
                <a:latin typeface="+mn-ea"/>
              </a:rPr>
              <a:t>導入費用</a:t>
            </a:r>
            <a:r>
              <a:rPr lang="en-US" altLang="zh-TW" sz="1800" b="1" dirty="0">
                <a:solidFill>
                  <a:srgbClr val="FFFF00"/>
                </a:solidFill>
                <a:latin typeface="+mn-ea"/>
              </a:rPr>
              <a:t>】</a:t>
            </a:r>
          </a:p>
        </p:txBody>
      </p:sp>
      <p:sp>
        <p:nvSpPr>
          <p:cNvPr id="15" name="手繪多邊形: 圖案 14">
            <a:extLst>
              <a:ext uri="{FF2B5EF4-FFF2-40B4-BE49-F238E27FC236}">
                <a16:creationId xmlns:a16="http://schemas.microsoft.com/office/drawing/2014/main" id="{C03EB4ED-259F-8554-4D9A-6A429723D5D0}"/>
              </a:ext>
            </a:extLst>
          </p:cNvPr>
          <p:cNvSpPr/>
          <p:nvPr/>
        </p:nvSpPr>
        <p:spPr>
          <a:xfrm>
            <a:off x="7378317" y="3158836"/>
            <a:ext cx="4143119" cy="2518756"/>
          </a:xfrm>
          <a:custGeom>
            <a:avLst/>
            <a:gdLst>
              <a:gd name="connsiteX0" fmla="*/ 0 w 2138283"/>
              <a:gd name="connsiteY0" fmla="*/ 0 h 1052707"/>
              <a:gd name="connsiteX1" fmla="*/ 2138283 w 2138283"/>
              <a:gd name="connsiteY1" fmla="*/ 0 h 1052707"/>
              <a:gd name="connsiteX2" fmla="*/ 2138283 w 2138283"/>
              <a:gd name="connsiteY2" fmla="*/ 1052707 h 1052707"/>
              <a:gd name="connsiteX3" fmla="*/ 0 w 2138283"/>
              <a:gd name="connsiteY3" fmla="*/ 1052707 h 1052707"/>
              <a:gd name="connsiteX4" fmla="*/ 0 w 2138283"/>
              <a:gd name="connsiteY4" fmla="*/ 0 h 105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8283" h="1052707">
                <a:moveTo>
                  <a:pt x="0" y="0"/>
                </a:moveTo>
                <a:lnTo>
                  <a:pt x="2138283" y="0"/>
                </a:lnTo>
                <a:lnTo>
                  <a:pt x="2138283" y="1052707"/>
                </a:lnTo>
                <a:lnTo>
                  <a:pt x="0" y="10527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</p:spPr>
        <p:style>
          <a:ln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342" tIns="69342" rIns="92456" bIns="104013" numCol="1" spcCol="1270" anchor="t" anchorCtr="0">
            <a:noAutofit/>
          </a:bodyPr>
          <a:lstStyle/>
          <a:p>
            <a:pPr marL="114300" lvl="1" indent="-114300" defTabSz="577850"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altLang="zh-TW" sz="1600" b="1" dirty="0">
                <a:latin typeface="+mn-ea"/>
              </a:rPr>
              <a:t>【</a:t>
            </a:r>
            <a:r>
              <a:rPr lang="zh-TW" altLang="en-US" sz="1600" b="1" dirty="0">
                <a:latin typeface="+mn-ea"/>
              </a:rPr>
              <a:t>開通</a:t>
            </a:r>
            <a:r>
              <a:rPr lang="zh-TW" altLang="en-US" sz="1400" b="1" dirty="0">
                <a:latin typeface="+mn-ea"/>
              </a:rPr>
              <a:t>暨</a:t>
            </a:r>
            <a:r>
              <a:rPr lang="zh-TW" altLang="en-US" sz="1600" b="1" dirty="0">
                <a:latin typeface="+mn-ea"/>
              </a:rPr>
              <a:t>使用授權</a:t>
            </a:r>
            <a:r>
              <a:rPr lang="en-US" altLang="zh-TW" sz="1600" b="1" dirty="0">
                <a:latin typeface="+mn-ea"/>
              </a:rPr>
              <a:t>】</a:t>
            </a:r>
            <a:r>
              <a:rPr lang="zh-TW" altLang="en-US" sz="1600" b="1" dirty="0">
                <a:latin typeface="+mn-ea"/>
              </a:rPr>
              <a:t>費用 </a:t>
            </a:r>
            <a:r>
              <a:rPr lang="en-US" altLang="zh-TW" sz="1200" b="1" dirty="0">
                <a:latin typeface="+mn-ea"/>
              </a:rPr>
              <a:t>(1</a:t>
            </a:r>
            <a:r>
              <a:rPr lang="zh-TW" altLang="en-US" sz="1200" b="1" dirty="0">
                <a:latin typeface="+mn-ea"/>
              </a:rPr>
              <a:t>家公司</a:t>
            </a:r>
            <a:r>
              <a:rPr lang="en-US" altLang="zh-TW" sz="1200" b="1" dirty="0">
                <a:latin typeface="+mn-ea"/>
              </a:rPr>
              <a:t>)</a:t>
            </a:r>
            <a:r>
              <a:rPr lang="zh-TW" altLang="en-US" sz="1400" b="1" dirty="0">
                <a:latin typeface="+mn-ea"/>
              </a:rPr>
              <a:t>：</a:t>
            </a:r>
            <a:endParaRPr lang="en-US" altLang="zh-TW" sz="1400" b="1" dirty="0">
              <a:latin typeface="+mn-ea"/>
            </a:endParaRPr>
          </a:p>
          <a:p>
            <a:pPr marL="0" lvl="1" defTabSz="577850">
              <a:spcBef>
                <a:spcPct val="0"/>
              </a:spcBef>
              <a:spcAft>
                <a:spcPct val="15000"/>
              </a:spcAft>
            </a:pPr>
            <a:r>
              <a:rPr lang="zh-TW" altLang="en-US" sz="1400" b="1" dirty="0">
                <a:latin typeface="+mn-ea"/>
              </a:rPr>
              <a:t> </a:t>
            </a:r>
            <a:r>
              <a:rPr lang="zh-TW" altLang="en-US" sz="1400" b="1" dirty="0">
                <a:solidFill>
                  <a:srgbClr val="0038A8"/>
                </a:solidFill>
                <a:latin typeface="+mn-ea"/>
              </a:rPr>
              <a:t>   </a:t>
            </a:r>
            <a:r>
              <a:rPr lang="en-US" altLang="zh-TW" sz="1400" b="1" dirty="0">
                <a:solidFill>
                  <a:srgbClr val="0038A8"/>
                </a:solidFill>
                <a:latin typeface="+mn-ea"/>
              </a:rPr>
              <a:t>(</a:t>
            </a:r>
            <a:r>
              <a:rPr lang="zh-TW" altLang="en-US" sz="1400" b="1" dirty="0">
                <a:solidFill>
                  <a:srgbClr val="0038A8"/>
                </a:solidFill>
                <a:latin typeface="+mn-ea"/>
              </a:rPr>
              <a:t>產品</a:t>
            </a:r>
            <a:r>
              <a:rPr lang="en-US" altLang="zh-TW" sz="1400" b="1" dirty="0">
                <a:solidFill>
                  <a:srgbClr val="0038A8"/>
                </a:solidFill>
                <a:latin typeface="+mn-ea"/>
              </a:rPr>
              <a:t>+</a:t>
            </a:r>
            <a:r>
              <a:rPr lang="zh-TW" altLang="en-US" sz="1400" b="1" dirty="0">
                <a:solidFill>
                  <a:srgbClr val="0038A8"/>
                </a:solidFill>
                <a:latin typeface="+mn-ea"/>
              </a:rPr>
              <a:t>加購模組</a:t>
            </a:r>
            <a:r>
              <a:rPr lang="en-US" altLang="zh-TW" sz="1400" b="1" dirty="0">
                <a:solidFill>
                  <a:srgbClr val="0038A8"/>
                </a:solidFill>
                <a:latin typeface="+mn-ea"/>
              </a:rPr>
              <a:t>+</a:t>
            </a:r>
            <a:r>
              <a:rPr lang="zh-TW" altLang="en-US" sz="1400" b="1" dirty="0">
                <a:solidFill>
                  <a:srgbClr val="0038A8"/>
                </a:solidFill>
                <a:latin typeface="+mn-ea"/>
              </a:rPr>
              <a:t>客製化項目</a:t>
            </a:r>
            <a:r>
              <a:rPr lang="en-US" altLang="zh-TW" sz="1400" b="1" dirty="0">
                <a:solidFill>
                  <a:srgbClr val="0038A8"/>
                </a:solidFill>
                <a:latin typeface="+mn-ea"/>
              </a:rPr>
              <a:t>)</a:t>
            </a:r>
            <a:r>
              <a:rPr lang="zh-TW" altLang="en-US" sz="1400" b="1" dirty="0">
                <a:solidFill>
                  <a:srgbClr val="0038A8"/>
                </a:solidFill>
                <a:latin typeface="+mn-ea"/>
              </a:rPr>
              <a:t>費用 * </a:t>
            </a:r>
            <a:r>
              <a:rPr lang="en-US" altLang="zh-TW" sz="1400" b="1" dirty="0">
                <a:solidFill>
                  <a:srgbClr val="0038A8"/>
                </a:solidFill>
                <a:latin typeface="+mn-ea"/>
              </a:rPr>
              <a:t>15%</a:t>
            </a:r>
          </a:p>
          <a:p>
            <a:pPr marL="114300" lvl="1" indent="-114300" defTabSz="57785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en-US" altLang="zh-TW" sz="1600" b="1" dirty="0">
                <a:latin typeface="+mn-ea"/>
              </a:rPr>
              <a:t>【</a:t>
            </a:r>
            <a:r>
              <a:rPr lang="zh-TW" altLang="en-US" sz="1600" b="1" dirty="0">
                <a:latin typeface="+mn-ea"/>
              </a:rPr>
              <a:t>導入費用</a:t>
            </a:r>
            <a:r>
              <a:rPr lang="en-US" altLang="zh-TW" sz="1600" b="1" dirty="0">
                <a:latin typeface="+mn-ea"/>
              </a:rPr>
              <a:t>】</a:t>
            </a:r>
            <a:r>
              <a:rPr lang="en-US" altLang="zh-TW" sz="1200" b="1" dirty="0">
                <a:latin typeface="+mn-ea"/>
              </a:rPr>
              <a:t>(1</a:t>
            </a:r>
            <a:r>
              <a:rPr lang="zh-TW" altLang="en-US" sz="1200" b="1" dirty="0">
                <a:latin typeface="+mn-ea"/>
              </a:rPr>
              <a:t>家公司</a:t>
            </a:r>
            <a:r>
              <a:rPr lang="en-US" altLang="zh-TW" sz="1200" b="1" dirty="0">
                <a:latin typeface="+mn-ea"/>
              </a:rPr>
              <a:t>)</a:t>
            </a: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TW" altLang="en-US" sz="1200" b="1" dirty="0">
                <a:solidFill>
                  <a:srgbClr val="0038A8"/>
                </a:solidFill>
                <a:latin typeface="+mn-ea"/>
              </a:rPr>
              <a:t>     * 當</a:t>
            </a:r>
            <a:r>
              <a:rPr lang="zh-TW" altLang="en-US" sz="1200" b="1" dirty="0">
                <a:solidFill>
                  <a:srgbClr val="FF0000"/>
                </a:solidFill>
                <a:latin typeface="+mn-ea"/>
              </a:rPr>
              <a:t>不符合</a:t>
            </a:r>
            <a:r>
              <a:rPr lang="zh-TW" altLang="en-US" sz="1200" b="1" dirty="0">
                <a:solidFill>
                  <a:srgbClr val="0038A8"/>
                </a:solidFill>
                <a:latin typeface="+mn-ea"/>
              </a:rPr>
              <a:t>以下條件，則需額外收取導入客製費用。</a:t>
            </a:r>
            <a:endParaRPr lang="en-US" altLang="zh-TW" sz="1200" b="1" dirty="0">
              <a:solidFill>
                <a:srgbClr val="0038A8"/>
              </a:solidFill>
              <a:latin typeface="+mn-ea"/>
            </a:endParaRP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TW" altLang="en-US" sz="1200" b="1" dirty="0">
                <a:solidFill>
                  <a:srgbClr val="0038A8"/>
                </a:solidFill>
                <a:latin typeface="+mn-ea"/>
              </a:rPr>
              <a:t>        費用會依據實際導入內容進行評估報價。</a:t>
            </a:r>
            <a:endParaRPr lang="en-US" altLang="zh-TW" sz="1200" b="1" dirty="0">
              <a:solidFill>
                <a:srgbClr val="0038A8"/>
              </a:solidFill>
              <a:latin typeface="+mn-ea"/>
            </a:endParaRP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TW" sz="1400" b="1" kern="1200" dirty="0">
                <a:latin typeface="+mn-ea"/>
              </a:rPr>
              <a:t>  </a:t>
            </a:r>
            <a:r>
              <a:rPr lang="zh-TW" altLang="en-US" sz="1400" b="1" kern="1200" dirty="0">
                <a:latin typeface="+mn-ea"/>
              </a:rPr>
              <a:t>    </a:t>
            </a:r>
            <a:r>
              <a:rPr lang="en-US" altLang="zh-TW" sz="1400" b="1" kern="1200" dirty="0">
                <a:latin typeface="+mn-ea"/>
              </a:rPr>
              <a:t>1)</a:t>
            </a:r>
            <a:r>
              <a:rPr lang="zh-TW" altLang="en-US" sz="1400" b="1" kern="1200" dirty="0">
                <a:latin typeface="+mn-ea"/>
              </a:rPr>
              <a:t> </a:t>
            </a:r>
            <a:r>
              <a:rPr lang="zh-TW" altLang="en-US" sz="1400" b="1" dirty="0">
                <a:latin typeface="+mn-ea"/>
              </a:rPr>
              <a:t>子公司與母公司的人事與組織資料有整併在</a:t>
            </a:r>
            <a:endParaRPr lang="en-US" altLang="zh-TW" sz="1400" b="1" dirty="0">
              <a:latin typeface="+mn-ea"/>
            </a:endParaRP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TW" altLang="en-US" sz="1400" b="1" dirty="0">
                <a:latin typeface="+mn-ea"/>
              </a:rPr>
              <a:t>          同一個匯入資料表</a:t>
            </a:r>
            <a:endParaRPr lang="en-US" altLang="zh-TW" sz="1400" b="1" dirty="0">
              <a:latin typeface="+mn-ea"/>
            </a:endParaRP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TW" altLang="en-US" sz="1200" b="1" dirty="0">
                <a:latin typeface="+mn-ea"/>
              </a:rPr>
              <a:t>            </a:t>
            </a:r>
            <a:r>
              <a:rPr lang="en-US" altLang="zh-TW" sz="1200" dirty="0">
                <a:solidFill>
                  <a:srgbClr val="663300"/>
                </a:solidFill>
                <a:latin typeface="+mn-ea"/>
              </a:rPr>
              <a:t>(</a:t>
            </a:r>
            <a:r>
              <a:rPr lang="zh-TW" altLang="en-US" sz="1200" dirty="0">
                <a:solidFill>
                  <a:srgbClr val="663300"/>
                </a:solidFill>
                <a:latin typeface="+mn-ea"/>
              </a:rPr>
              <a:t>註</a:t>
            </a:r>
            <a:r>
              <a:rPr lang="en-US" altLang="zh-TW" sz="1200" dirty="0">
                <a:solidFill>
                  <a:srgbClr val="663300"/>
                </a:solidFill>
                <a:latin typeface="+mn-ea"/>
              </a:rPr>
              <a:t>)</a:t>
            </a:r>
            <a:r>
              <a:rPr lang="zh-TW" altLang="en-US" sz="1200" dirty="0">
                <a:solidFill>
                  <a:srgbClr val="663300"/>
                </a:solidFill>
                <a:latin typeface="+mn-ea"/>
              </a:rPr>
              <a:t>限使用宏思提供的暫存人事及組織的資料表</a:t>
            </a:r>
            <a:endParaRPr lang="en-US" altLang="zh-TW" sz="1200" b="1" dirty="0">
              <a:latin typeface="+mn-ea"/>
            </a:endParaRPr>
          </a:p>
          <a:p>
            <a:pPr marL="0" lvl="1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TW" altLang="en-US" sz="1400" b="1" dirty="0">
                <a:latin typeface="+mn-ea"/>
              </a:rPr>
              <a:t>      </a:t>
            </a:r>
            <a:r>
              <a:rPr lang="en-US" altLang="zh-TW" sz="1400" b="1" dirty="0">
                <a:latin typeface="+mn-ea"/>
              </a:rPr>
              <a:t>2)</a:t>
            </a:r>
            <a:r>
              <a:rPr lang="zh-TW" altLang="en-US" sz="1400" b="1" dirty="0">
                <a:latin typeface="+mn-ea"/>
              </a:rPr>
              <a:t> 子公司與母公司</a:t>
            </a:r>
            <a:r>
              <a:rPr lang="en-US" altLang="zh-TW" sz="1400" b="1" dirty="0">
                <a:latin typeface="+mn-ea"/>
              </a:rPr>
              <a:t>AD</a:t>
            </a:r>
            <a:r>
              <a:rPr lang="zh-TW" altLang="en-US" sz="1400" b="1" dirty="0">
                <a:latin typeface="+mn-ea"/>
              </a:rPr>
              <a:t>隸屬相同網域</a:t>
            </a:r>
            <a:endParaRPr lang="en-US" altLang="zh-TW" sz="1400" b="1" dirty="0">
              <a:latin typeface="+mn-ea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8F71DDAC-B2A1-D3DE-4023-1E18250CB64A}"/>
              </a:ext>
            </a:extLst>
          </p:cNvPr>
          <p:cNvGrpSpPr/>
          <p:nvPr/>
        </p:nvGrpSpPr>
        <p:grpSpPr>
          <a:xfrm>
            <a:off x="372539" y="860370"/>
            <a:ext cx="10818784" cy="828719"/>
            <a:chOff x="209107" y="757570"/>
            <a:chExt cx="10755564" cy="478652"/>
          </a:xfrm>
        </p:grpSpPr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ACF9D277-FA9C-195E-94A4-050395F6A35C}"/>
                </a:ext>
              </a:extLst>
            </p:cNvPr>
            <p:cNvSpPr/>
            <p:nvPr/>
          </p:nvSpPr>
          <p:spPr bwMode="gray">
            <a:xfrm>
              <a:off x="305899" y="757570"/>
              <a:ext cx="10658772" cy="478652"/>
            </a:xfrm>
            <a:prstGeom prst="roundRect">
              <a:avLst>
                <a:gd name="adj" fmla="val 11023"/>
              </a:avLst>
            </a:prstGeom>
            <a:noFill/>
            <a:ln w="12700" algn="ctr">
              <a:solidFill>
                <a:srgbClr val="FF99CC"/>
              </a:solidFill>
              <a:prstDash val="sysDash"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TW" altLang="en-US" sz="1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03465F3-D895-2E74-0536-C9C84289001C}"/>
                </a:ext>
              </a:extLst>
            </p:cNvPr>
            <p:cNvSpPr txBox="1"/>
            <p:nvPr/>
          </p:nvSpPr>
          <p:spPr>
            <a:xfrm>
              <a:off x="209107" y="782920"/>
              <a:ext cx="10755564" cy="4533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當貴司有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很多舊合約需要匯入到本系統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或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子公司也需要導入使用本系統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時，</a:t>
              </a:r>
              <a:endParaRPr lang="en-US" altLang="zh-TW" sz="20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可採加購該服務方式來執行。</a:t>
              </a:r>
              <a:endParaRPr lang="en-US" altLang="zh-TW" sz="20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32131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133BF-587B-9851-19F7-1B6B1185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55B2C98-EBB3-C6AC-C8ED-5CEC29C5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  <a:r>
              <a:rPr lang="en-US" altLang="zh-TW" sz="2800" b="1" dirty="0"/>
              <a:t>_</a:t>
            </a:r>
            <a:r>
              <a:rPr lang="en-US" altLang="zh-TW" sz="2800" b="1" dirty="0">
                <a:solidFill>
                  <a:srgbClr val="005587"/>
                </a:solidFill>
              </a:rPr>
              <a:t>4. </a:t>
            </a:r>
            <a:r>
              <a:rPr lang="zh-TW" altLang="en-US" sz="2800" b="1" dirty="0">
                <a:solidFill>
                  <a:srgbClr val="005587"/>
                </a:solidFill>
              </a:rPr>
              <a:t>客製服務費用</a:t>
            </a:r>
            <a:endParaRPr lang="zh-TW" altLang="en-US" sz="2800" b="1" dirty="0">
              <a:solidFill>
                <a:srgbClr val="005587"/>
              </a:solidFill>
              <a:highlight>
                <a:srgbClr val="FFFF11"/>
              </a:highligh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F00F0D-0610-D7DB-356C-0249EEEDFA36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B3503E3D-7EC8-42A4-720D-685F78777ED7}"/>
              </a:ext>
            </a:extLst>
          </p:cNvPr>
          <p:cNvSpPr txBox="1"/>
          <p:nvPr/>
        </p:nvSpPr>
        <p:spPr>
          <a:xfrm>
            <a:off x="304802" y="1760314"/>
            <a:ext cx="10834251" cy="1117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當貴司有客製服務需求，會依據工時評估結果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人天數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，計算客製費用。</a:t>
            </a:r>
            <a:endParaRPr lang="en-US" altLang="zh-TW" b="1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客製服務費用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單價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NT$15,000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未稅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)/1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人天。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0E7D310-46D0-9F17-CF34-841A0A1CD5E7}"/>
              </a:ext>
            </a:extLst>
          </p:cNvPr>
          <p:cNvGrpSpPr/>
          <p:nvPr/>
        </p:nvGrpSpPr>
        <p:grpSpPr>
          <a:xfrm>
            <a:off x="304803" y="732167"/>
            <a:ext cx="10834251" cy="938688"/>
            <a:chOff x="220133" y="757569"/>
            <a:chExt cx="10834251" cy="542168"/>
          </a:xfrm>
        </p:grpSpPr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2B35FEA3-EE84-55E2-5D3B-5C34073C3B1A}"/>
                </a:ext>
              </a:extLst>
            </p:cNvPr>
            <p:cNvSpPr/>
            <p:nvPr/>
          </p:nvSpPr>
          <p:spPr bwMode="gray">
            <a:xfrm>
              <a:off x="220133" y="757569"/>
              <a:ext cx="10834251" cy="542168"/>
            </a:xfrm>
            <a:prstGeom prst="roundRect">
              <a:avLst>
                <a:gd name="adj" fmla="val 11023"/>
              </a:avLst>
            </a:prstGeom>
            <a:noFill/>
            <a:ln w="12700" algn="ctr">
              <a:solidFill>
                <a:srgbClr val="FF99CC"/>
              </a:solidFill>
              <a:prstDash val="sysDash"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TW" altLang="en-US" sz="1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5F450AC-D23D-395C-016A-3029944FC032}"/>
                </a:ext>
              </a:extLst>
            </p:cNvPr>
            <p:cNvSpPr txBox="1"/>
            <p:nvPr/>
          </p:nvSpPr>
          <p:spPr>
            <a:xfrm>
              <a:off x="220133" y="809239"/>
              <a:ext cx="10593182" cy="4533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針對目前產品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沒有支援的功能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標準規格以外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的需求項目或需與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其他內部系統整合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endParaRPr lang="en-US" altLang="zh-TW" sz="20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皆屬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客製範疇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736975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A688-EC0F-DFC8-D287-759066B6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B634910-E6A8-BCD5-EC93-6EB100C9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  <a:r>
              <a:rPr lang="en-US" altLang="zh-TW" sz="2800" b="1" dirty="0"/>
              <a:t>_</a:t>
            </a:r>
            <a:r>
              <a:rPr lang="en-US" altLang="zh-TW" sz="2800" b="1" dirty="0">
                <a:solidFill>
                  <a:srgbClr val="005587"/>
                </a:solidFill>
              </a:rPr>
              <a:t>5. </a:t>
            </a:r>
            <a:r>
              <a:rPr lang="zh-TW" altLang="en-US" sz="2800" b="1" dirty="0">
                <a:solidFill>
                  <a:srgbClr val="005587"/>
                </a:solidFill>
              </a:rPr>
              <a:t>加購顧問時數</a:t>
            </a:r>
            <a:endParaRPr lang="zh-TW" altLang="en-US" sz="2800" b="1" dirty="0">
              <a:solidFill>
                <a:srgbClr val="005587"/>
              </a:solidFill>
              <a:highlight>
                <a:srgbClr val="FFFF11"/>
              </a:highligh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0F8716-36FC-CD2A-B389-6531D8D46D17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7287EEB2-76DE-990C-CA64-F5D6594E90A9}"/>
              </a:ext>
            </a:extLst>
          </p:cNvPr>
          <p:cNvSpPr txBox="1"/>
          <p:nvPr/>
        </p:nvSpPr>
        <p:spPr>
          <a:xfrm>
            <a:off x="304802" y="1987621"/>
            <a:ext cx="10525011" cy="3009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顧問服務費用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單價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NT$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2,000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未稅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)/1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小時。</a:t>
            </a:r>
            <a:endParaRPr lang="en-US" altLang="zh-TW" b="1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最少購買時數為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小時。</a:t>
            </a:r>
            <a:endParaRPr lang="en-US" altLang="zh-TW" b="1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若需要顧問服務時，可填寫顧問服務申請單，事先跟顧問預約時間。</a:t>
            </a:r>
            <a:endParaRPr lang="en-US" altLang="zh-TW" b="1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每次最小使用單位為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小時。不滿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小時，以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小時計。</a:t>
            </a:r>
            <a:endParaRPr lang="en-US" altLang="zh-TW" b="1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購買的顧問服務時數，無使用期限。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9EB6A6C-541C-46D1-E7E1-C3C6AA1475B6}"/>
              </a:ext>
            </a:extLst>
          </p:cNvPr>
          <p:cNvGrpSpPr/>
          <p:nvPr/>
        </p:nvGrpSpPr>
        <p:grpSpPr>
          <a:xfrm>
            <a:off x="304803" y="732170"/>
            <a:ext cx="10525013" cy="952993"/>
            <a:chOff x="220133" y="757570"/>
            <a:chExt cx="10525013" cy="550430"/>
          </a:xfrm>
        </p:grpSpPr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4170CE2B-7BD2-3A05-BD4A-AC1E29758AA3}"/>
                </a:ext>
              </a:extLst>
            </p:cNvPr>
            <p:cNvSpPr/>
            <p:nvPr/>
          </p:nvSpPr>
          <p:spPr bwMode="gray">
            <a:xfrm>
              <a:off x="220134" y="757570"/>
              <a:ext cx="10525012" cy="550430"/>
            </a:xfrm>
            <a:prstGeom prst="roundRect">
              <a:avLst>
                <a:gd name="adj" fmla="val 11023"/>
              </a:avLst>
            </a:prstGeom>
            <a:noFill/>
            <a:ln w="12700" algn="ctr">
              <a:solidFill>
                <a:srgbClr val="FF99CC"/>
              </a:solidFill>
              <a:prstDash val="sysDash"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TW" altLang="en-US" sz="1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9D47B36A-1F22-5FA4-4BFB-6448BE5CC061}"/>
                </a:ext>
              </a:extLst>
            </p:cNvPr>
            <p:cNvSpPr txBox="1"/>
            <p:nvPr/>
          </p:nvSpPr>
          <p:spPr>
            <a:xfrm>
              <a:off x="220133" y="809239"/>
              <a:ext cx="10525013" cy="4533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當選擇</a:t>
              </a:r>
              <a:r>
                <a:rPr lang="en-US" altLang="zh-TW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標準導入</a:t>
              </a:r>
              <a:r>
                <a:rPr lang="en-US" altLang="zh-TW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方案時，針對需要由客戶自行設定的項目，可購買顧問服務時數，</a:t>
              </a:r>
              <a:endParaRPr lang="en-US" altLang="zh-TW" sz="20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spcBef>
                  <a:spcPts val="600"/>
                </a:spcBef>
                <a:buSzPct val="100000"/>
              </a:pP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用於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諮詢顧問如何設定 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或 </a:t>
              </a:r>
              <a:r>
                <a:rPr lang="zh-TW" altLang="en-US" sz="2000" b="1" dirty="0">
                  <a:solidFill>
                    <a:srgbClr val="0038A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請顧問協助設定</a:t>
              </a:r>
              <a:r>
                <a:rPr lang="zh-TW" altLang="en-US" sz="20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。需事先跟顧問預約時間處理。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347283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專案價格方案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73C833-51E8-F460-180D-D6443C99CDD2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80FFA0A5-92EC-47B8-D102-E20513336277}"/>
              </a:ext>
            </a:extLst>
          </p:cNvPr>
          <p:cNvSpPr txBox="1"/>
          <p:nvPr/>
        </p:nvSpPr>
        <p:spPr>
          <a:xfrm>
            <a:off x="469900" y="543763"/>
            <a:ext cx="10748432" cy="6217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sz="2000" b="1" dirty="0">
                <a:solidFill>
                  <a:srgbClr val="00558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備註說明：</a:t>
            </a:r>
            <a:endParaRPr lang="en-US" altLang="zh-TW" sz="2000" b="0" i="0" dirty="0">
              <a:solidFill>
                <a:srgbClr val="005587"/>
              </a:solidFill>
              <a:effectLst/>
              <a:highlight>
                <a:srgbClr val="FF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19138" lvl="1" indent="-363538">
              <a:spcBef>
                <a:spcPts val="1200"/>
              </a:spcBef>
              <a:buSzPct val="100000"/>
              <a:buAutoNum type="arabicParenR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以上報價，日期為：</a:t>
            </a:r>
            <a:r>
              <a:rPr lang="en-US" altLang="zh-TW" sz="2000" b="1" dirty="0">
                <a:latin typeface="+mn-ea"/>
              </a:rPr>
              <a:t> YYYY/MM/DD</a:t>
            </a:r>
            <a:r>
              <a:rPr lang="zh-TW" altLang="en-US" sz="2000" dirty="0">
                <a:latin typeface="+mn-ea"/>
              </a:rPr>
              <a:t>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AutoNum type="arabicParenR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以上報價，有效時間為</a:t>
            </a:r>
            <a:r>
              <a:rPr lang="en-US" altLang="zh-TW" sz="2000" dirty="0">
                <a:solidFill>
                  <a:srgbClr val="313131"/>
                </a:solidFill>
                <a:latin typeface="+mn-ea"/>
              </a:rPr>
              <a:t>30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個日曆天，超過報價有效時間，宏思保有調整定價的權利。</a:t>
            </a:r>
          </a:p>
          <a:p>
            <a:pPr marL="719138" lvl="1" indent="-363538">
              <a:spcBef>
                <a:spcPts val="1200"/>
              </a:spcBef>
              <a:buSzPct val="100000"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以上報價，採買</a:t>
            </a:r>
            <a:r>
              <a:rPr lang="zh-TW" altLang="zh-TW" sz="2000" dirty="0">
                <a:solidFill>
                  <a:srgbClr val="313131"/>
                </a:solidFill>
                <a:latin typeface="+mn-ea"/>
              </a:rPr>
              <a:t>斷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方式</a:t>
            </a:r>
            <a:r>
              <a:rPr lang="zh-TW" altLang="zh-TW" sz="2000" dirty="0">
                <a:solidFill>
                  <a:srgbClr val="313131"/>
                </a:solidFill>
                <a:latin typeface="+mn-ea"/>
              </a:rPr>
              <a:t>提供系統授權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。所</a:t>
            </a:r>
            <a:r>
              <a:rPr lang="zh-TW" altLang="zh-TW" sz="2000" dirty="0">
                <a:solidFill>
                  <a:srgbClr val="313131"/>
                </a:solidFill>
                <a:latin typeface="+mn-ea"/>
              </a:rPr>
              <a:t>授權之系統只允許客戶於單一網址使用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用戶數</a:t>
            </a:r>
            <a:r>
              <a:rPr lang="en-US" altLang="zh-TW" sz="2000" dirty="0">
                <a:solidFill>
                  <a:srgbClr val="313131"/>
                </a:solidFill>
                <a:latin typeface="+mn-ea"/>
              </a:rPr>
              <a:t>(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同時在線數</a:t>
            </a:r>
            <a:r>
              <a:rPr lang="en-US" altLang="zh-TW" sz="2000" dirty="0">
                <a:solidFill>
                  <a:srgbClr val="313131"/>
                </a:solidFill>
                <a:latin typeface="+mn-ea"/>
              </a:rPr>
              <a:t>)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：無限制，速度取決於硬體規格及網路頻寬。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以上報價，不含產品原始碼。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以上報價，不包含資料庫、作業系統、其他第三方軟體、硬體設備。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導入費用，皆僅限一家公司導入。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若需導入其他子公司，可另外加購「多增加一家子公司使用」的使用授權服務。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FontTx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若欲購買的產品版本沒有包含某一功能模組，可另外加購該模組。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FontTx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 當選擇</a:t>
            </a:r>
            <a:r>
              <a:rPr lang="en-US" altLang="zh-TW" sz="2000" dirty="0">
                <a:solidFill>
                  <a:srgbClr val="313131"/>
                </a:solidFill>
                <a:latin typeface="+mn-ea"/>
              </a:rPr>
              <a:t>【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標準導入</a:t>
            </a:r>
            <a:r>
              <a:rPr lang="en-US" altLang="zh-TW" sz="2000" dirty="0">
                <a:solidFill>
                  <a:srgbClr val="313131"/>
                </a:solidFill>
                <a:latin typeface="+mn-ea"/>
              </a:rPr>
              <a:t>】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方案時，針對需要由客戶自行設定的項目，可購買顧問服務時數，</a:t>
            </a:r>
            <a:br>
              <a:rPr lang="en-US" altLang="zh-TW" sz="2000" dirty="0">
                <a:solidFill>
                  <a:srgbClr val="313131"/>
                </a:solidFill>
                <a:latin typeface="+mn-ea"/>
              </a:rPr>
            </a:b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 用於</a:t>
            </a:r>
            <a:r>
              <a:rPr lang="zh-TW" altLang="en-US" sz="2000" b="1" dirty="0">
                <a:solidFill>
                  <a:srgbClr val="313131"/>
                </a:solidFill>
                <a:latin typeface="+mn-ea"/>
              </a:rPr>
              <a:t>諮詢顧問如何設定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或請</a:t>
            </a:r>
            <a:r>
              <a:rPr lang="zh-TW" altLang="en-US" sz="2000" b="1" dirty="0">
                <a:solidFill>
                  <a:srgbClr val="313131"/>
                </a:solidFill>
                <a:latin typeface="+mn-ea"/>
              </a:rPr>
              <a:t>顧問協助設定</a:t>
            </a:r>
            <a:r>
              <a:rPr lang="en-US" altLang="zh-TW" sz="2000" b="1" dirty="0">
                <a:solidFill>
                  <a:srgbClr val="313131"/>
                </a:solidFill>
                <a:latin typeface="+mn-ea"/>
              </a:rPr>
              <a:t>/</a:t>
            </a:r>
            <a:r>
              <a:rPr lang="zh-TW" altLang="en-US" sz="2000" b="1" dirty="0">
                <a:solidFill>
                  <a:srgbClr val="313131"/>
                </a:solidFill>
                <a:latin typeface="+mn-ea"/>
              </a:rPr>
              <a:t>處理</a:t>
            </a: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FontTx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 針對目前產品沒有支援的功能或標準規格以外的需求項目，皆屬客製範疇。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  <a:p>
            <a:pPr marL="719138" lvl="1" indent="-363538">
              <a:spcBef>
                <a:spcPts val="1200"/>
              </a:spcBef>
              <a:buSzPct val="100000"/>
              <a:buFontTx/>
              <a:buAutoNum type="arabicParenR" startAt="3"/>
            </a:pPr>
            <a:r>
              <a:rPr lang="zh-TW" altLang="en-US" sz="2000" dirty="0">
                <a:solidFill>
                  <a:srgbClr val="313131"/>
                </a:solidFill>
                <a:latin typeface="+mn-ea"/>
              </a:rPr>
              <a:t> 系統驗收後，提供一年保固。自第二年起，則每年簽</a:t>
            </a:r>
            <a:r>
              <a:rPr lang="zh-TW" altLang="zh-TW" sz="2000" dirty="0">
                <a:solidFill>
                  <a:srgbClr val="313131"/>
                </a:solidFill>
                <a:latin typeface="+mn-ea"/>
              </a:rPr>
              <a:t>系統維護合約。</a:t>
            </a:r>
            <a:endParaRPr lang="en-US" altLang="zh-TW" sz="2000" dirty="0">
              <a:solidFill>
                <a:srgbClr val="31313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944195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236F-A278-23A9-1708-A5DD0207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C97E-01E9-6882-32BB-53216253C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12" y="2528634"/>
            <a:ext cx="10418233" cy="1592403"/>
          </a:xfrm>
        </p:spPr>
        <p:txBody>
          <a:bodyPr/>
          <a:lstStyle/>
          <a:p>
            <a:r>
              <a:rPr lang="zh-TW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TW" sz="4400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zh-TW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系統維護費用</a:t>
            </a:r>
          </a:p>
        </p:txBody>
      </p:sp>
    </p:spTree>
    <p:extLst>
      <p:ext uri="{BB962C8B-B14F-4D97-AF65-F5344CB8AC3E}">
        <p14:creationId xmlns:p14="http://schemas.microsoft.com/office/powerpoint/2010/main" val="76825219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A71A-9552-57D3-28F3-855C2F5D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48804-E451-9A11-5166-8A56B2DE1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95610"/>
            <a:ext cx="11252200" cy="334102"/>
          </a:xfrm>
        </p:spPr>
        <p:txBody>
          <a:bodyPr/>
          <a:lstStyle/>
          <a:p>
            <a:r>
              <a:rPr lang="zh-TW" altLang="en-US" sz="2800" b="1" dirty="0"/>
              <a:t>系統維護費用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FD1158-C12D-B90D-98C1-04A99C6F184C}"/>
              </a:ext>
            </a:extLst>
          </p:cNvPr>
          <p:cNvSpPr txBox="1"/>
          <p:nvPr/>
        </p:nvSpPr>
        <p:spPr>
          <a:xfrm>
            <a:off x="469900" y="660400"/>
            <a:ext cx="11527367" cy="52629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系統維護費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一年期</a:t>
            </a:r>
            <a:r>
              <a:rPr lang="en-US" altLang="zh-TW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本系統建置專案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solidFill>
                  <a:srgbClr val="0038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成交總金額 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b="1" dirty="0">
                <a:solidFill>
                  <a:srgbClr val="0038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18%</a:t>
            </a: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。</a:t>
            </a:r>
            <a:endParaRPr lang="en-US" altLang="zh-TW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zh-TW" altLang="en-US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備註說明：</a:t>
            </a:r>
            <a:endParaRPr lang="en-US" altLang="zh-TW" b="1" i="0" dirty="0">
              <a:solidFill>
                <a:srgbClr val="222222"/>
              </a:solidFill>
              <a:effectLst/>
              <a:highlight>
                <a:srgbClr val="FF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19138" indent="-361950">
              <a:spcBef>
                <a:spcPts val="600"/>
              </a:spcBef>
              <a:buSzPct val="100000"/>
              <a:buFont typeface="+mj-lt"/>
              <a:buAutoNum type="arabicPeriod"/>
              <a:tabLst>
                <a:tab pos="982663" algn="l"/>
              </a:tabLst>
            </a:pPr>
            <a:r>
              <a:rPr lang="zh-TW" altLang="en-US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系統建置後，提供一年保固。自第二年起，則每年簽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系統維護合約。</a:t>
            </a: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19138" indent="-361950">
              <a:spcBef>
                <a:spcPts val="600"/>
              </a:spcBef>
              <a:buSzPct val="100000"/>
              <a:buFont typeface="+mj-lt"/>
              <a:buAutoNum type="arabicPeriod"/>
              <a:tabLst>
                <a:tab pos="982663" algn="l"/>
              </a:tabLst>
            </a:pPr>
            <a:r>
              <a:rPr lang="zh-TW" altLang="en-US" dirty="0">
                <a:solidFill>
                  <a:srgbClr val="313131"/>
                </a:solidFill>
                <a:latin typeface="+mn-ea"/>
              </a:rPr>
              <a:t>若本系統有導入其他子公司使用，則每一家子公司收取</a:t>
            </a:r>
            <a:r>
              <a:rPr lang="en-US" altLang="zh-TW" dirty="0">
                <a:solidFill>
                  <a:srgbClr val="313131"/>
                </a:solidFill>
                <a:latin typeface="+mn-ea"/>
              </a:rPr>
              <a:t>[</a:t>
            </a:r>
            <a:r>
              <a:rPr lang="zh-TW" altLang="en-US" dirty="0">
                <a:solidFill>
                  <a:srgbClr val="313131"/>
                </a:solidFill>
                <a:latin typeface="+mn-ea"/>
              </a:rPr>
              <a:t>使用授權</a:t>
            </a:r>
            <a:r>
              <a:rPr lang="zh-TW" altLang="en-US" sz="1800" dirty="0">
                <a:solidFill>
                  <a:srgbClr val="313131"/>
                </a:solidFill>
                <a:latin typeface="+mn-ea"/>
              </a:rPr>
              <a:t>暨</a:t>
            </a:r>
            <a:r>
              <a:rPr lang="zh-TW" altLang="en-US" dirty="0">
                <a:solidFill>
                  <a:srgbClr val="313131"/>
                </a:solidFill>
                <a:latin typeface="+mn-ea"/>
              </a:rPr>
              <a:t>維護費用</a:t>
            </a:r>
            <a:r>
              <a:rPr lang="en-US" altLang="zh-TW" dirty="0">
                <a:solidFill>
                  <a:srgbClr val="313131"/>
                </a:solidFill>
                <a:latin typeface="+mn-ea"/>
              </a:rPr>
              <a:t>]</a:t>
            </a:r>
          </a:p>
          <a:p>
            <a:pPr marL="357188">
              <a:spcBef>
                <a:spcPts val="600"/>
              </a:spcBef>
              <a:buSzPct val="100000"/>
              <a:tabLst>
                <a:tab pos="982663" algn="l"/>
              </a:tabLst>
            </a:pPr>
            <a:r>
              <a:rPr lang="zh-TW" altLang="en-US" dirty="0">
                <a:solidFill>
                  <a:srgbClr val="313131"/>
                </a:solidFill>
                <a:latin typeface="+mn-ea"/>
              </a:rPr>
              <a:t>    </a:t>
            </a:r>
            <a:r>
              <a:rPr lang="en-US" altLang="zh-TW" dirty="0">
                <a:solidFill>
                  <a:srgbClr val="313131"/>
                </a:solidFill>
                <a:latin typeface="+mn-ea"/>
              </a:rPr>
              <a:t>(</a:t>
            </a:r>
            <a:r>
              <a:rPr lang="zh-TW" altLang="en-US" dirty="0">
                <a:solidFill>
                  <a:srgbClr val="313131"/>
                </a:solidFill>
                <a:latin typeface="+mn-ea"/>
              </a:rPr>
              <a:t>一年期</a:t>
            </a:r>
            <a:r>
              <a:rPr lang="en-US" altLang="zh-TW" dirty="0">
                <a:solidFill>
                  <a:srgbClr val="313131"/>
                </a:solidFill>
                <a:latin typeface="+mn-ea"/>
              </a:rPr>
              <a:t>)</a:t>
            </a:r>
            <a:r>
              <a:rPr lang="zh-TW" altLang="en-US" dirty="0">
                <a:solidFill>
                  <a:srgbClr val="313131"/>
                </a:solidFill>
                <a:latin typeface="+mn-ea"/>
              </a:rPr>
              <a:t>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本系統建置專案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solidFill>
                  <a:srgbClr val="0038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成交總金額 </a:t>
            </a:r>
            <a:r>
              <a:rPr lang="zh-TW" altLang="en-US" b="1" dirty="0">
                <a:solidFill>
                  <a:srgbClr val="3131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b="1" dirty="0">
                <a:solidFill>
                  <a:srgbClr val="0038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57188">
              <a:spcBef>
                <a:spcPts val="600"/>
              </a:spcBef>
              <a:buSzPct val="100000"/>
              <a:tabLst>
                <a:tab pos="982663" algn="l"/>
              </a:tabLst>
            </a:pPr>
            <a:r>
              <a:rPr lang="en-US" altLang="zh-TW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3.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系統</a:t>
            </a:r>
            <a:r>
              <a:rPr lang="zh-TW" altLang="zh-TW" dirty="0">
                <a:solidFill>
                  <a:srgbClr val="313131"/>
                </a:solidFill>
                <a:latin typeface="+mn-ea"/>
              </a:rPr>
              <a:t>維護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案的費用，若遇到下列二個情形，將會因應調整：</a:t>
            </a:r>
            <a:b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(1)</a:t>
            </a:r>
            <a:r>
              <a:rPr kumimoji="0" lang="zh-TW" altLang="en-US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人力成本或物價指數大幅增加，導致目前費用已無法反應實際維護成本，</a:t>
            </a:r>
            <a:b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    </a:t>
            </a:r>
            <a:r>
              <a:rPr kumimoji="0" lang="zh-TW" altLang="en-US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   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宏思將保有新年度維護費用調整的權利。</a:t>
            </a:r>
            <a:b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(2)</a:t>
            </a:r>
            <a:r>
              <a:rPr kumimoji="0" lang="zh-TW" altLang="en-US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針對系統，若   貴司後續有進行擴充案(加購新功能或新客製需求)，則在該案</a:t>
            </a:r>
            <a:b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    </a:t>
            </a:r>
            <a:r>
              <a:rPr kumimoji="0" lang="zh-TW" altLang="en-US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   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保固一年到期後，該案的維護費用將會加計到目前系統維護案的費用中。</a:t>
            </a:r>
            <a:endParaRPr lang="en-US" altLang="zh-TW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600"/>
              </a:spcBef>
              <a:buSzPct val="100000"/>
            </a:pPr>
            <a:endParaRPr lang="zh-TW" altLang="en-US" dirty="0">
              <a:solidFill>
                <a:srgbClr val="3131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06F787-2658-6F81-DAAB-CFBA9E1CBDE8}"/>
              </a:ext>
            </a:extLst>
          </p:cNvPr>
          <p:cNvSpPr/>
          <p:nvPr/>
        </p:nvSpPr>
        <p:spPr bwMode="gray">
          <a:xfrm>
            <a:off x="0" y="95610"/>
            <a:ext cx="220133" cy="38946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06964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865" y="2326254"/>
            <a:ext cx="10717877" cy="1592403"/>
          </a:xfrm>
        </p:spPr>
        <p:txBody>
          <a:bodyPr/>
          <a:lstStyle/>
          <a:p>
            <a:pPr algn="ctr"/>
            <a:r>
              <a:rPr lang="en-US" altLang="zh-TW" sz="6600" dirty="0">
                <a:solidFill>
                  <a:srgbClr val="DDEFE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zh-TW" altLang="en-US" sz="6600" dirty="0">
              <a:solidFill>
                <a:srgbClr val="DDEFE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18418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訂 60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簡報1" id="{3A76CA7C-6AE3-4A3B-9338-D1D1C1093EDE}" vid="{E520128C-F172-4777-B070-9E9B8C063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Legal</Template>
  <TotalTime>62245</TotalTime>
  <Words>2137</Words>
  <Application>Microsoft Office PowerPoint</Application>
  <PresentationFormat>寬螢幕</PresentationFormat>
  <Paragraphs>208</Paragraphs>
  <Slides>14</Slides>
  <Notes>5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微軟正黑體</vt:lpstr>
      <vt:lpstr>Arial</vt:lpstr>
      <vt:lpstr>Calibri</vt:lpstr>
      <vt:lpstr>Verdana</vt:lpstr>
      <vt:lpstr>Wingdings</vt:lpstr>
      <vt:lpstr>Wingdings 2</vt:lpstr>
      <vt:lpstr>blank</vt:lpstr>
      <vt:lpstr>think-cell Slide</vt:lpstr>
      <vt:lpstr>PowerPoint 簡報</vt:lpstr>
      <vt:lpstr>PowerPoint 簡報</vt:lpstr>
      <vt:lpstr>   1. 專案價格方案</vt:lpstr>
      <vt:lpstr>專案價格方案</vt:lpstr>
      <vt:lpstr>專案價格方案_ 《必要》 1. 產品費用 -  選擇要購買的產品版本</vt:lpstr>
      <vt:lpstr>專案價格方案_《必要》2. 導入費用 – 【標準導入方案】</vt:lpstr>
      <vt:lpstr>專案價格方案_ 3. 加購模組《非必要》</vt:lpstr>
      <vt:lpstr>專案價格方案_3. 加購服務 《非必要》</vt:lpstr>
      <vt:lpstr>專案價格方案_4. 客製服務費用</vt:lpstr>
      <vt:lpstr>專案價格方案_5. 加購顧問時數</vt:lpstr>
      <vt:lpstr>專案價格方案</vt:lpstr>
      <vt:lpstr>   2. 系統維護費用</vt:lpstr>
      <vt:lpstr>系統維護費用</vt:lpstr>
      <vt:lpstr>THANK YOU</vt:lpstr>
    </vt:vector>
  </TitlesOfParts>
  <Company>Deloitte Touche Tohmatsu Services,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Jeffry Chang</dc:creator>
  <cp:lastModifiedBy>Jie Lin</cp:lastModifiedBy>
  <cp:revision>915</cp:revision>
  <cp:lastPrinted>2024-12-13T01:02:55Z</cp:lastPrinted>
  <dcterms:created xsi:type="dcterms:W3CDTF">2021-01-29T10:05:21Z</dcterms:created>
  <dcterms:modified xsi:type="dcterms:W3CDTF">2025-10-07T10:39:17Z</dcterms:modified>
</cp:coreProperties>
</file>