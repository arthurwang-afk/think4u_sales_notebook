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7"/>
  </p:notesMasterIdLst>
  <p:handoutMasterIdLst>
    <p:handoutMasterId r:id="rId148"/>
  </p:handoutMasterIdLst>
  <p:sldIdLst>
    <p:sldId id="458" r:id="rId2"/>
    <p:sldId id="1864" r:id="rId3"/>
    <p:sldId id="1904" r:id="rId4"/>
    <p:sldId id="462" r:id="rId5"/>
    <p:sldId id="1905" r:id="rId6"/>
    <p:sldId id="1906" r:id="rId7"/>
    <p:sldId id="1901" r:id="rId8"/>
    <p:sldId id="1907" r:id="rId9"/>
    <p:sldId id="1908" r:id="rId10"/>
    <p:sldId id="1509" r:id="rId11"/>
    <p:sldId id="1540" r:id="rId12"/>
    <p:sldId id="1547" r:id="rId13"/>
    <p:sldId id="1548" r:id="rId14"/>
    <p:sldId id="1544" r:id="rId15"/>
    <p:sldId id="1549" r:id="rId16"/>
    <p:sldId id="1935" r:id="rId17"/>
    <p:sldId id="1936" r:id="rId18"/>
    <p:sldId id="1937" r:id="rId19"/>
    <p:sldId id="1938" r:id="rId20"/>
    <p:sldId id="1939" r:id="rId21"/>
    <p:sldId id="1941" r:id="rId22"/>
    <p:sldId id="1942" r:id="rId23"/>
    <p:sldId id="1943" r:id="rId24"/>
    <p:sldId id="1955" r:id="rId25"/>
    <p:sldId id="1956" r:id="rId26"/>
    <p:sldId id="1909" r:id="rId27"/>
    <p:sldId id="1550" r:id="rId28"/>
    <p:sldId id="1569" r:id="rId29"/>
    <p:sldId id="1910" r:id="rId30"/>
    <p:sldId id="1551" r:id="rId31"/>
    <p:sldId id="1802" r:id="rId32"/>
    <p:sldId id="1803" r:id="rId33"/>
    <p:sldId id="1804" r:id="rId34"/>
    <p:sldId id="1805" r:id="rId35"/>
    <p:sldId id="1806" r:id="rId36"/>
    <p:sldId id="1807" r:id="rId37"/>
    <p:sldId id="1811" r:id="rId38"/>
    <p:sldId id="1808" r:id="rId39"/>
    <p:sldId id="1812" r:id="rId40"/>
    <p:sldId id="1891" r:id="rId41"/>
    <p:sldId id="1892" r:id="rId42"/>
    <p:sldId id="1893" r:id="rId43"/>
    <p:sldId id="1894" r:id="rId44"/>
    <p:sldId id="1911" r:id="rId45"/>
    <p:sldId id="1815" r:id="rId46"/>
    <p:sldId id="1817" r:id="rId47"/>
    <p:sldId id="1944" r:id="rId48"/>
    <p:sldId id="1829" r:id="rId49"/>
    <p:sldId id="1830" r:id="rId50"/>
    <p:sldId id="1831" r:id="rId51"/>
    <p:sldId id="1832" r:id="rId52"/>
    <p:sldId id="1895" r:id="rId53"/>
    <p:sldId id="1896" r:id="rId54"/>
    <p:sldId id="1898" r:id="rId55"/>
    <p:sldId id="1899" r:id="rId56"/>
    <p:sldId id="1957" r:id="rId57"/>
    <p:sldId id="1958" r:id="rId58"/>
    <p:sldId id="1959" r:id="rId59"/>
    <p:sldId id="1960" r:id="rId60"/>
    <p:sldId id="1961" r:id="rId61"/>
    <p:sldId id="1962" r:id="rId62"/>
    <p:sldId id="1963" r:id="rId63"/>
    <p:sldId id="1964" r:id="rId64"/>
    <p:sldId id="1912" r:id="rId65"/>
    <p:sldId id="1833" r:id="rId66"/>
    <p:sldId id="1834" r:id="rId67"/>
    <p:sldId id="1913" r:id="rId68"/>
    <p:sldId id="1835" r:id="rId69"/>
    <p:sldId id="1837" r:id="rId70"/>
    <p:sldId id="1836" r:id="rId71"/>
    <p:sldId id="1557" r:id="rId72"/>
    <p:sldId id="1914" r:id="rId73"/>
    <p:sldId id="1558" r:id="rId74"/>
    <p:sldId id="1846" r:id="rId75"/>
    <p:sldId id="1847" r:id="rId76"/>
    <p:sldId id="1965" r:id="rId77"/>
    <p:sldId id="1849" r:id="rId78"/>
    <p:sldId id="1850" r:id="rId79"/>
    <p:sldId id="1841" r:id="rId80"/>
    <p:sldId id="1842" r:id="rId81"/>
    <p:sldId id="1843" r:id="rId82"/>
    <p:sldId id="1844" r:id="rId83"/>
    <p:sldId id="1889" r:id="rId84"/>
    <p:sldId id="1890" r:id="rId85"/>
    <p:sldId id="1915" r:id="rId86"/>
    <p:sldId id="1873" r:id="rId87"/>
    <p:sldId id="1879" r:id="rId88"/>
    <p:sldId id="1952" r:id="rId89"/>
    <p:sldId id="1953" r:id="rId90"/>
    <p:sldId id="1916" r:id="rId91"/>
    <p:sldId id="1518" r:id="rId92"/>
    <p:sldId id="1523" r:id="rId93"/>
    <p:sldId id="1519" r:id="rId94"/>
    <p:sldId id="1520" r:id="rId95"/>
    <p:sldId id="1521" r:id="rId96"/>
    <p:sldId id="1522" r:id="rId97"/>
    <p:sldId id="1917" r:id="rId98"/>
    <p:sldId id="1458" r:id="rId99"/>
    <p:sldId id="1459" r:id="rId100"/>
    <p:sldId id="1530" r:id="rId101"/>
    <p:sldId id="1867" r:id="rId102"/>
    <p:sldId id="1531" r:id="rId103"/>
    <p:sldId id="1532" r:id="rId104"/>
    <p:sldId id="1918" r:id="rId105"/>
    <p:sldId id="1884" r:id="rId106"/>
    <p:sldId id="1886" r:id="rId107"/>
    <p:sldId id="1919" r:id="rId108"/>
    <p:sldId id="1885" r:id="rId109"/>
    <p:sldId id="1887" r:id="rId110"/>
    <p:sldId id="1920" r:id="rId111"/>
    <p:sldId id="1947" r:id="rId112"/>
    <p:sldId id="1948" r:id="rId113"/>
    <p:sldId id="1921" r:id="rId114"/>
    <p:sldId id="1949" r:id="rId115"/>
    <p:sldId id="1950" r:id="rId116"/>
    <p:sldId id="1922" r:id="rId117"/>
    <p:sldId id="1874" r:id="rId118"/>
    <p:sldId id="1880" r:id="rId119"/>
    <p:sldId id="1883" r:id="rId120"/>
    <p:sldId id="1881" r:id="rId121"/>
    <p:sldId id="1882" r:id="rId122"/>
    <p:sldId id="1923" r:id="rId123"/>
    <p:sldId id="1875" r:id="rId124"/>
    <p:sldId id="1924" r:id="rId125"/>
    <p:sldId id="1533" r:id="rId126"/>
    <p:sldId id="1534" r:id="rId127"/>
    <p:sldId id="1925" r:id="rId128"/>
    <p:sldId id="1868" r:id="rId129"/>
    <p:sldId id="1926" r:id="rId130"/>
    <p:sldId id="1535" r:id="rId131"/>
    <p:sldId id="1536" r:id="rId132"/>
    <p:sldId id="1537" r:id="rId133"/>
    <p:sldId id="1927" r:id="rId134"/>
    <p:sldId id="1876" r:id="rId135"/>
    <p:sldId id="1928" r:id="rId136"/>
    <p:sldId id="1877" r:id="rId137"/>
    <p:sldId id="1929" r:id="rId138"/>
    <p:sldId id="1878" r:id="rId139"/>
    <p:sldId id="1930" r:id="rId140"/>
    <p:sldId id="1567" r:id="rId141"/>
    <p:sldId id="1931" r:id="rId142"/>
    <p:sldId id="1568" r:id="rId143"/>
    <p:sldId id="1902" r:id="rId144"/>
    <p:sldId id="1932" r:id="rId145"/>
    <p:sldId id="1468" r:id="rId146"/>
  </p:sldIdLst>
  <p:sldSz cx="12192000" cy="6858000"/>
  <p:notesSz cx="7348538" cy="10410825"/>
  <p:custDataLst>
    <p:tags r:id="rId149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pos="7" userDrawn="1">
          <p15:clr>
            <a:srgbClr val="A4A3A4"/>
          </p15:clr>
        </p15:guide>
        <p15:guide id="11" orient="horz" pos="2069" userDrawn="1">
          <p15:clr>
            <a:srgbClr val="A4A3A4"/>
          </p15:clr>
        </p15:guide>
        <p15:guide id="12" orient="horz" pos="1570" userDrawn="1">
          <p15:clr>
            <a:srgbClr val="A4A3A4"/>
          </p15:clr>
        </p15:guide>
        <p15:guide id="13" orient="horz" pos="2591" userDrawn="1">
          <p15:clr>
            <a:srgbClr val="A4A3A4"/>
          </p15:clr>
        </p15:guide>
        <p15:guide id="14" orient="horz" pos="3135" userDrawn="1">
          <p15:clr>
            <a:srgbClr val="A4A3A4"/>
          </p15:clr>
        </p15:guide>
        <p15:guide id="15" orient="horz" pos="36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79" userDrawn="1">
          <p15:clr>
            <a:srgbClr val="A4A3A4"/>
          </p15:clr>
        </p15:guide>
        <p15:guide id="2" pos="231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ng Lin" initials="YL" lastIdx="1" clrIdx="0">
    <p:extLst>
      <p:ext uri="{19B8F6BF-5375-455C-9EA6-DF929625EA0E}">
        <p15:presenceInfo xmlns:p15="http://schemas.microsoft.com/office/powerpoint/2012/main" userId="cf268edac69508b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  <a:srgbClr val="F1C473"/>
    <a:srgbClr val="EFEF75"/>
    <a:srgbClr val="87F272"/>
    <a:srgbClr val="B4F7A7"/>
    <a:srgbClr val="6EF297"/>
    <a:srgbClr val="77EC74"/>
    <a:srgbClr val="58B6C0"/>
    <a:srgbClr val="FBFBFB"/>
    <a:srgbClr val="8F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6" autoAdjust="0"/>
    <p:restoredTop sz="94802" autoAdjust="0"/>
  </p:normalViewPr>
  <p:slideViewPr>
    <p:cSldViewPr snapToGrid="0" showGuides="1">
      <p:cViewPr>
        <p:scale>
          <a:sx n="75" d="100"/>
          <a:sy n="75" d="100"/>
        </p:scale>
        <p:origin x="984" y="562"/>
      </p:cViewPr>
      <p:guideLst>
        <p:guide pos="7"/>
        <p:guide orient="horz" pos="2069"/>
        <p:guide orient="horz" pos="1570"/>
        <p:guide orient="horz" pos="2591"/>
        <p:guide orient="horz" pos="3135"/>
        <p:guide orient="horz" pos="3612"/>
      </p:guideLst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6" d="100"/>
          <a:sy n="76" d="100"/>
        </p:scale>
        <p:origin x="3972" y="120"/>
      </p:cViewPr>
      <p:guideLst>
        <p:guide orient="horz" pos="3279"/>
        <p:guide pos="231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ags" Target="tags/tag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commentAuthors" Target="commentAuthors.xml"/><Relationship Id="rId155" Type="http://schemas.microsoft.com/office/2016/11/relationships/changesInfo" Target="changesInfos/changesInfo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g Lin" userId="cf268edac69508b1" providerId="LiveId" clId="{BC6A26E9-664F-41A4-8737-26273B7DDB8B}"/>
    <pc:docChg chg="modSld">
      <pc:chgData name="Ying Lin" userId="cf268edac69508b1" providerId="LiveId" clId="{BC6A26E9-664F-41A4-8737-26273B7DDB8B}" dt="2025-08-07T10:48:09.459" v="443" actId="167"/>
      <pc:docMkLst>
        <pc:docMk/>
      </pc:docMkLst>
      <pc:sldChg chg="addSp modSp mod">
        <pc:chgData name="Ying Lin" userId="cf268edac69508b1" providerId="LiveId" clId="{BC6A26E9-664F-41A4-8737-26273B7DDB8B}" dt="2025-08-07T10:45:26.486" v="120" actId="167"/>
        <pc:sldMkLst>
          <pc:docMk/>
          <pc:sldMk cId="2870597325" sldId="1557"/>
        </pc:sldMkLst>
        <pc:picChg chg="ord">
          <ac:chgData name="Ying Lin" userId="cf268edac69508b1" providerId="LiveId" clId="{BC6A26E9-664F-41A4-8737-26273B7DDB8B}" dt="2025-08-07T10:45:26.486" v="120" actId="167"/>
          <ac:picMkLst>
            <pc:docMk/>
            <pc:sldMk cId="2870597325" sldId="1557"/>
            <ac:picMk id="3" creationId="{8385DA44-90F0-DA15-0275-44B1C10D97C0}"/>
          </ac:picMkLst>
        </pc:picChg>
        <pc:picChg chg="add mod ord">
          <ac:chgData name="Ying Lin" userId="cf268edac69508b1" providerId="LiveId" clId="{BC6A26E9-664F-41A4-8737-26273B7DDB8B}" dt="2025-08-07T10:45:24.601" v="119" actId="167"/>
          <ac:picMkLst>
            <pc:docMk/>
            <pc:sldMk cId="2870597325" sldId="1557"/>
            <ac:picMk id="5" creationId="{03D2BA5A-6342-5615-A129-B8A701E4BB23}"/>
          </ac:picMkLst>
        </pc:picChg>
      </pc:sldChg>
      <pc:sldChg chg="addSp modSp mod">
        <pc:chgData name="Ying Lin" userId="cf268edac69508b1" providerId="LiveId" clId="{BC6A26E9-664F-41A4-8737-26273B7DDB8B}" dt="2025-08-07T10:46:05.556" v="175" actId="1038"/>
        <pc:sldMkLst>
          <pc:docMk/>
          <pc:sldMk cId="2447261215" sldId="1558"/>
        </pc:sldMkLst>
        <pc:picChg chg="ord">
          <ac:chgData name="Ying Lin" userId="cf268edac69508b1" providerId="LiveId" clId="{BC6A26E9-664F-41A4-8737-26273B7DDB8B}" dt="2025-08-07T10:45:47.273" v="129" actId="167"/>
          <ac:picMkLst>
            <pc:docMk/>
            <pc:sldMk cId="2447261215" sldId="1558"/>
            <ac:picMk id="2" creationId="{8F18F71F-2281-E36F-3B49-0CC8975957B3}"/>
          </ac:picMkLst>
        </pc:picChg>
        <pc:picChg chg="add mod ord">
          <ac:chgData name="Ying Lin" userId="cf268edac69508b1" providerId="LiveId" clId="{BC6A26E9-664F-41A4-8737-26273B7DDB8B}" dt="2025-08-07T10:46:05.556" v="175" actId="1038"/>
          <ac:picMkLst>
            <pc:docMk/>
            <pc:sldMk cId="2447261215" sldId="1558"/>
            <ac:picMk id="7" creationId="{7BEE8858-64E8-BE74-BE3B-45C638E24E0C}"/>
          </ac:picMkLst>
        </pc:picChg>
      </pc:sldChg>
      <pc:sldChg chg="addSp modSp mod">
        <pc:chgData name="Ying Lin" userId="cf268edac69508b1" providerId="LiveId" clId="{BC6A26E9-664F-41A4-8737-26273B7DDB8B}" dt="2025-08-07T10:43:37.094" v="44" actId="1038"/>
        <pc:sldMkLst>
          <pc:docMk/>
          <pc:sldMk cId="454760710" sldId="1835"/>
        </pc:sldMkLst>
        <pc:picChg chg="add mod ord">
          <ac:chgData name="Ying Lin" userId="cf268edac69508b1" providerId="LiveId" clId="{BC6A26E9-664F-41A4-8737-26273B7DDB8B}" dt="2025-08-07T10:43:37.094" v="44" actId="1038"/>
          <ac:picMkLst>
            <pc:docMk/>
            <pc:sldMk cId="454760710" sldId="1835"/>
            <ac:picMk id="3" creationId="{9198C1AB-8D25-A831-97CA-DA9C1AFD646E}"/>
          </ac:picMkLst>
        </pc:picChg>
        <pc:picChg chg="ord">
          <ac:chgData name="Ying Lin" userId="cf268edac69508b1" providerId="LiveId" clId="{BC6A26E9-664F-41A4-8737-26273B7DDB8B}" dt="2025-08-07T10:43:27.493" v="24" actId="167"/>
          <ac:picMkLst>
            <pc:docMk/>
            <pc:sldMk cId="454760710" sldId="1835"/>
            <ac:picMk id="4" creationId="{EE5BC030-CB29-7940-7EF4-B1AF691475FD}"/>
          </ac:picMkLst>
        </pc:picChg>
      </pc:sldChg>
      <pc:sldChg chg="addSp modSp mod">
        <pc:chgData name="Ying Lin" userId="cf268edac69508b1" providerId="LiveId" clId="{BC6A26E9-664F-41A4-8737-26273B7DDB8B}" dt="2025-08-07T10:44:54.204" v="103" actId="167"/>
        <pc:sldMkLst>
          <pc:docMk/>
          <pc:sldMk cId="1276782032" sldId="1836"/>
        </pc:sldMkLst>
        <pc:picChg chg="ord">
          <ac:chgData name="Ying Lin" userId="cf268edac69508b1" providerId="LiveId" clId="{BC6A26E9-664F-41A4-8737-26273B7DDB8B}" dt="2025-08-07T10:44:54.204" v="103" actId="167"/>
          <ac:picMkLst>
            <pc:docMk/>
            <pc:sldMk cId="1276782032" sldId="1836"/>
            <ac:picMk id="2" creationId="{6835DB4A-C741-D638-D56A-AD1ABBA4F25C}"/>
          </ac:picMkLst>
        </pc:picChg>
        <pc:picChg chg="add mod ord modCrop">
          <ac:chgData name="Ying Lin" userId="cf268edac69508b1" providerId="LiveId" clId="{BC6A26E9-664F-41A4-8737-26273B7DDB8B}" dt="2025-08-07T10:44:52.262" v="102" actId="167"/>
          <ac:picMkLst>
            <pc:docMk/>
            <pc:sldMk cId="1276782032" sldId="1836"/>
            <ac:picMk id="4" creationId="{8AE3C556-3B72-3859-33E0-37F89672770D}"/>
          </ac:picMkLst>
        </pc:picChg>
      </pc:sldChg>
      <pc:sldChg chg="addSp modSp mod">
        <pc:chgData name="Ying Lin" userId="cf268edac69508b1" providerId="LiveId" clId="{BC6A26E9-664F-41A4-8737-26273B7DDB8B}" dt="2025-08-07T10:44:03.989" v="70" actId="167"/>
        <pc:sldMkLst>
          <pc:docMk/>
          <pc:sldMk cId="3328969033" sldId="1837"/>
        </pc:sldMkLst>
        <pc:picChg chg="ord">
          <ac:chgData name="Ying Lin" userId="cf268edac69508b1" providerId="LiveId" clId="{BC6A26E9-664F-41A4-8737-26273B7DDB8B}" dt="2025-08-07T10:44:03.989" v="70" actId="167"/>
          <ac:picMkLst>
            <pc:docMk/>
            <pc:sldMk cId="3328969033" sldId="1837"/>
            <ac:picMk id="3" creationId="{14A6321F-97ED-CAD7-AE72-B3D00DA85E8F}"/>
          </ac:picMkLst>
        </pc:picChg>
        <pc:picChg chg="add mod ord">
          <ac:chgData name="Ying Lin" userId="cf268edac69508b1" providerId="LiveId" clId="{BC6A26E9-664F-41A4-8737-26273B7DDB8B}" dt="2025-08-07T10:44:02.303" v="69" actId="167"/>
          <ac:picMkLst>
            <pc:docMk/>
            <pc:sldMk cId="3328969033" sldId="1837"/>
            <ac:picMk id="4" creationId="{DBCB438A-32D6-891A-FF1F-FEB3A8B8E85C}"/>
          </ac:picMkLst>
        </pc:picChg>
      </pc:sldChg>
      <pc:sldChg chg="addSp modSp mod">
        <pc:chgData name="Ying Lin" userId="cf268edac69508b1" providerId="LiveId" clId="{BC6A26E9-664F-41A4-8737-26273B7DDB8B}" dt="2025-08-07T10:46:45.980" v="263" actId="167"/>
        <pc:sldMkLst>
          <pc:docMk/>
          <pc:sldMk cId="341544470" sldId="1841"/>
        </pc:sldMkLst>
        <pc:picChg chg="add mod ord">
          <ac:chgData name="Ying Lin" userId="cf268edac69508b1" providerId="LiveId" clId="{BC6A26E9-664F-41A4-8737-26273B7DDB8B}" dt="2025-08-07T10:46:43.969" v="262" actId="167"/>
          <ac:picMkLst>
            <pc:docMk/>
            <pc:sldMk cId="341544470" sldId="1841"/>
            <ac:picMk id="2" creationId="{BD55C45F-70DD-3F22-2016-963262DBF519}"/>
          </ac:picMkLst>
        </pc:picChg>
        <pc:picChg chg="ord">
          <ac:chgData name="Ying Lin" userId="cf268edac69508b1" providerId="LiveId" clId="{BC6A26E9-664F-41A4-8737-26273B7DDB8B}" dt="2025-08-07T10:46:45.980" v="263" actId="167"/>
          <ac:picMkLst>
            <pc:docMk/>
            <pc:sldMk cId="341544470" sldId="1841"/>
            <ac:picMk id="8" creationId="{D88F7CFC-0FE9-D79B-44D6-66800B112270}"/>
          </ac:picMkLst>
        </pc:picChg>
      </pc:sldChg>
      <pc:sldChg chg="addSp modSp mod">
        <pc:chgData name="Ying Lin" userId="cf268edac69508b1" providerId="LiveId" clId="{BC6A26E9-664F-41A4-8737-26273B7DDB8B}" dt="2025-08-07T10:47:02.420" v="290" actId="167"/>
        <pc:sldMkLst>
          <pc:docMk/>
          <pc:sldMk cId="793684449" sldId="1842"/>
        </pc:sldMkLst>
        <pc:picChg chg="add mod ord">
          <ac:chgData name="Ying Lin" userId="cf268edac69508b1" providerId="LiveId" clId="{BC6A26E9-664F-41A4-8737-26273B7DDB8B}" dt="2025-08-07T10:47:00.102" v="289" actId="167"/>
          <ac:picMkLst>
            <pc:docMk/>
            <pc:sldMk cId="793684449" sldId="1842"/>
            <ac:picMk id="3" creationId="{CB1CD2CC-7C15-06C1-1B25-8DAC19A6AA50}"/>
          </ac:picMkLst>
        </pc:picChg>
        <pc:picChg chg="ord">
          <ac:chgData name="Ying Lin" userId="cf268edac69508b1" providerId="LiveId" clId="{BC6A26E9-664F-41A4-8737-26273B7DDB8B}" dt="2025-08-07T10:47:02.420" v="290" actId="167"/>
          <ac:picMkLst>
            <pc:docMk/>
            <pc:sldMk cId="793684449" sldId="1842"/>
            <ac:picMk id="6" creationId="{70C2B21D-6617-F27C-D119-61DBEA8459B1}"/>
          </ac:picMkLst>
        </pc:picChg>
      </pc:sldChg>
      <pc:sldChg chg="addSp modSp mod">
        <pc:chgData name="Ying Lin" userId="cf268edac69508b1" providerId="LiveId" clId="{BC6A26E9-664F-41A4-8737-26273B7DDB8B}" dt="2025-08-07T10:47:22.659" v="322" actId="167"/>
        <pc:sldMkLst>
          <pc:docMk/>
          <pc:sldMk cId="2033334088" sldId="1843"/>
        </pc:sldMkLst>
        <pc:picChg chg="ord">
          <ac:chgData name="Ying Lin" userId="cf268edac69508b1" providerId="LiveId" clId="{BC6A26E9-664F-41A4-8737-26273B7DDB8B}" dt="2025-08-07T10:47:22.659" v="322" actId="167"/>
          <ac:picMkLst>
            <pc:docMk/>
            <pc:sldMk cId="2033334088" sldId="1843"/>
            <ac:picMk id="3" creationId="{479EBD3E-AF65-4CCF-2FF5-EAE81C6CE54F}"/>
          </ac:picMkLst>
        </pc:picChg>
        <pc:picChg chg="add mod ord">
          <ac:chgData name="Ying Lin" userId="cf268edac69508b1" providerId="LiveId" clId="{BC6A26E9-664F-41A4-8737-26273B7DDB8B}" dt="2025-08-07T10:47:20.568" v="321" actId="167"/>
          <ac:picMkLst>
            <pc:docMk/>
            <pc:sldMk cId="2033334088" sldId="1843"/>
            <ac:picMk id="4" creationId="{D423F09F-8CC9-369E-1323-5679E0BF90B4}"/>
          </ac:picMkLst>
        </pc:picChg>
      </pc:sldChg>
      <pc:sldChg chg="addSp modSp mod">
        <pc:chgData name="Ying Lin" userId="cf268edac69508b1" providerId="LiveId" clId="{BC6A26E9-664F-41A4-8737-26273B7DDB8B}" dt="2025-08-07T10:47:39.304" v="379" actId="1037"/>
        <pc:sldMkLst>
          <pc:docMk/>
          <pc:sldMk cId="3852165711" sldId="1844"/>
        </pc:sldMkLst>
        <pc:picChg chg="add mod">
          <ac:chgData name="Ying Lin" userId="cf268edac69508b1" providerId="LiveId" clId="{BC6A26E9-664F-41A4-8737-26273B7DDB8B}" dt="2025-08-07T10:47:39.304" v="379" actId="1037"/>
          <ac:picMkLst>
            <pc:docMk/>
            <pc:sldMk cId="3852165711" sldId="1844"/>
            <ac:picMk id="3" creationId="{9EC04749-A83F-7666-A699-03FF3D672731}"/>
          </ac:picMkLst>
        </pc:picChg>
      </pc:sldChg>
      <pc:sldChg chg="addSp modSp mod">
        <pc:chgData name="Ying Lin" userId="cf268edac69508b1" providerId="LiveId" clId="{BC6A26E9-664F-41A4-8737-26273B7DDB8B}" dt="2025-08-07T10:46:28.621" v="228" actId="167"/>
        <pc:sldMkLst>
          <pc:docMk/>
          <pc:sldMk cId="2413902263" sldId="1846"/>
        </pc:sldMkLst>
        <pc:picChg chg="add mod ord">
          <ac:chgData name="Ying Lin" userId="cf268edac69508b1" providerId="LiveId" clId="{BC6A26E9-664F-41A4-8737-26273B7DDB8B}" dt="2025-08-07T10:46:26.575" v="227" actId="167"/>
          <ac:picMkLst>
            <pc:docMk/>
            <pc:sldMk cId="2413902263" sldId="1846"/>
            <ac:picMk id="3" creationId="{FA500D3E-C6A3-E922-30B2-667BDAE54D2D}"/>
          </ac:picMkLst>
        </pc:picChg>
        <pc:picChg chg="ord">
          <ac:chgData name="Ying Lin" userId="cf268edac69508b1" providerId="LiveId" clId="{BC6A26E9-664F-41A4-8737-26273B7DDB8B}" dt="2025-08-07T10:46:28.621" v="228" actId="167"/>
          <ac:picMkLst>
            <pc:docMk/>
            <pc:sldMk cId="2413902263" sldId="1846"/>
            <ac:picMk id="4" creationId="{8F18F71F-2281-E36F-3B49-0CC8975957B3}"/>
          </ac:picMkLst>
        </pc:picChg>
      </pc:sldChg>
      <pc:sldChg chg="addSp modSp mod">
        <pc:chgData name="Ying Lin" userId="cf268edac69508b1" providerId="LiveId" clId="{BC6A26E9-664F-41A4-8737-26273B7DDB8B}" dt="2025-08-07T10:48:09.459" v="443" actId="167"/>
        <pc:sldMkLst>
          <pc:docMk/>
          <pc:sldMk cId="2452630280" sldId="1890"/>
        </pc:sldMkLst>
        <pc:picChg chg="ord">
          <ac:chgData name="Ying Lin" userId="cf268edac69508b1" providerId="LiveId" clId="{BC6A26E9-664F-41A4-8737-26273B7DDB8B}" dt="2025-08-07T10:48:09.459" v="443" actId="167"/>
          <ac:picMkLst>
            <pc:docMk/>
            <pc:sldMk cId="2452630280" sldId="1890"/>
            <ac:picMk id="2" creationId="{F961B390-EC07-DEC9-A72C-CF8095C9E469}"/>
          </ac:picMkLst>
        </pc:picChg>
        <pc:picChg chg="add mod ord">
          <ac:chgData name="Ying Lin" userId="cf268edac69508b1" providerId="LiveId" clId="{BC6A26E9-664F-41A4-8737-26273B7DDB8B}" dt="2025-08-07T10:48:07.498" v="442" actId="167"/>
          <ac:picMkLst>
            <pc:docMk/>
            <pc:sldMk cId="2452630280" sldId="1890"/>
            <ac:picMk id="3" creationId="{BCA59741-9F6E-DDD9-5E54-FDBE033E827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84586" cy="519977"/>
          </a:xfrm>
          <a:prstGeom prst="rect">
            <a:avLst/>
          </a:prstGeom>
        </p:spPr>
        <p:txBody>
          <a:bodyPr vert="horz" lIns="96522" tIns="48262" rIns="96522" bIns="48262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62310" y="1"/>
            <a:ext cx="3184586" cy="519977"/>
          </a:xfrm>
          <a:prstGeom prst="rect">
            <a:avLst/>
          </a:prstGeom>
        </p:spPr>
        <p:txBody>
          <a:bodyPr vert="horz" lIns="96522" tIns="48262" rIns="96522" bIns="48262" rtlCol="0"/>
          <a:lstStyle>
            <a:lvl1pPr algn="r">
              <a:defRPr sz="12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3/4/2026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889236"/>
            <a:ext cx="3184586" cy="519977"/>
          </a:xfrm>
          <a:prstGeom prst="rect">
            <a:avLst/>
          </a:prstGeom>
        </p:spPr>
        <p:txBody>
          <a:bodyPr vert="horz" lIns="96522" tIns="48262" rIns="96522" bIns="48262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62310" y="9889236"/>
            <a:ext cx="3184586" cy="519977"/>
          </a:xfrm>
          <a:prstGeom prst="rect">
            <a:avLst/>
          </a:prstGeom>
        </p:spPr>
        <p:txBody>
          <a:bodyPr vert="horz" lIns="96522" tIns="48262" rIns="96522" bIns="48262" rtlCol="0" anchor="b"/>
          <a:lstStyle>
            <a:lvl1pPr algn="r">
              <a:defRPr sz="12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184366" cy="520541"/>
          </a:xfrm>
          <a:prstGeom prst="rect">
            <a:avLst/>
          </a:prstGeom>
        </p:spPr>
        <p:txBody>
          <a:bodyPr vert="horz" lIns="104554" tIns="52276" rIns="104554" bIns="52276" rtlCol="0"/>
          <a:lstStyle>
            <a:lvl1pPr algn="l">
              <a:defRPr sz="13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62474" y="2"/>
            <a:ext cx="3184366" cy="520541"/>
          </a:xfrm>
          <a:prstGeom prst="rect">
            <a:avLst/>
          </a:prstGeom>
        </p:spPr>
        <p:txBody>
          <a:bodyPr vert="horz" lIns="104554" tIns="52276" rIns="104554" bIns="52276" rtlCol="0"/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4788" y="781050"/>
            <a:ext cx="6938962" cy="39036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4554" tIns="52276" rIns="104554" bIns="5227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4855" y="4945144"/>
            <a:ext cx="5878830" cy="4684871"/>
          </a:xfrm>
          <a:prstGeom prst="rect">
            <a:avLst/>
          </a:prstGeom>
        </p:spPr>
        <p:txBody>
          <a:bodyPr vert="horz" lIns="104554" tIns="52276" rIns="104554" bIns="5227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888479"/>
            <a:ext cx="3184366" cy="520541"/>
          </a:xfrm>
          <a:prstGeom prst="rect">
            <a:avLst/>
          </a:prstGeom>
        </p:spPr>
        <p:txBody>
          <a:bodyPr vert="horz" lIns="104554" tIns="52276" rIns="104554" bIns="52276" rtlCol="0" anchor="b"/>
          <a:lstStyle>
            <a:lvl1pPr algn="l">
              <a:defRPr sz="13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62474" y="9888479"/>
            <a:ext cx="3184366" cy="520541"/>
          </a:xfrm>
          <a:prstGeom prst="rect">
            <a:avLst/>
          </a:prstGeom>
        </p:spPr>
        <p:txBody>
          <a:bodyPr vert="horz" lIns="104554" tIns="52276" rIns="104554" bIns="52276" rtlCol="0" anchor="b"/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141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803F4F-7089-4FEB-958D-CEF1FC76B6DC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239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40E01-1237-6E5D-8EE9-9DD1BF9BA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A9E828B-F47F-2D8E-DF81-113A6BDCB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1E4FC4C-C793-CE73-4589-4DAFB8561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62AAA9-9435-5D20-8307-244C856A0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803F4F-7089-4FEB-958D-CEF1FC76B6DC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11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1456D-F6D7-9616-DD5E-59E894DD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028A16-997C-B568-3CEA-B14049EF7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8A1ACE-B259-FCD7-59DD-7F9F352A1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38735D-400A-CB8C-AC0B-753B9D2A3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59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559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143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855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265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30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24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343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784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868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239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62567-9229-746F-9D1A-77AB53A4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DA9CBD2-B118-27CD-4996-231BB001D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F7B1D2-D120-5100-D204-5C7D47706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9D8318-B1B3-FBA7-A841-2D7FF2C5E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588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C5426-036E-171A-6400-75BC6DDA2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88FC842-E816-205F-6E52-6678EB55D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A930C7-AF3E-3DCC-EC46-BF1065C3E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1F144A-D499-47C6-CC3B-1F9EED7A5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277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95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713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601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811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3249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7240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0353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3028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647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5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4640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0441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3824-8909-178F-70D2-0025B9181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7D7743D-1589-CF6B-1777-9A9E3C223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0C3703E-25C2-3F0B-4C5E-7B506B4C5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5F65A7-AF4A-D20D-9E97-C56E423E2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814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15E8B-6A8C-4220-57DD-6ED0ED78C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442CBE5-0C8B-85D9-E18D-2B12D33F0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8A000C-5366-ACFE-D8B1-6F266FA59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FAC85E-AF95-7EB5-8905-8505162FE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0012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2F210-A162-8746-5CED-6F7D00534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7A0AB53-AF79-29AA-298B-E0C23CA98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C0F2146-6743-3CF9-1449-33D30560F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8FF746-AE1E-6283-8A3C-CC3FF583B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8296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0A3BA-C516-F705-E2DF-DC1D84FA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C2D1B77-CE08-8576-7A8C-A706B51CC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B9D28D8-E280-2EA7-61A3-82EBF2EBC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BB89EE-CB07-7034-8E5E-943B3841B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9064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0519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5805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54D3B-D6D9-F8C2-93A9-C37CA7C2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0783A1E-6FBB-BC43-0041-AA426EC02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903579B-4D3B-B6F1-6B49-08DFB37D7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E94E21-0543-0EE4-EAD4-417F3423C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5073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833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86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3566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7020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2015A-A20E-1C63-442D-222136013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D612387-453F-D61D-3C37-C0103DEA4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4DD6FF-957D-5C55-76E8-0D6271F78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DF5480-FA2A-18A2-0824-8B0AF5E5C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9963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93B3A-5D1C-3651-3942-82D3EF35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F10A5D-233E-2AAA-7BFA-D79C71000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A233F42-95B8-C94D-376E-E19DA3071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CA090D-2D15-3591-A075-95F761740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1271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B86A6-AB8D-459E-4C35-6480834A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F003997-B23A-370C-9035-3F1923EFB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DB328D-DBB5-04C3-55AF-B9BBD975C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A7BBD0-1C74-CC7A-AB1A-77A2F8E90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9542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59E4B-27A4-D04A-DC8B-FCE89D3F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F71790-F278-19C5-A66D-6D36DD69E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90ABAD2-2BC8-E3C6-CC3C-E28D26BA9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FF351B-D8DB-B5EF-3C72-1C55C51EB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9977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CE96A-474E-5B85-CD6F-944DFB5A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5A60975-66BD-4281-945F-B5BE98D37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1BA7A03-E268-68FB-FE30-3EE0C2BC2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F71187-9FB8-1092-85CF-7A5DC4534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9723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01A92-D017-6C72-42F9-CA081737F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48E4105-C764-D4B4-C2A6-6494C6236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607E678-7F61-8829-181B-5E1C7015C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9AE673-091A-EB0E-22A3-BAC1F5D3F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33140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F70AB-F15B-7A02-D396-2BC705D8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4986781-2C8D-D86D-2E29-2126D0994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A637D95-FEB6-8CE6-AD95-9B4C2C458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54A2D8-27BD-D206-76E0-E288804B6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7511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37303-B8E8-FA9E-7A92-38388AE9F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A188F2B-D2DB-D7D6-A525-32C4172C9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9249BE7-B7A0-D4FF-9813-D46342CCD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A32890-E64E-198D-FD93-150352DB5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6353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F8E47-AE7D-BC7A-7F03-4980CF5F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49007E-682A-E233-A646-B70403FF5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F325AF-5BEB-1136-0B91-B533EC56D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4CD847-8F02-F246-3813-73A4AE390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1700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42BB3-7A4E-6F0F-91BE-C7D7B13F5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ED082DA-CECB-90BD-6B2C-3E0A1689A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061502-568F-D4E1-4D26-A993734BF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8F7397-7F74-0DA3-EA2A-6C2CC7643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8018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A3B96-D2AE-899F-43E4-30B207AE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3300336-942C-6129-FE60-B2441C2A7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FF0B71B-1321-DF43-91D2-01605C29F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DC185C-9F80-8181-4C04-AB1D61537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98955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3424D-150C-993C-CB92-0E3CDC210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4305003-F5FE-C001-CA41-7ABB41F13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01DEDE-41AD-18F9-F378-5AD38A68C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BC0177-71CC-EA68-BEBC-81C56D698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63962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96427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6687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6443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68112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29331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100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37308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93439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9325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進到履約紀錄顯示這份合約的履約紀錄</a:t>
            </a:r>
            <a:endParaRPr lang="en-US" altLang="zh-TW" dirty="0"/>
          </a:p>
          <a:p>
            <a:r>
              <a:rPr lang="zh-TW" altLang="en-US" dirty="0"/>
              <a:t>列表中顯示來源是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/>
              <a:t>履約管理 </a:t>
            </a:r>
            <a:r>
              <a:rPr lang="en-US" altLang="zh-TW" b="1" dirty="0"/>
              <a:t>&gt; </a:t>
            </a:r>
            <a:r>
              <a:rPr lang="zh-TW" altLang="en-US" b="1" dirty="0"/>
              <a:t>履約紀錄</a:t>
            </a:r>
            <a:r>
              <a:rPr lang="en-US" altLang="zh-TW" b="1" dirty="0"/>
              <a:t>】</a:t>
            </a:r>
            <a:r>
              <a:rPr lang="zh-TW" altLang="en-US" b="1" dirty="0"/>
              <a:t>所新增的履約紀錄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20027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20027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00361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75643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80037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25423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33566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4D8F0-3887-F9FE-9796-B7A35B89E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BE8EF21-2C1A-D800-7C98-36383B610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0F27B6-3CEC-61EF-89CD-0FDA93553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B52755-7334-49C6-263C-3D4FFA768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73971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4808F-FE8A-5660-C32D-6190660A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AA51747-36DE-F788-613E-7E2F28BC2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2078185-2C3B-1F5E-5FE0-F4ABDF877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820057-C859-06BF-C7EB-1EBD0FE43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9836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F28CF-8AAE-9566-3D84-1E968428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717579B-B12B-F663-8053-F1F7CA2E8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03CE502-7BF8-8DBD-442B-CD843796B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6DF4C4-B33A-0B69-C831-7878D7A04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87158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25F35-7A3F-CD18-37FB-14CB8D27D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827D737-A010-F44B-79DD-1D75E9A6F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540EB46-C1B6-7907-00F8-0A8F1859F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1A7E98-78CE-A338-4F31-A2665CA1B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23783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A33F-029C-753B-E7AF-803B5A16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E9EC694-A590-6DB8-1A13-EFECFE09D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F72B6A1-1115-90A0-CAE6-BC53516A1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27D2DF-E652-D912-C07C-C35DCEFBE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88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0758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E184E-774E-3235-D4ED-DA0E04BC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B3A2050-3A10-EFCF-15FE-39644BF8F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87FCA3-832E-6E99-A544-D22DC841C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566DBB-C132-5259-2A9D-18558C095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5434B-2FBE-46E3-A304-57763384F86D}" type="slidenum">
              <a:rPr lang="en-US" smtClean="0"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3568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72059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4374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88123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8100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92076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74401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98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21239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99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57697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100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6272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23879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102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72382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103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23415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534B0-1C21-336A-EC76-DE3390F9F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A73BEAF-F5FE-E3C2-9025-AE40297F3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49B7331-5A03-F318-D243-8EC04C6E4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5BA3D0-2A00-E08F-EDAE-4D4F35804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24062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67792-F103-AFCA-EA96-1F7D548B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481813-BC45-C9FD-DDEF-C834FA022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B5DB83-B92B-E322-A09E-4247D1533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CE31ED-6690-08B0-9D18-035D1B191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44814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F640-6784-B262-3E98-A10A3F54E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89DC39-9296-23DD-3688-009D4BA49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B3803DE-B472-A285-5188-E5E962059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31DB91-C910-6196-2F4F-8BA5D0835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64900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DF75-8B1D-4FF6-B9C8-CFA38290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DB6AEC-17EC-59B9-A4BB-E04A3C4BB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D6C358-CC5B-ED4C-C1F7-DD8F62E79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EA1E06-DDAE-81A6-AE66-0D159C4A5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109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08574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8F68-48FF-95ED-0AB8-7579AD634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3BF2A6-4901-0387-8A71-3CDD3357A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EBD1FB-55F4-C9C7-8567-AE537252B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2BD7AF-5A1B-3FE1-6235-BE356830B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54680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7C16-096E-CAE1-7142-264BA6AB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242C04D-53D1-F156-1B04-63A3DFD36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362E605-CD92-8ADD-2D1F-E6ED0F567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22D5F6-0079-2881-5757-77D9CB9B9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43218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BBFAB-7513-8501-8D8C-0124A18A6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159575E-0E93-041B-C529-B32DB2477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7AB621C-659B-1158-FE01-8C926C648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1AF4E7-1D3E-892F-D44F-3F2EA6042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5436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786A1-6A24-A749-24BB-035B2DCA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819998E-F80B-E0A8-F91F-5B6E485EF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82B623-7304-738A-C882-60CFC31F7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22A9F5-7A5D-DE4A-67DF-FD7C7A82E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53711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4E87-47D2-F5B8-C4E9-E344CE77A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0460B5F-2EC3-E2BE-5449-48C60C665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0BAABFE-9A86-EB8D-9003-2E9648871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FB310A-9975-1739-0592-EBEA31BE2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7338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EE27B-499C-D4F4-5FBB-2745B8646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F8DCB84-0CBD-3943-1946-1F8BC7012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0F62F72-B908-5101-64EB-4514AFE38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73AFE5-D5C8-AEF2-C2E4-51557190E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15766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PDF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一定要是掃描檔，勿用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如有表格，需將內容轉正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建議先將文件放置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[OCR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先轉出一版，再到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文字校正設定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設置替換字詞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個字含以上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[OCR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再次轉換，最後就可在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轉檔紀錄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00794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55541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6000"/>
              </a:lnSpc>
            </a:pP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16627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68097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2496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14990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6EF57-7EB4-0BB0-1E0F-B6BBF63A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0DDD41A-AF4D-089C-253D-95A94C3A8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27A77D2-ECE5-084B-D5F8-6D46F1DBA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B3EAA5-A0A2-8074-ECEC-032E36DE8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561110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E083-9998-4930-91D5-F5D39AB8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681701D-95F1-8F59-3796-05B75EF92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5C5D701-493E-A176-562E-629358659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9823A1-DFCA-E02C-5CCA-C57F30A5F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21281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9F6C5-2ACE-8DCB-C261-86559C12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48C77DE-CBE8-7BA3-E53D-CA9AB8410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A979CE7-4242-A190-75B7-E4AEBB0FB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AC0475-9BFB-2297-4017-69417588A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496546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52592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06454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4727-9BB8-C28C-BCF5-983240523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19BFBC1B-8575-EA98-E7AD-B6A61F2E9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A7C5EAE-78C2-E219-2B88-F760E72AC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4BB0F4-A116-2B2D-E815-9578D95B35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803F4F-7089-4FEB-958D-CEF1FC76B6DC}" type="slidenum">
              <a:rPr lang="zh-TW" altLang="en-US" smtClean="0"/>
              <a:pPr>
                <a:defRPr/>
              </a:pPr>
              <a:t>144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0528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黑底圖片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1" y="5495278"/>
            <a:ext cx="5592011" cy="85555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>
                <a:solidFill>
                  <a:srgbClr val="86BC2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705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cxnSp>
        <p:nvCxnSpPr>
          <p:cNvPr id="32" name="直線接點 31"/>
          <p:cNvCxnSpPr/>
          <p:nvPr userDrawn="1"/>
        </p:nvCxnSpPr>
        <p:spPr>
          <a:xfrm>
            <a:off x="24926928" y="6299200"/>
            <a:ext cx="542925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9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圖片 35">
            <a:extLst>
              <a:ext uri="{FF2B5EF4-FFF2-40B4-BE49-F238E27FC236}">
                <a16:creationId xmlns:a16="http://schemas.microsoft.com/office/drawing/2014/main" id="{6422E296-AB66-4E59-9A95-AFE44E137A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471" y="433806"/>
            <a:ext cx="1713627" cy="6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342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白底圖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388912"/>
            <a:ext cx="5594348" cy="9619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>
                <a:solidFill>
                  <a:srgbClr val="86BC2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l">
              <a:buNone/>
              <a:defRPr sz="16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altLang="zh-TW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705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3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55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6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圖片 45">
            <a:extLst>
              <a:ext uri="{FF2B5EF4-FFF2-40B4-BE49-F238E27FC236}">
                <a16:creationId xmlns:a16="http://schemas.microsoft.com/office/drawing/2014/main" id="{C05BE25D-473F-42C8-A003-A0A9425F5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471" y="387389"/>
            <a:ext cx="1713627" cy="6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278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黑底文字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0149" y="153045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bg1"/>
                </a:solidFill>
                <a:latin typeface="+mj-lt"/>
                <a:ea typeface="+mj-ea"/>
                <a:cs typeface="Open Sans" panose="020B060603050402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201" y="5845186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zh-TW" altLang="en-US" noProof="0"/>
              <a:t>按一下以編輯母片副標題樣式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705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52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3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圖片 34">
            <a:extLst>
              <a:ext uri="{FF2B5EF4-FFF2-40B4-BE49-F238E27FC236}">
                <a16:creationId xmlns:a16="http://schemas.microsoft.com/office/drawing/2014/main" id="{81EA0CE2-EC11-4B2F-8C2D-3621152A76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5325" y="341504"/>
            <a:ext cx="1713627" cy="6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13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白底文字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2000" y="153000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tx1"/>
                </a:solidFill>
                <a:latin typeface="+mj-lt"/>
                <a:ea typeface="+mj-ea"/>
                <a:cs typeface="Open Sans" panose="020B060603050402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327" y="5845186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zh-TW" altLang="en-US" noProof="0"/>
              <a:t>按一下以編輯母片副標題樣式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705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49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0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圖片 45">
            <a:extLst>
              <a:ext uri="{FF2B5EF4-FFF2-40B4-BE49-F238E27FC236}">
                <a16:creationId xmlns:a16="http://schemas.microsoft.com/office/drawing/2014/main" id="{E759307D-D4C5-4AAB-B100-F5554D4B5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5325" y="341504"/>
            <a:ext cx="1713627" cy="6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025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4" y="1700219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1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sp>
        <p:nvSpPr>
          <p:cNvPr id="16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7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20">
            <a:extLst>
              <a:ext uri="{FF2B5EF4-FFF2-40B4-BE49-F238E27FC236}">
                <a16:creationId xmlns:a16="http://schemas.microsoft.com/office/drawing/2014/main" id="{8BD693F3-28F8-4029-88F6-2516B5131780}"/>
              </a:ext>
            </a:extLst>
          </p:cNvPr>
          <p:cNvSpPr txBox="1"/>
          <p:nvPr userDrawn="1"/>
        </p:nvSpPr>
        <p:spPr>
          <a:xfrm>
            <a:off x="122771" y="6667251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</p:spTree>
    <p:extLst>
      <p:ext uri="{BB962C8B-B14F-4D97-AF65-F5344CB8AC3E}">
        <p14:creationId xmlns:p14="http://schemas.microsoft.com/office/powerpoint/2010/main" val="34580781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4" y="1700219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1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sp>
        <p:nvSpPr>
          <p:cNvPr id="16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7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20">
            <a:extLst>
              <a:ext uri="{FF2B5EF4-FFF2-40B4-BE49-F238E27FC236}">
                <a16:creationId xmlns:a16="http://schemas.microsoft.com/office/drawing/2014/main" id="{093BCB7B-6770-486D-B1C7-FF93651C545F}"/>
              </a:ext>
            </a:extLst>
          </p:cNvPr>
          <p:cNvSpPr txBox="1"/>
          <p:nvPr userDrawn="1"/>
        </p:nvSpPr>
        <p:spPr>
          <a:xfrm>
            <a:off x="122771" y="6667251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</p:spTree>
    <p:extLst>
      <p:ext uri="{BB962C8B-B14F-4D97-AF65-F5344CB8AC3E}">
        <p14:creationId xmlns:p14="http://schemas.microsoft.com/office/powerpoint/2010/main" val="2104574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dark green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4" y="1705674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4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122771" y="6667251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574463" y="6667251"/>
            <a:ext cx="3079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100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1000" noProof="0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14"/>
          <p:cNvCxnSpPr/>
          <p:nvPr userDrawn="1"/>
        </p:nvCxnSpPr>
        <p:spPr>
          <a:xfrm>
            <a:off x="1172845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482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4" y="1705674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4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20">
            <a:extLst>
              <a:ext uri="{FF2B5EF4-FFF2-40B4-BE49-F238E27FC236}">
                <a16:creationId xmlns:a16="http://schemas.microsoft.com/office/drawing/2014/main" id="{EB91C2AE-3ABC-414B-BE60-46B6731DCACC}"/>
              </a:ext>
            </a:extLst>
          </p:cNvPr>
          <p:cNvSpPr txBox="1"/>
          <p:nvPr userDrawn="1"/>
        </p:nvSpPr>
        <p:spPr>
          <a:xfrm>
            <a:off x="122771" y="6667251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</p:spTree>
    <p:extLst>
      <p:ext uri="{BB962C8B-B14F-4D97-AF65-F5344CB8AC3E}">
        <p14:creationId xmlns:p14="http://schemas.microsoft.com/office/powerpoint/2010/main" val="1654021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4" y="1705674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4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469905" y="6477002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宏思科技版權所有 保留一切權利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9901" y="1665291"/>
            <a:ext cx="9348787" cy="4633910"/>
          </a:xfrm>
          <a:prstGeom prst="rect">
            <a:avLst/>
          </a:prstGeom>
        </p:spPr>
        <p:txBody>
          <a:bodyPr/>
          <a:lstStyle>
            <a:lvl1pPr>
              <a:tabLst>
                <a:tab pos="8971878" algn="r"/>
              </a:tabLst>
              <a:defRPr sz="1300">
                <a:latin typeface="+mj-lt"/>
              </a:defRPr>
            </a:lvl1pPr>
            <a:lvl2pPr>
              <a:tabLst>
                <a:tab pos="8971878" algn="r"/>
              </a:tabLst>
              <a:defRPr sz="1300">
                <a:latin typeface="+mj-lt"/>
              </a:defRPr>
            </a:lvl2pPr>
            <a:lvl3pPr>
              <a:tabLst>
                <a:tab pos="8971878" algn="r"/>
              </a:tabLst>
              <a:defRPr sz="1300">
                <a:latin typeface="+mj-lt"/>
              </a:defRPr>
            </a:lvl3pPr>
            <a:lvl4pPr>
              <a:tabLst>
                <a:tab pos="8971878" algn="r"/>
              </a:tabLst>
              <a:defRPr sz="1300">
                <a:latin typeface="+mj-lt"/>
              </a:defRPr>
            </a:lvl4pPr>
            <a:lvl5pPr>
              <a:tabLst>
                <a:tab pos="6705096" algn="r"/>
              </a:tabLst>
              <a:defRPr sz="1300" baseline="0">
                <a:latin typeface="+mj-lt"/>
              </a:defRPr>
            </a:lvl5pPr>
            <a:lvl6pPr>
              <a:tabLst>
                <a:tab pos="8971878" algn="r"/>
              </a:tabLst>
              <a:defRPr/>
            </a:lvl6pPr>
            <a:lvl7pPr>
              <a:tabLst>
                <a:tab pos="8971878" algn="r"/>
              </a:tabLst>
              <a:defRPr/>
            </a:lvl7pPr>
            <a:lvl8pPr>
              <a:tabLst>
                <a:tab pos="8971878" algn="r"/>
              </a:tabLst>
              <a:defRPr/>
            </a:lvl8pPr>
            <a:lvl9pPr>
              <a:tabLst>
                <a:tab pos="8971878" algn="r"/>
              </a:tabLst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zh-TW" altLang="en-US" noProof="0" dirty="0"/>
              <a:t>按一下以編輯母片標題樣式 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51087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604872" y="1700213"/>
            <a:ext cx="6117233" cy="4598988"/>
          </a:xfrm>
        </p:spPr>
        <p:txBody>
          <a:bodyPr/>
          <a:lstStyle/>
          <a:p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5" y="1665290"/>
            <a:ext cx="4333663" cy="4633911"/>
          </a:xfrm>
          <a:prstGeom prst="rect">
            <a:avLst/>
          </a:prstGeom>
        </p:spPr>
        <p:txBody>
          <a:bodyPr/>
          <a:lstStyle>
            <a:lvl1pPr>
              <a:tabLst>
                <a:tab pos="6705096" algn="r"/>
              </a:tabLst>
              <a:defRPr sz="1300">
                <a:latin typeface="+mn-ea"/>
                <a:ea typeface="+mn-ea"/>
              </a:defRPr>
            </a:lvl1pPr>
            <a:lvl2pPr>
              <a:tabLst>
                <a:tab pos="6705096" algn="r"/>
              </a:tabLst>
              <a:defRPr sz="1300">
                <a:latin typeface="+mn-ea"/>
                <a:ea typeface="+mn-ea"/>
              </a:defRPr>
            </a:lvl2pPr>
            <a:lvl3pPr>
              <a:tabLst>
                <a:tab pos="6705096" algn="r"/>
              </a:tabLst>
              <a:defRPr sz="1300">
                <a:latin typeface="+mn-ea"/>
                <a:ea typeface="+mn-ea"/>
              </a:defRPr>
            </a:lvl3pPr>
            <a:lvl4pPr>
              <a:tabLst>
                <a:tab pos="6705096" algn="r"/>
              </a:tabLst>
              <a:defRPr sz="1300">
                <a:latin typeface="+mn-ea"/>
                <a:ea typeface="+mn-ea"/>
              </a:defRPr>
            </a:lvl4pPr>
            <a:lvl5pPr>
              <a:tabLst>
                <a:tab pos="6705096" algn="r"/>
              </a:tabLst>
              <a:defRPr sz="1300" baseline="0">
                <a:latin typeface="+mn-ea"/>
                <a:ea typeface="+mn-ea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6397904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300">
                <a:latin typeface="+mn-lt"/>
              </a:defRPr>
            </a:lvl1pPr>
            <a:lvl2pPr>
              <a:defRPr sz="1300">
                <a:latin typeface="+mn-lt"/>
              </a:defRPr>
            </a:lvl2pPr>
            <a:lvl3pPr>
              <a:defRPr sz="1300">
                <a:latin typeface="+mn-lt"/>
              </a:defRPr>
            </a:lvl3pPr>
            <a:lvl4pPr>
              <a:defRPr sz="1300">
                <a:latin typeface="+mn-lt"/>
              </a:defRPr>
            </a:lvl4pPr>
            <a:lvl5pPr>
              <a:defRPr sz="1300">
                <a:latin typeface="+mn-lt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109111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noProof="0" dirty="0"/>
              <a:t>按一下以編輯母片標題樣式 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300">
                <a:latin typeface="+mn-lt"/>
              </a:defRPr>
            </a:lvl1pPr>
            <a:lvl2pPr>
              <a:defRPr sz="1300">
                <a:latin typeface="+mn-lt"/>
              </a:defRPr>
            </a:lvl2pPr>
            <a:lvl3pPr>
              <a:defRPr sz="1300">
                <a:latin typeface="+mn-lt"/>
              </a:defRPr>
            </a:lvl3pPr>
            <a:lvl4pPr>
              <a:defRPr sz="1300">
                <a:latin typeface="+mn-lt"/>
              </a:defRPr>
            </a:lvl4pPr>
            <a:lvl5pPr>
              <a:defRPr sz="1300">
                <a:latin typeface="+mn-lt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4585"/>
            <a:ext cx="11252200" cy="3928209"/>
          </a:xfrm>
          <a:prstGeom prst="rect">
            <a:avLst/>
          </a:prstGeom>
        </p:spPr>
        <p:txBody>
          <a:bodyPr/>
          <a:lstStyle>
            <a:lvl1pPr>
              <a:defRPr sz="1300"/>
            </a:lvl1pPr>
          </a:lstStyle>
          <a:p>
            <a:r>
              <a:rPr lang="zh-TW" altLang="en-US" noProof="0"/>
              <a:t>按一下圖示以新增圖表</a:t>
            </a:r>
            <a:endParaRPr lang="en-US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59816"/>
            <a:ext cx="11252200" cy="357187"/>
          </a:xfrm>
        </p:spPr>
        <p:txBody>
          <a:bodyPr/>
          <a:lstStyle>
            <a:lvl1pPr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68004" y="5982796"/>
            <a:ext cx="11252201" cy="31641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cxnSp>
        <p:nvCxnSpPr>
          <p:cNvPr id="12" name="直線接點 11"/>
          <p:cNvCxnSpPr/>
          <p:nvPr userDrawn="1"/>
        </p:nvCxnSpPr>
        <p:spPr>
          <a:xfrm flipV="1">
            <a:off x="11722100" y="-447675"/>
            <a:ext cx="0" cy="36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 userDrawn="1"/>
        </p:nvCxnSpPr>
        <p:spPr>
          <a:xfrm flipV="1">
            <a:off x="11722100" y="6953250"/>
            <a:ext cx="0" cy="36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 userDrawn="1"/>
        </p:nvCxnSpPr>
        <p:spPr>
          <a:xfrm flipV="1">
            <a:off x="462471" y="6943725"/>
            <a:ext cx="0" cy="36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 userDrawn="1"/>
        </p:nvCxnSpPr>
        <p:spPr>
          <a:xfrm flipV="1">
            <a:off x="462471" y="-464775"/>
            <a:ext cx="0" cy="36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8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333"/>
              </a:spcAft>
              <a:defRPr sz="1300">
                <a:latin typeface="+mj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j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j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j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3" y="1857898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40" y="1857898"/>
            <a:ext cx="1244161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9899" y="4249687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177460" y="4249687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0439" y="4249689"/>
            <a:ext cx="1274916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9036" y="4248215"/>
            <a:ext cx="1244160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7" y="1863923"/>
            <a:ext cx="1244907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內頁_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3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5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7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501656" y="6477002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勤業眾信版權所有 保留一切權利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382382" y="6477003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cxnSp>
        <p:nvCxnSpPr>
          <p:cNvPr id="23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37087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467785" y="1665818"/>
            <a:ext cx="5537731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300">
                <a:latin typeface="+mn-lt"/>
              </a:defRPr>
            </a:lvl1pPr>
            <a:lvl2pPr>
              <a:defRPr sz="1300">
                <a:latin typeface="+mn-lt"/>
              </a:defRPr>
            </a:lvl2pPr>
            <a:lvl3pPr>
              <a:defRPr sz="1300">
                <a:latin typeface="+mn-lt"/>
              </a:defRPr>
            </a:lvl3pPr>
            <a:lvl4pPr>
              <a:defRPr sz="1300">
                <a:latin typeface="+mn-lt"/>
              </a:defRPr>
            </a:lvl4pPr>
            <a:lvl5pPr>
              <a:defRPr sz="1300">
                <a:latin typeface="+mn-lt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92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l">
              <a:buNone/>
              <a:defRPr sz="1600" b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680102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28000" y="651600"/>
            <a:ext cx="111360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8000" y="295683"/>
            <a:ext cx="11136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203771" y="6491553"/>
            <a:ext cx="463296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345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5A09B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AD8F7-39F4-44AF-86F6-20C3AB173361}" type="datetime1">
              <a:rPr lang="zh-TW" altLang="en-US"/>
              <a:pPr>
                <a:defRPr/>
              </a:pPr>
              <a:t>2026/3/4</a:t>
            </a:fld>
            <a:endParaRPr lang="zh-TW" altLang="en-US" dirty="0"/>
          </a:p>
        </p:txBody>
      </p:sp>
      <p:sp>
        <p:nvSpPr>
          <p:cNvPr id="4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3EC1D-ADCF-4A98-9572-EC582E9A97C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013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900000"/>
          </a:xfrm>
        </p:spPr>
        <p:txBody>
          <a:bodyPr/>
          <a:lstStyle>
            <a:lvl1pPr>
              <a:lnSpc>
                <a:spcPts val="6000"/>
              </a:lnSpc>
              <a:defRPr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3000"/>
            <a:ext cx="10515600" cy="51840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125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166891810"/>
              </p:ext>
            </p:extLst>
          </p:nvPr>
        </p:nvGraphicFramePr>
        <p:xfrm>
          <a:off x="2119" y="1595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270" imgH="270" progId="TCLayout.ActiveDocument.1">
                  <p:embed/>
                </p:oleObj>
              </mc:Choice>
              <mc:Fallback>
                <p:oleObj name="think-cell Slide" r:id="rId26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119" y="1595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9900" y="402592"/>
            <a:ext cx="112522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 noProof="0" dirty="0"/>
              <a:t>按一下以編輯母片標題樣式</a:t>
            </a:r>
            <a:endParaRPr lang="en-US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 noProof="0" dirty="0"/>
              <a:t>按一下以編輯母片文字樣式  </a:t>
            </a:r>
          </a:p>
          <a:p>
            <a:pPr lvl="1"/>
            <a:r>
              <a:rPr lang="zh-TW" altLang="en-US" noProof="0" dirty="0"/>
              <a:t>第二層</a:t>
            </a:r>
          </a:p>
          <a:p>
            <a:pPr lvl="2"/>
            <a:r>
              <a:rPr lang="zh-TW" altLang="en-US" noProof="0" dirty="0"/>
              <a:t>第三層</a:t>
            </a:r>
          </a:p>
          <a:p>
            <a:pPr lvl="3"/>
            <a:r>
              <a:rPr lang="zh-TW" altLang="en-US" noProof="0" dirty="0"/>
              <a:t>第四層</a:t>
            </a:r>
            <a:endParaRPr lang="en-US" altLang="zh-TW" noProof="0" dirty="0"/>
          </a:p>
          <a:p>
            <a:pPr lvl="3"/>
            <a:r>
              <a:rPr lang="zh-TW" altLang="en-US" noProof="0" dirty="0"/>
              <a:t>第五層</a:t>
            </a:r>
            <a:endParaRPr lang="en-U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05838" y="6707073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noProof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78187" y="6671747"/>
            <a:ext cx="3079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1000" noProof="0" smtClean="0">
                <a:solidFill>
                  <a:srgbClr val="00ABAB"/>
                </a:solidFill>
                <a:latin typeface="+mn-ea"/>
                <a:ea typeface="+mn-ea"/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1000" noProof="0" dirty="0">
              <a:solidFill>
                <a:srgbClr val="00ABAB"/>
              </a:solidFill>
              <a:latin typeface="+mn-ea"/>
              <a:ea typeface="+mn-ea"/>
            </a:endParaRPr>
          </a:p>
        </p:txBody>
      </p:sp>
      <p:cxnSp>
        <p:nvCxnSpPr>
          <p:cNvPr id="8" name="Straight Arrow Connector 12"/>
          <p:cNvCxnSpPr/>
          <p:nvPr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12"/>
          <p:cNvCxnSpPr/>
          <p:nvPr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2"/>
          <p:cNvCxnSpPr/>
          <p:nvPr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4"/>
          <p:cNvCxnSpPr/>
          <p:nvPr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4"/>
          <p:cNvCxnSpPr/>
          <p:nvPr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4"/>
          <p:cNvCxnSpPr/>
          <p:nvPr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2" r:id="rId5"/>
    <p:sldLayoutId id="2147483703" r:id="rId6"/>
    <p:sldLayoutId id="2147483704" r:id="rId7"/>
    <p:sldLayoutId id="2147483705" r:id="rId8"/>
    <p:sldLayoutId id="2147483706" r:id="rId9"/>
    <p:sldLayoutId id="2147483679" r:id="rId10"/>
    <p:sldLayoutId id="2147483712" r:id="rId11"/>
    <p:sldLayoutId id="2147483678" r:id="rId12"/>
    <p:sldLayoutId id="2147483681" r:id="rId13"/>
    <p:sldLayoutId id="2147483699" r:id="rId14"/>
    <p:sldLayoutId id="2147483695" r:id="rId15"/>
    <p:sldLayoutId id="2147483724" r:id="rId16"/>
    <p:sldLayoutId id="2147483727" r:id="rId17"/>
    <p:sldLayoutId id="2147483698" r:id="rId18"/>
    <p:sldLayoutId id="2147483752" r:id="rId19"/>
    <p:sldLayoutId id="2147483820" r:id="rId20"/>
    <p:sldLayoutId id="2147483823" r:id="rId21"/>
    <p:sldLayoutId id="2147483824" r:id="rId22"/>
    <p:sldLayoutId id="2147483825" r:id="rId23"/>
  </p:sldLayoutIdLst>
  <p:transition>
    <p:fade/>
  </p:transition>
  <p:hf hdr="0" dt="0"/>
  <p:txStyles>
    <p:titleStyle>
      <a:lvl1pPr algn="l" defTabSz="121911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j-lt"/>
          <a:ea typeface="微軟正黑體" panose="020B0604030504040204" pitchFamily="34" charset="-120"/>
          <a:cs typeface="+mj-cs"/>
        </a:defRPr>
      </a:lvl1pPr>
    </p:titleStyle>
    <p:bodyStyle>
      <a:lvl1pPr marL="0" indent="0" algn="l" defTabSz="1219110" rtl="0" eaLnBrk="1" latinLnBrk="0" hangingPunct="1">
        <a:spcBef>
          <a:spcPts val="0"/>
        </a:spcBef>
        <a:spcAft>
          <a:spcPts val="1333"/>
        </a:spcAft>
        <a:buSzPct val="100000"/>
        <a:buFont typeface="Arial" panose="020B0604020202020204" pitchFamily="34" charset="0"/>
        <a:buNone/>
        <a:defRPr sz="1300" b="0" kern="1200">
          <a:solidFill>
            <a:schemeClr val="tx1"/>
          </a:solidFill>
          <a:latin typeface="+mj-lt"/>
          <a:ea typeface="微軟正黑體" panose="020B0604030504040204" pitchFamily="34" charset="-120"/>
          <a:cs typeface="+mn-cs"/>
        </a:defRPr>
      </a:lvl1pPr>
      <a:lvl2pPr marL="0" indent="0" algn="l" defTabSz="121911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/>
        <a:buNone/>
        <a:defRPr lang="en-US" sz="1300" b="1" kern="1200" dirty="0" smtClean="0">
          <a:solidFill>
            <a:schemeClr val="tx1"/>
          </a:solidFill>
          <a:latin typeface="+mj-lt"/>
          <a:ea typeface="微軟正黑體" panose="020B0604030504040204" pitchFamily="34" charset="-120"/>
          <a:cs typeface="+mn-cs"/>
        </a:defRPr>
      </a:lvl2pPr>
      <a:lvl3pPr marL="235183" indent="-235183" algn="l" defTabSz="121911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•"/>
        <a:defRPr lang="en-US" sz="1300" kern="1200" dirty="0" smtClean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475164" indent="-235183" algn="l" defTabSz="121911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Verdana" panose="020B0604030504040204" pitchFamily="34" charset="0"/>
        <a:buChar char="−"/>
        <a:defRPr lang="en-US" sz="1300" kern="1200" baseline="0" dirty="0" smtClean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710348" indent="-235183" algn="l" defTabSz="1064604" rtl="0" eaLnBrk="1" latinLnBrk="0" hangingPunct="1">
        <a:spcBef>
          <a:spcPts val="0"/>
        </a:spcBef>
        <a:spcAft>
          <a:spcPts val="1333"/>
        </a:spcAft>
        <a:buClrTx/>
        <a:buSzPct val="100000"/>
        <a:buFont typeface="Verdana" panose="020B0604030504040204" pitchFamily="34" charset="0"/>
        <a:buChar char="−"/>
        <a:tabLst/>
        <a:defRPr lang="en-US" sz="1400" kern="1200" baseline="0" dirty="0" smtClean="0">
          <a:solidFill>
            <a:schemeClr val="tx1"/>
          </a:solidFill>
          <a:latin typeface="+mj-lt"/>
          <a:ea typeface="微軟正黑體" panose="020B0604030504040204" pitchFamily="34" charset="-120"/>
          <a:cs typeface="+mn-cs"/>
        </a:defRPr>
      </a:lvl5pPr>
      <a:lvl6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9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3968">
          <p15:clr>
            <a:srgbClr val="F26B43"/>
          </p15:clr>
        </p15:guide>
        <p15:guide id="4" pos="296">
          <p15:clr>
            <a:srgbClr val="F26B43"/>
          </p15:clr>
        </p15:guide>
        <p15:guide id="5" pos="7384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245">
          <p15:clr>
            <a:srgbClr val="F26B43"/>
          </p15:clr>
        </p15:guide>
        <p15:guide id="8" orient="horz" pos="4081">
          <p15:clr>
            <a:srgbClr val="F26B43"/>
          </p15:clr>
        </p15:guide>
        <p15:guide id="10" pos="4987">
          <p15:clr>
            <a:srgbClr val="F26B43"/>
          </p15:clr>
        </p15:guide>
        <p15:guide id="12" pos="1383">
          <p15:clr>
            <a:srgbClr val="F26B43"/>
          </p15:clr>
        </p15:guide>
        <p15:guide id="13" pos="1496">
          <p15:clr>
            <a:srgbClr val="F26B43"/>
          </p15:clr>
        </p15:guide>
        <p15:guide id="14" pos="2581">
          <p15:clr>
            <a:srgbClr val="F26B43"/>
          </p15:clr>
        </p15:guide>
        <p15:guide id="15" pos="2695">
          <p15:clr>
            <a:srgbClr val="F26B43"/>
          </p15:clr>
        </p15:guide>
        <p15:guide id="16" pos="6185">
          <p15:clr>
            <a:srgbClr val="F26B43"/>
          </p15:clr>
        </p15:guide>
        <p15:guide id="17" pos="3783">
          <p15:clr>
            <a:srgbClr val="F26B43"/>
          </p15:clr>
        </p15:guide>
        <p15:guide id="18" pos="3896">
          <p15:clr>
            <a:srgbClr val="F26B43"/>
          </p15:clr>
        </p15:guide>
        <p15:guide id="19" pos="3840">
          <p15:clr>
            <a:srgbClr val="F26B43"/>
          </p15:clr>
        </p15:guide>
        <p15:guide id="20" pos="6299">
          <p15:clr>
            <a:srgbClr val="F26B43"/>
          </p15:clr>
        </p15:guide>
        <p15:guide id="21" orient="horz" pos="1049">
          <p15:clr>
            <a:srgbClr val="F26B43"/>
          </p15:clr>
        </p15:guide>
        <p15:guide id="22" orient="horz" pos="641">
          <p15:clr>
            <a:srgbClr val="F26B43"/>
          </p15:clr>
        </p15:guide>
        <p15:guide id="23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8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0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4.png"/><Relationship Id="rId4" Type="http://schemas.openxmlformats.org/officeDocument/2006/relationships/image" Target="../media/image8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5.png"/><Relationship Id="rId4" Type="http://schemas.openxmlformats.org/officeDocument/2006/relationships/image" Target="../media/image8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7.png"/><Relationship Id="rId4" Type="http://schemas.openxmlformats.org/officeDocument/2006/relationships/image" Target="../media/image8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9.png"/><Relationship Id="rId4" Type="http://schemas.openxmlformats.org/officeDocument/2006/relationships/image" Target="../media/image8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9.png"/><Relationship Id="rId5" Type="http://schemas.openxmlformats.org/officeDocument/2006/relationships/image" Target="../media/image90.png"/><Relationship Id="rId4" Type="http://schemas.openxmlformats.org/officeDocument/2006/relationships/image" Target="../media/image8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9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9.png"/><Relationship Id="rId5" Type="http://schemas.openxmlformats.org/officeDocument/2006/relationships/image" Target="../media/image85.png"/><Relationship Id="rId4" Type="http://schemas.openxmlformats.org/officeDocument/2006/relationships/image" Target="../media/image8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9.png"/><Relationship Id="rId4" Type="http://schemas.openxmlformats.org/officeDocument/2006/relationships/image" Target="../media/image8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0.png"/><Relationship Id="rId4" Type="http://schemas.openxmlformats.org/officeDocument/2006/relationships/image" Target="../media/image8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2.png"/><Relationship Id="rId4" Type="http://schemas.openxmlformats.org/officeDocument/2006/relationships/image" Target="../media/image10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9.png"/><Relationship Id="rId4" Type="http://schemas.openxmlformats.org/officeDocument/2006/relationships/image" Target="../media/image10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9.png"/><Relationship Id="rId5" Type="http://schemas.openxmlformats.org/officeDocument/2006/relationships/image" Target="../media/image105.png"/><Relationship Id="rId4" Type="http://schemas.openxmlformats.org/officeDocument/2006/relationships/image" Target="../media/image82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9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09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9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9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9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9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9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9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9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9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9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9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9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9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9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9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9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3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9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9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9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9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7.png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9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9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3.png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9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6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8.png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0.png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0.png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3.png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9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6.png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3"/>
          <p:cNvSpPr>
            <a:spLocks noGrp="1"/>
          </p:cNvSpPr>
          <p:nvPr>
            <p:ph type="subTitle" idx="1"/>
          </p:nvPr>
        </p:nvSpPr>
        <p:spPr>
          <a:xfrm>
            <a:off x="291927" y="5775731"/>
            <a:ext cx="6507707" cy="769101"/>
          </a:xfrm>
        </p:spPr>
        <p:txBody>
          <a:bodyPr/>
          <a:lstStyle/>
          <a:p>
            <a:r>
              <a:rPr lang="en-US" altLang="zh-TW" sz="2400" b="1" dirty="0">
                <a:solidFill>
                  <a:srgbClr val="00ABAB"/>
                </a:solidFill>
                <a:latin typeface="+mj-ea"/>
                <a:ea typeface="+mj-ea"/>
              </a:rPr>
              <a:t>OOOO</a:t>
            </a:r>
            <a:r>
              <a:rPr lang="zh-TW" altLang="en-US" sz="2400" b="1" dirty="0">
                <a:solidFill>
                  <a:srgbClr val="00ABAB"/>
                </a:solidFill>
                <a:latin typeface="+mj-ea"/>
                <a:ea typeface="+mj-ea"/>
              </a:rPr>
              <a:t> </a:t>
            </a:r>
            <a:endParaRPr lang="en-US" altLang="zh-TW" sz="2400" b="1" dirty="0">
              <a:solidFill>
                <a:srgbClr val="00ABAB"/>
              </a:solidFill>
              <a:latin typeface="+mj-ea"/>
              <a:ea typeface="+mj-ea"/>
            </a:endParaRPr>
          </a:p>
          <a:p>
            <a:r>
              <a:rPr lang="zh-TW" altLang="en-US" sz="2400" b="1" dirty="0">
                <a:solidFill>
                  <a:srgbClr val="00ABAB"/>
                </a:solidFill>
                <a:latin typeface="+mj-ea"/>
                <a:ea typeface="+mj-ea"/>
              </a:rPr>
              <a:t>合約管理系統 </a:t>
            </a:r>
            <a:r>
              <a:rPr lang="en-US" altLang="zh-TW" sz="2400" b="1" dirty="0">
                <a:solidFill>
                  <a:srgbClr val="00ABAB"/>
                </a:solidFill>
                <a:latin typeface="+mj-ea"/>
                <a:ea typeface="+mj-ea"/>
              </a:rPr>
              <a:t>(</a:t>
            </a:r>
            <a:r>
              <a:rPr lang="zh-TW" altLang="en-US" sz="2400" b="1" dirty="0">
                <a:solidFill>
                  <a:srgbClr val="00ABAB"/>
                </a:solidFill>
                <a:latin typeface="+mj-ea"/>
                <a:ea typeface="+mj-ea"/>
              </a:rPr>
              <a:t>使用者</a:t>
            </a:r>
            <a:r>
              <a:rPr lang="en-US" altLang="zh-TW" sz="2400" b="1" dirty="0">
                <a:solidFill>
                  <a:srgbClr val="00ABAB"/>
                </a:solidFill>
                <a:latin typeface="+mj-ea"/>
                <a:ea typeface="+mj-ea"/>
              </a:rPr>
              <a:t>)</a:t>
            </a:r>
            <a:r>
              <a:rPr lang="zh-TW" altLang="en-US" sz="2400" b="1" dirty="0">
                <a:solidFill>
                  <a:srgbClr val="00ABAB"/>
                </a:solidFill>
                <a:latin typeface="+mj-ea"/>
                <a:ea typeface="+mj-ea"/>
              </a:rPr>
              <a:t>教育訓練 </a:t>
            </a:r>
            <a:r>
              <a:rPr lang="en-US" altLang="zh-TW" sz="2400" b="1" dirty="0">
                <a:solidFill>
                  <a:srgbClr val="00ABAB"/>
                </a:solidFill>
                <a:latin typeface="+mj-ea"/>
                <a:ea typeface="+mj-ea"/>
              </a:rPr>
              <a:t>2026/03/04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111CB65-EE17-437F-900D-996FA5056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15" y="132193"/>
            <a:ext cx="1713627" cy="68041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BF7D13D-7743-4F04-B931-712643282FD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740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13495" y="1107347"/>
            <a:ext cx="7975367" cy="448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5954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225790-396C-476A-8A07-26DC9770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62" y="282101"/>
            <a:ext cx="10418233" cy="661881"/>
          </a:xfrm>
        </p:spPr>
        <p:txBody>
          <a:bodyPr/>
          <a:lstStyle/>
          <a:p>
            <a:r>
              <a:rPr lang="zh-TW" altLang="en-US" dirty="0"/>
              <a:t>大綱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A9839A8-E2CC-4517-9C29-F9C299976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6883" y="1215566"/>
            <a:ext cx="10418233" cy="515565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</a:t>
            </a:r>
            <a:r>
              <a:rPr lang="en-US" altLang="zh-TW" sz="2800" b="1" dirty="0">
                <a:latin typeface="微軟正黑體" panose="020B0604030504040204" pitchFamily="34" charset="-120"/>
              </a:rPr>
              <a:t>【</a:t>
            </a:r>
            <a:r>
              <a:rPr lang="zh-TW" altLang="en-US" sz="2800" b="1" dirty="0">
                <a:latin typeface="微軟正黑體" panose="020B0604030504040204" pitchFamily="34" charset="-120"/>
              </a:rPr>
              <a:t>使用者</a:t>
            </a:r>
            <a:r>
              <a:rPr lang="en-US" altLang="zh-TW" sz="2800" b="1" dirty="0">
                <a:latin typeface="微軟正黑體" panose="020B0604030504040204" pitchFamily="34" charset="-120"/>
              </a:rPr>
              <a:t>】</a:t>
            </a:r>
            <a:r>
              <a:rPr lang="zh-TW" altLang="en-US" sz="2800" b="1" dirty="0">
                <a:latin typeface="微軟正黑體" panose="020B0604030504040204" pitchFamily="34" charset="-120"/>
              </a:rPr>
              <a:t>系統功能架構說明</a:t>
            </a:r>
            <a:endParaRPr lang="en-US" altLang="zh-TW" sz="2800" b="1" dirty="0">
              <a:latin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1" dirty="0">
                <a:latin typeface="微軟正黑體" panose="020B0604030504040204" pitchFamily="34" charset="-120"/>
              </a:rPr>
              <a:t>二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 系統功能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操作說明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1" dirty="0"/>
              <a:t>三、 常用系統功能 </a:t>
            </a:r>
            <a:r>
              <a:rPr lang="en-US" altLang="zh-TW" sz="2800" b="1" dirty="0"/>
              <a:t>- </a:t>
            </a:r>
            <a:r>
              <a:rPr lang="zh-TW" altLang="en-US" sz="2800" b="1" dirty="0"/>
              <a:t>實機操作</a:t>
            </a:r>
            <a:endParaRPr lang="en-US" altLang="zh-TW" sz="2800" b="1" dirty="0"/>
          </a:p>
          <a:p>
            <a:pPr>
              <a:lnSpc>
                <a:spcPct val="150000"/>
              </a:lnSpc>
            </a:pPr>
            <a:r>
              <a:rPr lang="zh-TW" altLang="en-US" sz="2800" b="1" dirty="0">
                <a:latin typeface="微軟正黑體" panose="020B0604030504040204" pitchFamily="34" charset="-120"/>
              </a:rPr>
              <a:t>四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 &amp; A</a:t>
            </a:r>
          </a:p>
          <a:p>
            <a:pPr>
              <a:lnSpc>
                <a:spcPct val="150000"/>
              </a:lnSpc>
            </a:pP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402004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A9922-1A61-2CE4-6D29-B7E23A0B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E833D1-EFC4-4DEC-8844-F5557B67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13" y="3105455"/>
            <a:ext cx="8861862" cy="647089"/>
          </a:xfrm>
        </p:spPr>
        <p:txBody>
          <a:bodyPr/>
          <a:lstStyle/>
          <a:p>
            <a:r>
              <a:rPr lang="zh-TW" altLang="en-US" sz="4400" dirty="0"/>
              <a:t>一、</a:t>
            </a:r>
            <a:r>
              <a:rPr lang="en-US" altLang="zh-TW" sz="4400" dirty="0"/>
              <a:t>【</a:t>
            </a:r>
            <a:r>
              <a:rPr lang="zh-TW" altLang="en-US" sz="4400" dirty="0"/>
              <a:t>使用者</a:t>
            </a:r>
            <a:r>
              <a:rPr lang="en-US" altLang="zh-TW" sz="4400" dirty="0"/>
              <a:t>】</a:t>
            </a:r>
            <a:r>
              <a:rPr lang="zh-TW" altLang="en-US" sz="4400" dirty="0"/>
              <a:t>系統功能架構說明</a:t>
            </a:r>
            <a:endParaRPr lang="zh-TW" altLang="en-US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40459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93EC1D-ADCF-4A98-9572-EC582E9A97C3}" type="slidenum">
              <a:rPr lang="zh-TW" alt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4" name="標題 13">
            <a:extLst>
              <a:ext uri="{FF2B5EF4-FFF2-40B4-BE49-F238E27FC236}">
                <a16:creationId xmlns:a16="http://schemas.microsoft.com/office/drawing/2014/main" id="{33C507F1-505A-EB3D-AF13-CD7302ADE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02593"/>
            <a:ext cx="11252200" cy="385592"/>
          </a:xfrm>
        </p:spPr>
        <p:txBody>
          <a:bodyPr/>
          <a:lstStyle/>
          <a:p>
            <a:r>
              <a:rPr lang="zh-TW" altLang="en-US" sz="2400" b="1" dirty="0">
                <a:solidFill>
                  <a:srgbClr val="58B6C0"/>
                </a:solidFill>
              </a:rPr>
              <a:t>一、</a:t>
            </a:r>
            <a:r>
              <a:rPr lang="en-US" altLang="zh-TW" sz="2400" b="1" dirty="0">
                <a:solidFill>
                  <a:srgbClr val="58B6C0"/>
                </a:solidFill>
              </a:rPr>
              <a:t>【</a:t>
            </a:r>
            <a:r>
              <a:rPr lang="zh-TW" altLang="en-US" sz="2400" b="1" dirty="0">
                <a:solidFill>
                  <a:srgbClr val="58B6C0"/>
                </a:solidFill>
              </a:rPr>
              <a:t>使用者</a:t>
            </a:r>
            <a:r>
              <a:rPr lang="en-US" altLang="zh-TW" sz="2400" b="1" dirty="0">
                <a:solidFill>
                  <a:srgbClr val="58B6C0"/>
                </a:solidFill>
              </a:rPr>
              <a:t>】</a:t>
            </a:r>
            <a:r>
              <a:rPr lang="zh-TW" altLang="en-US" sz="2400" b="1" dirty="0">
                <a:solidFill>
                  <a:srgbClr val="58B6C0"/>
                </a:solidFill>
              </a:rPr>
              <a:t>系統功能架構說明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8172F8B8-F1DC-F85C-E3DA-7A6F5166FCE3}"/>
              </a:ext>
            </a:extLst>
          </p:cNvPr>
          <p:cNvSpPr/>
          <p:nvPr/>
        </p:nvSpPr>
        <p:spPr bwMode="gray">
          <a:xfrm>
            <a:off x="385126" y="1178696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2000" b="1" dirty="0">
                <a:solidFill>
                  <a:schemeClr val="bg1"/>
                </a:solidFill>
              </a:rPr>
              <a:t>1. </a:t>
            </a:r>
            <a:r>
              <a:rPr lang="zh-TW" altLang="en-US" sz="2000" b="1" dirty="0">
                <a:solidFill>
                  <a:schemeClr val="bg1"/>
                </a:solidFill>
              </a:rPr>
              <a:t>首頁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14EE7D6-5424-5F77-38F0-27CAEACAAF31}"/>
              </a:ext>
            </a:extLst>
          </p:cNvPr>
          <p:cNvSpPr/>
          <p:nvPr/>
        </p:nvSpPr>
        <p:spPr bwMode="gray">
          <a:xfrm>
            <a:off x="385126" y="1873020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2. </a:t>
            </a:r>
            <a:r>
              <a:rPr lang="zh-TW" altLang="en-US" sz="2000" b="1" dirty="0">
                <a:solidFill>
                  <a:schemeClr val="bg1"/>
                </a:solidFill>
              </a:rPr>
              <a:t>合約起案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701D66-499F-E2B2-D823-BD6C5B5D54BA}"/>
              </a:ext>
            </a:extLst>
          </p:cNvPr>
          <p:cNvSpPr/>
          <p:nvPr/>
        </p:nvSpPr>
        <p:spPr bwMode="gray">
          <a:xfrm>
            <a:off x="555163" y="244474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>
                <a:solidFill>
                  <a:srgbClr val="191919"/>
                </a:solidFill>
              </a:rPr>
              <a:t>2.1 </a:t>
            </a:r>
            <a:r>
              <a:rPr lang="zh-TW" altLang="en-US" sz="1600" b="1" dirty="0">
                <a:solidFill>
                  <a:srgbClr val="191919"/>
                </a:solidFill>
              </a:rPr>
              <a:t>申請合約審閱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D17165-536E-7E8A-BE26-91C5CE44BB88}"/>
              </a:ext>
            </a:extLst>
          </p:cNvPr>
          <p:cNvSpPr/>
          <p:nvPr/>
        </p:nvSpPr>
        <p:spPr bwMode="gray">
          <a:xfrm>
            <a:off x="555162" y="2946584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>
                <a:solidFill>
                  <a:srgbClr val="191919"/>
                </a:solidFill>
              </a:rPr>
              <a:t>2.2 </a:t>
            </a:r>
            <a:r>
              <a:rPr lang="zh-TW" altLang="en-US" sz="1600" b="1" dirty="0">
                <a:solidFill>
                  <a:srgbClr val="191919"/>
                </a:solidFill>
              </a:rPr>
              <a:t>草稿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C1002BD-7C19-4F5D-CEC0-AD55C7388F29}"/>
              </a:ext>
            </a:extLst>
          </p:cNvPr>
          <p:cNvSpPr/>
          <p:nvPr/>
        </p:nvSpPr>
        <p:spPr bwMode="gray">
          <a:xfrm>
            <a:off x="4270290" y="1169161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4. </a:t>
            </a:r>
            <a:r>
              <a:rPr lang="zh-TW" altLang="en-US" sz="2000" b="1" dirty="0">
                <a:solidFill>
                  <a:schemeClr val="bg1"/>
                </a:solidFill>
              </a:rPr>
              <a:t>合約查詢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C59695-B919-4CA7-B0F5-9BF43CC4299A}"/>
              </a:ext>
            </a:extLst>
          </p:cNvPr>
          <p:cNvSpPr/>
          <p:nvPr/>
        </p:nvSpPr>
        <p:spPr bwMode="gray">
          <a:xfrm>
            <a:off x="4408514" y="171161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>
                <a:solidFill>
                  <a:srgbClr val="191919"/>
                </a:solidFill>
              </a:rPr>
              <a:t>4.1 </a:t>
            </a:r>
            <a:r>
              <a:rPr lang="zh-TW" altLang="en-US" sz="1600" b="1" dirty="0">
                <a:solidFill>
                  <a:srgbClr val="191919"/>
                </a:solidFill>
              </a:rPr>
              <a:t>合約審閱進度查詢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912897-1E35-6011-0820-BD155177C850}"/>
              </a:ext>
            </a:extLst>
          </p:cNvPr>
          <p:cNvSpPr/>
          <p:nvPr/>
        </p:nvSpPr>
        <p:spPr bwMode="gray">
          <a:xfrm>
            <a:off x="4418040" y="2238308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4.2 </a:t>
            </a:r>
            <a:r>
              <a:rPr lang="zh-TW" altLang="en-US" sz="1600" b="1" dirty="0"/>
              <a:t>已歸檔合約查詢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含撤回</a:t>
            </a:r>
            <a:r>
              <a:rPr lang="en-US" altLang="zh-TW" sz="1600" b="1" dirty="0"/>
              <a:t>/</a:t>
            </a:r>
            <a:r>
              <a:rPr lang="zh-TW" altLang="en-US" sz="1600" b="1" dirty="0"/>
              <a:t>作廢</a:t>
            </a:r>
            <a:r>
              <a:rPr lang="en-US" altLang="zh-TW" sz="1600" b="1" dirty="0"/>
              <a:t>)</a:t>
            </a:r>
            <a:endParaRPr lang="zh-TW" altLang="en-US" sz="1600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19DC29-159F-B276-1E82-CCF814C3EB7B}"/>
              </a:ext>
            </a:extLst>
          </p:cNvPr>
          <p:cNvSpPr/>
          <p:nvPr/>
        </p:nvSpPr>
        <p:spPr bwMode="gray">
          <a:xfrm>
            <a:off x="4408513" y="2758435"/>
            <a:ext cx="3264195" cy="5703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4.3 </a:t>
            </a:r>
            <a:r>
              <a:rPr lang="zh-TW" altLang="en-US" sz="1600" b="1" dirty="0"/>
              <a:t>紙本借閱暨電子閱覽</a:t>
            </a:r>
            <a:endParaRPr lang="en-US" altLang="zh-TW" sz="1600" b="1" dirty="0"/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TW" altLang="en-US" sz="1600" b="1" dirty="0"/>
              <a:t>申請進度查詢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6672B0E-7187-E4AB-B7CD-0868932482E3}"/>
              </a:ext>
            </a:extLst>
          </p:cNvPr>
          <p:cNvSpPr/>
          <p:nvPr/>
        </p:nvSpPr>
        <p:spPr bwMode="gray">
          <a:xfrm>
            <a:off x="4270290" y="3479611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5. </a:t>
            </a:r>
            <a:r>
              <a:rPr lang="zh-TW" altLang="en-US" sz="2000" b="1" dirty="0">
                <a:solidFill>
                  <a:schemeClr val="bg1"/>
                </a:solidFill>
              </a:rPr>
              <a:t>比對模組</a:t>
            </a:r>
            <a:endParaRPr lang="en-US" altLang="zh-TW" sz="2000" b="1" dirty="0">
              <a:solidFill>
                <a:schemeClr val="bg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D79032-B971-4054-41CE-374499599239}"/>
              </a:ext>
            </a:extLst>
          </p:cNvPr>
          <p:cNvSpPr/>
          <p:nvPr/>
        </p:nvSpPr>
        <p:spPr bwMode="gray">
          <a:xfrm>
            <a:off x="4418040" y="402462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5.1 </a:t>
            </a:r>
            <a:r>
              <a:rPr lang="zh-TW" altLang="en-US" sz="1600" b="1" dirty="0"/>
              <a:t>合約比對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檔案</a:t>
            </a:r>
            <a:r>
              <a:rPr lang="en-US" altLang="zh-TW" sz="1600" b="1" dirty="0"/>
              <a:t>)</a:t>
            </a:r>
            <a:endParaRPr lang="zh-TW" altLang="en-US" sz="1600" b="1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536E41-B027-44DF-DE3F-768D4D4F2661}"/>
              </a:ext>
            </a:extLst>
          </p:cNvPr>
          <p:cNvSpPr/>
          <p:nvPr/>
        </p:nvSpPr>
        <p:spPr bwMode="gray">
          <a:xfrm>
            <a:off x="4418040" y="456453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5.2 </a:t>
            </a:r>
            <a:r>
              <a:rPr lang="zh-TW" altLang="en-US" sz="1600" b="1" dirty="0"/>
              <a:t>合約比對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文字</a:t>
            </a:r>
            <a:r>
              <a:rPr lang="en-US" altLang="zh-TW" sz="1600" b="1" dirty="0"/>
              <a:t>)</a:t>
            </a:r>
            <a:endParaRPr lang="zh-TW" altLang="en-US" sz="1600" b="1" dirty="0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D2D0114-6B0D-0131-0F7C-BB9C83E014D9}"/>
              </a:ext>
            </a:extLst>
          </p:cNvPr>
          <p:cNvSpPr/>
          <p:nvPr/>
        </p:nvSpPr>
        <p:spPr bwMode="gray">
          <a:xfrm>
            <a:off x="8174505" y="1169161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7. </a:t>
            </a:r>
            <a:r>
              <a:rPr lang="zh-TW" altLang="en-US" sz="2000" b="1" dirty="0">
                <a:solidFill>
                  <a:schemeClr val="bg1"/>
                </a:solidFill>
              </a:rPr>
              <a:t>批次移轉</a:t>
            </a:r>
            <a:r>
              <a:rPr lang="en-US" altLang="zh-TW" sz="2000" b="1" dirty="0">
                <a:solidFill>
                  <a:schemeClr val="bg1"/>
                </a:solidFill>
              </a:rPr>
              <a:t>/</a:t>
            </a:r>
            <a:r>
              <a:rPr lang="zh-TW" altLang="en-US" sz="2000" b="1" dirty="0">
                <a:solidFill>
                  <a:schemeClr val="bg1"/>
                </a:solidFill>
              </a:rPr>
              <a:t>代理人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C326EF-9084-592A-444D-BFB2D1FC4C43}"/>
              </a:ext>
            </a:extLst>
          </p:cNvPr>
          <p:cNvSpPr/>
          <p:nvPr/>
        </p:nvSpPr>
        <p:spPr bwMode="gray">
          <a:xfrm>
            <a:off x="8280992" y="1708727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7.1 </a:t>
            </a:r>
            <a:r>
              <a:rPr lang="zh-TW" altLang="en-US" sz="1600" b="1" dirty="0"/>
              <a:t>批次移轉</a:t>
            </a:r>
            <a:r>
              <a:rPr lang="en-US" altLang="zh-TW" sz="1600" b="1" dirty="0"/>
              <a:t>-</a:t>
            </a:r>
            <a:r>
              <a:rPr lang="zh-TW" altLang="en-US" sz="1600" b="1" dirty="0"/>
              <a:t>合約擁有者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DADFA2-2DF8-5722-A5B4-CA09E3A6ECD2}"/>
              </a:ext>
            </a:extLst>
          </p:cNvPr>
          <p:cNvSpPr/>
          <p:nvPr/>
        </p:nvSpPr>
        <p:spPr bwMode="gray">
          <a:xfrm>
            <a:off x="8280992" y="2236824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7.2 </a:t>
            </a:r>
            <a:r>
              <a:rPr lang="zh-TW" altLang="en-US" sz="1600" b="1" dirty="0"/>
              <a:t>批次移轉</a:t>
            </a:r>
            <a:r>
              <a:rPr lang="en-US" altLang="zh-TW" sz="1600" b="1" dirty="0"/>
              <a:t>-</a:t>
            </a:r>
            <a:r>
              <a:rPr lang="zh-TW" altLang="en-US" sz="1600" b="1" dirty="0"/>
              <a:t>審核者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1555C89-BBFA-4DAD-E59A-956551CBD5C8}"/>
              </a:ext>
            </a:extLst>
          </p:cNvPr>
          <p:cNvSpPr/>
          <p:nvPr/>
        </p:nvSpPr>
        <p:spPr bwMode="gray">
          <a:xfrm>
            <a:off x="4408513" y="5693277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6.1 </a:t>
            </a:r>
            <a:r>
              <a:rPr lang="zh-TW" altLang="en-US" sz="1600" b="1" dirty="0"/>
              <a:t>提醒設定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28A6A74-30B2-27AE-1CBF-56E09EE1630F}"/>
              </a:ext>
            </a:extLst>
          </p:cNvPr>
          <p:cNvSpPr/>
          <p:nvPr/>
        </p:nvSpPr>
        <p:spPr bwMode="gray">
          <a:xfrm>
            <a:off x="4270290" y="5121485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6. </a:t>
            </a:r>
            <a:r>
              <a:rPr lang="zh-TW" altLang="en-US" sz="2000" b="1" dirty="0">
                <a:solidFill>
                  <a:schemeClr val="bg1"/>
                </a:solidFill>
              </a:rPr>
              <a:t>履約管理 </a:t>
            </a: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2008B7FA-F408-8A5E-FFF8-1C7BB25789D7}"/>
              </a:ext>
            </a:extLst>
          </p:cNvPr>
          <p:cNvSpPr/>
          <p:nvPr/>
        </p:nvSpPr>
        <p:spPr bwMode="gray">
          <a:xfrm>
            <a:off x="11114119" y="1718324"/>
            <a:ext cx="833388" cy="385591"/>
          </a:xfrm>
          <a:prstGeom prst="ellipse">
            <a:avLst/>
          </a:prstGeom>
          <a:solidFill>
            <a:srgbClr val="00B050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主管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B89D3423-2A84-1973-E756-EABD9D856748}"/>
              </a:ext>
            </a:extLst>
          </p:cNvPr>
          <p:cNvSpPr/>
          <p:nvPr/>
        </p:nvSpPr>
        <p:spPr bwMode="gray">
          <a:xfrm>
            <a:off x="416939" y="3591187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3. </a:t>
            </a:r>
            <a:r>
              <a:rPr lang="zh-TW" altLang="en-US" sz="2000" b="1" dirty="0">
                <a:solidFill>
                  <a:schemeClr val="bg1"/>
                </a:solidFill>
              </a:rPr>
              <a:t>我的案件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482E250-A30C-FB6B-5C17-2FF294B6CBEF}"/>
              </a:ext>
            </a:extLst>
          </p:cNvPr>
          <p:cNvSpPr/>
          <p:nvPr/>
        </p:nvSpPr>
        <p:spPr bwMode="gray">
          <a:xfrm>
            <a:off x="555163" y="413363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3.1 </a:t>
            </a:r>
            <a:r>
              <a:rPr lang="zh-TW" altLang="en-US" sz="1600" b="1" dirty="0"/>
              <a:t>送審清單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E16300-E3FA-C720-B8E1-1F89026B4A1E}"/>
              </a:ext>
            </a:extLst>
          </p:cNvPr>
          <p:cNvSpPr/>
          <p:nvPr/>
        </p:nvSpPr>
        <p:spPr bwMode="gray">
          <a:xfrm>
            <a:off x="564689" y="4660334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3.2 </a:t>
            </a:r>
            <a:r>
              <a:rPr lang="zh-TW" altLang="en-US" sz="1600" b="1" dirty="0"/>
              <a:t>待審清單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BAF91FC-2EFA-E85A-FE5D-FDD8D09BA523}"/>
              </a:ext>
            </a:extLst>
          </p:cNvPr>
          <p:cNvSpPr/>
          <p:nvPr/>
        </p:nvSpPr>
        <p:spPr bwMode="gray">
          <a:xfrm>
            <a:off x="555162" y="5218561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3.3 </a:t>
            </a:r>
            <a:r>
              <a:rPr lang="zh-TW" altLang="en-US" sz="1600" b="1" dirty="0"/>
              <a:t>審核記錄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16CD988-19FC-1832-5898-465013787BC7}"/>
              </a:ext>
            </a:extLst>
          </p:cNvPr>
          <p:cNvSpPr/>
          <p:nvPr/>
        </p:nvSpPr>
        <p:spPr bwMode="gray">
          <a:xfrm>
            <a:off x="4408513" y="6223285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6.2 </a:t>
            </a:r>
            <a:r>
              <a:rPr lang="zh-TW" altLang="en-US" sz="1600" b="1" dirty="0"/>
              <a:t>履約記錄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90AC937-94F3-983B-0129-8C2BEF8B239A}"/>
              </a:ext>
            </a:extLst>
          </p:cNvPr>
          <p:cNvSpPr/>
          <p:nvPr/>
        </p:nvSpPr>
        <p:spPr bwMode="gray">
          <a:xfrm>
            <a:off x="8280992" y="2764921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7.3 </a:t>
            </a:r>
            <a:r>
              <a:rPr lang="zh-TW" altLang="en-US" sz="1600" b="1" dirty="0"/>
              <a:t>代理人設定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D5C9435-F94F-0349-B4FB-B19CCCAFEE9F}"/>
              </a:ext>
            </a:extLst>
          </p:cNvPr>
          <p:cNvSpPr/>
          <p:nvPr/>
        </p:nvSpPr>
        <p:spPr bwMode="gray">
          <a:xfrm>
            <a:off x="8280913" y="3266546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7.4 </a:t>
            </a:r>
            <a:r>
              <a:rPr lang="zh-TW" altLang="en-US" sz="1600" b="1" dirty="0"/>
              <a:t>代理人查詢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979946C9-AEDE-8D89-582A-BFEDA3A13C47}"/>
              </a:ext>
            </a:extLst>
          </p:cNvPr>
          <p:cNvSpPr/>
          <p:nvPr/>
        </p:nvSpPr>
        <p:spPr bwMode="gray">
          <a:xfrm>
            <a:off x="8152216" y="3860828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8. OCR</a:t>
            </a:r>
            <a:r>
              <a:rPr lang="zh-TW" altLang="en-US" sz="2000" b="1" dirty="0">
                <a:solidFill>
                  <a:schemeClr val="bg1"/>
                </a:solidFill>
              </a:rPr>
              <a:t>管理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F3D0EA5-7627-53A9-62D0-A2485906BDFF}"/>
              </a:ext>
            </a:extLst>
          </p:cNvPr>
          <p:cNvSpPr/>
          <p:nvPr/>
        </p:nvSpPr>
        <p:spPr bwMode="gray">
          <a:xfrm>
            <a:off x="8290440" y="440328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8.1 OCR</a:t>
            </a:r>
            <a:r>
              <a:rPr lang="zh-TW" altLang="en-US" sz="1600" b="1" dirty="0"/>
              <a:t>轉檔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8CF73C1-EA94-2DAA-63B8-2BC10CF9D50B}"/>
              </a:ext>
            </a:extLst>
          </p:cNvPr>
          <p:cNvSpPr/>
          <p:nvPr/>
        </p:nvSpPr>
        <p:spPr bwMode="gray">
          <a:xfrm>
            <a:off x="8299966" y="4929975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8.2 </a:t>
            </a:r>
            <a:r>
              <a:rPr lang="zh-TW" altLang="en-US" sz="1600" b="1" dirty="0"/>
              <a:t>文字校正設定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0FC1097-4768-60F1-D858-3742737B97C5}"/>
              </a:ext>
            </a:extLst>
          </p:cNvPr>
          <p:cNvSpPr/>
          <p:nvPr/>
        </p:nvSpPr>
        <p:spPr bwMode="gray">
          <a:xfrm>
            <a:off x="8290439" y="5469152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8.3 </a:t>
            </a:r>
            <a:r>
              <a:rPr lang="zh-TW" altLang="en-US" sz="1600" b="1" dirty="0"/>
              <a:t>轉檔記錄</a:t>
            </a: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F8B52EDD-2B4B-DBED-C2E7-DB3D14609E2B}"/>
              </a:ext>
            </a:extLst>
          </p:cNvPr>
          <p:cNvSpPr/>
          <p:nvPr/>
        </p:nvSpPr>
        <p:spPr bwMode="gray">
          <a:xfrm>
            <a:off x="11114119" y="2256269"/>
            <a:ext cx="833388" cy="385591"/>
          </a:xfrm>
          <a:prstGeom prst="ellipse">
            <a:avLst/>
          </a:prstGeom>
          <a:solidFill>
            <a:srgbClr val="00B050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主管</a:t>
            </a: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364FB829-8E91-30CB-8377-D97C6FAAA6D6}"/>
              </a:ext>
            </a:extLst>
          </p:cNvPr>
          <p:cNvSpPr/>
          <p:nvPr/>
        </p:nvSpPr>
        <p:spPr bwMode="gray">
          <a:xfrm>
            <a:off x="11128414" y="3280556"/>
            <a:ext cx="833388" cy="385591"/>
          </a:xfrm>
          <a:prstGeom prst="ellipse">
            <a:avLst/>
          </a:prstGeom>
          <a:solidFill>
            <a:srgbClr val="00B050"/>
          </a:solidFill>
          <a:ln w="3175" algn="ctr">
            <a:solidFill>
              <a:srgbClr val="86BC25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主管</a:t>
            </a:r>
          </a:p>
        </p:txBody>
      </p:sp>
    </p:spTree>
    <p:extLst>
      <p:ext uri="{BB962C8B-B14F-4D97-AF65-F5344CB8AC3E}">
        <p14:creationId xmlns:p14="http://schemas.microsoft.com/office/powerpoint/2010/main" val="2432062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8333D-B3B2-6FF1-CAD1-383E61E1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468F8A6-B0FE-5C83-E755-51877745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93EC1D-ADCF-4A98-9572-EC582E9A97C3}" type="slidenum">
              <a:rPr lang="zh-TW" alt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4" name="標題 13">
            <a:extLst>
              <a:ext uri="{FF2B5EF4-FFF2-40B4-BE49-F238E27FC236}">
                <a16:creationId xmlns:a16="http://schemas.microsoft.com/office/drawing/2014/main" id="{64C5E049-9E03-7AB8-8B51-B36FFD38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02593"/>
            <a:ext cx="11252200" cy="385592"/>
          </a:xfrm>
        </p:spPr>
        <p:txBody>
          <a:bodyPr/>
          <a:lstStyle/>
          <a:p>
            <a:r>
              <a:rPr lang="zh-TW" altLang="en-US" sz="2400" b="1" dirty="0">
                <a:solidFill>
                  <a:srgbClr val="58B6C0"/>
                </a:solidFill>
              </a:rPr>
              <a:t>一、</a:t>
            </a:r>
            <a:r>
              <a:rPr lang="en-US" altLang="zh-TW" sz="2400" b="1" dirty="0">
                <a:solidFill>
                  <a:srgbClr val="58B6C0"/>
                </a:solidFill>
              </a:rPr>
              <a:t>【</a:t>
            </a:r>
            <a:r>
              <a:rPr lang="zh-TW" altLang="en-US" sz="2400" b="1" dirty="0">
                <a:solidFill>
                  <a:srgbClr val="58B6C0"/>
                </a:solidFill>
              </a:rPr>
              <a:t>使用者</a:t>
            </a:r>
            <a:r>
              <a:rPr lang="en-US" altLang="zh-TW" sz="2400" b="1" dirty="0">
                <a:solidFill>
                  <a:srgbClr val="58B6C0"/>
                </a:solidFill>
              </a:rPr>
              <a:t>】</a:t>
            </a:r>
            <a:r>
              <a:rPr lang="zh-TW" altLang="en-US" sz="2400" b="1" dirty="0">
                <a:solidFill>
                  <a:srgbClr val="58B6C0"/>
                </a:solidFill>
              </a:rPr>
              <a:t>系統功能架構說明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3393E6D-94B6-220E-68E7-06CF2E64C7A3}"/>
              </a:ext>
            </a:extLst>
          </p:cNvPr>
          <p:cNvSpPr/>
          <p:nvPr/>
        </p:nvSpPr>
        <p:spPr bwMode="gray">
          <a:xfrm>
            <a:off x="394652" y="1223557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9. </a:t>
            </a:r>
            <a:r>
              <a:rPr lang="zh-TW" altLang="en-US" sz="2000" b="1" dirty="0">
                <a:solidFill>
                  <a:schemeClr val="bg1"/>
                </a:solidFill>
              </a:rPr>
              <a:t>報表管理 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980AD6-31C3-FF87-524E-0790384D85B5}"/>
              </a:ext>
            </a:extLst>
          </p:cNvPr>
          <p:cNvSpPr/>
          <p:nvPr/>
        </p:nvSpPr>
        <p:spPr bwMode="gray">
          <a:xfrm>
            <a:off x="564689" y="179528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9.1 </a:t>
            </a:r>
            <a:r>
              <a:rPr lang="zh-TW" altLang="en-US" sz="1600" b="1" dirty="0"/>
              <a:t>紙本借閱申請統計表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ED1E72-3E50-A901-54BD-3AD3B3637738}"/>
              </a:ext>
            </a:extLst>
          </p:cNvPr>
          <p:cNvSpPr/>
          <p:nvPr/>
        </p:nvSpPr>
        <p:spPr bwMode="gray">
          <a:xfrm>
            <a:off x="564688" y="2287596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9.2 </a:t>
            </a:r>
            <a:r>
              <a:rPr lang="zh-TW" altLang="en-US" sz="1600" b="1" dirty="0"/>
              <a:t>履約管理報表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E0CA49CF-54AE-B6D1-5D0E-F17DEB5FED9F}"/>
              </a:ext>
            </a:extLst>
          </p:cNvPr>
          <p:cNvSpPr/>
          <p:nvPr/>
        </p:nvSpPr>
        <p:spPr bwMode="gray">
          <a:xfrm>
            <a:off x="394652" y="3462961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10. </a:t>
            </a:r>
            <a:r>
              <a:rPr lang="zh-TW" altLang="en-US" sz="2000" b="1" dirty="0">
                <a:solidFill>
                  <a:schemeClr val="bg1"/>
                </a:solidFill>
              </a:rPr>
              <a:t>合約／法律文件範本管理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BD6AB4-6EBA-0796-F664-420658231D12}"/>
              </a:ext>
            </a:extLst>
          </p:cNvPr>
          <p:cNvSpPr/>
          <p:nvPr/>
        </p:nvSpPr>
        <p:spPr bwMode="gray">
          <a:xfrm>
            <a:off x="532876" y="400541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10.1 </a:t>
            </a:r>
            <a:r>
              <a:rPr lang="zh-TW" altLang="en-US" sz="1600" b="1" dirty="0"/>
              <a:t>合約／法律文件範本查詢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9E00703-8B22-01C9-88C6-8C6BEBDA4194}"/>
              </a:ext>
            </a:extLst>
          </p:cNvPr>
          <p:cNvSpPr/>
          <p:nvPr/>
        </p:nvSpPr>
        <p:spPr bwMode="gray">
          <a:xfrm>
            <a:off x="542402" y="452258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10.2 </a:t>
            </a:r>
            <a:r>
              <a:rPr lang="zh-TW" altLang="en-US" sz="1600" b="1" dirty="0"/>
              <a:t>我的範本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7D2EB8-F2A0-8849-969B-E508BFE6A1C1}"/>
              </a:ext>
            </a:extLst>
          </p:cNvPr>
          <p:cNvSpPr/>
          <p:nvPr/>
        </p:nvSpPr>
        <p:spPr bwMode="gray">
          <a:xfrm>
            <a:off x="564688" y="2779912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9.2 </a:t>
            </a:r>
            <a:r>
              <a:rPr lang="zh-TW" altLang="en-US" sz="1600" b="1" dirty="0"/>
              <a:t>履約績效報表</a:t>
            </a:r>
          </a:p>
        </p:txBody>
      </p:sp>
    </p:spTree>
    <p:extLst>
      <p:ext uri="{BB962C8B-B14F-4D97-AF65-F5344CB8AC3E}">
        <p14:creationId xmlns:p14="http://schemas.microsoft.com/office/powerpoint/2010/main" val="3887950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4A935-AF6E-0C49-D92A-E8FFF067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229E7B-CF6A-4232-7347-3F33388B2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13" y="3105455"/>
            <a:ext cx="8861862" cy="647089"/>
          </a:xfrm>
        </p:spPr>
        <p:txBody>
          <a:bodyPr/>
          <a:lstStyle/>
          <a:p>
            <a:r>
              <a:rPr lang="zh-TW" altLang="en-US" sz="4400" dirty="0"/>
              <a:t>二、 系統功能 </a:t>
            </a:r>
            <a:r>
              <a:rPr lang="en-US" altLang="zh-TW" sz="4400" dirty="0"/>
              <a:t>- </a:t>
            </a:r>
            <a:r>
              <a:rPr lang="zh-TW" altLang="en-US" sz="4400" dirty="0">
                <a:solidFill>
                  <a:srgbClr val="FFFF00"/>
                </a:solidFill>
              </a:rPr>
              <a:t>操作說明</a:t>
            </a:r>
          </a:p>
        </p:txBody>
      </p:sp>
    </p:spTree>
    <p:extLst>
      <p:ext uri="{BB962C8B-B14F-4D97-AF65-F5344CB8AC3E}">
        <p14:creationId xmlns:p14="http://schemas.microsoft.com/office/powerpoint/2010/main" val="40329639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EB9BFF2-C29D-F1FC-7AFD-2CEE50DD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4000" dirty="0"/>
              <a:t>1. </a:t>
            </a:r>
            <a:r>
              <a:rPr lang="zh-TW" altLang="en-US" sz="4000" dirty="0"/>
              <a:t>首頁 </a:t>
            </a:r>
            <a:r>
              <a:rPr lang="en-US" altLang="zh-TW" sz="44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55730142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009D-621A-C06C-921B-73993E2B1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CBB38F1-AF22-DB5C-1239-A2344C9E0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99" y="1505618"/>
            <a:ext cx="11528001" cy="443244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E1D1954-C1A4-1EC1-E768-7F3D8C1B4BAA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1. 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首頁</a:t>
            </a:r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901F81AC-B5F4-1C9A-2A2B-94FE1F299BFD}"/>
              </a:ext>
            </a:extLst>
          </p:cNvPr>
          <p:cNvSpPr/>
          <p:nvPr/>
        </p:nvSpPr>
        <p:spPr bwMode="gray">
          <a:xfrm>
            <a:off x="7394149" y="630337"/>
            <a:ext cx="1830096" cy="551729"/>
          </a:xfrm>
          <a:prstGeom prst="wedgeRoundRectCallout">
            <a:avLst>
              <a:gd name="adj1" fmla="val 21090"/>
              <a:gd name="adj2" fmla="val 10068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使用者資訊</a:t>
            </a:r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B4EA8993-B97B-F637-1E1A-C15984115388}"/>
              </a:ext>
            </a:extLst>
          </p:cNvPr>
          <p:cNvSpPr/>
          <p:nvPr/>
        </p:nvSpPr>
        <p:spPr bwMode="gray">
          <a:xfrm>
            <a:off x="4923434" y="919938"/>
            <a:ext cx="1172565" cy="551729"/>
          </a:xfrm>
          <a:prstGeom prst="wedgeRoundRectCallout">
            <a:avLst>
              <a:gd name="adj1" fmla="val 81588"/>
              <a:gd name="adj2" fmla="val 14002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工作區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3221A17-517D-9978-516A-294644C0AA3A}"/>
              </a:ext>
            </a:extLst>
          </p:cNvPr>
          <p:cNvSpPr/>
          <p:nvPr/>
        </p:nvSpPr>
        <p:spPr>
          <a:xfrm>
            <a:off x="1961777" y="2004393"/>
            <a:ext cx="9706348" cy="3963307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47800B-30C8-F214-CB0A-3216119276EE}"/>
              </a:ext>
            </a:extLst>
          </p:cNvPr>
          <p:cNvSpPr/>
          <p:nvPr/>
        </p:nvSpPr>
        <p:spPr>
          <a:xfrm>
            <a:off x="7591426" y="1475980"/>
            <a:ext cx="3009900" cy="431849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9C9E770-EC66-3A1A-6CC4-8EBB8531EFD6}"/>
              </a:ext>
            </a:extLst>
          </p:cNvPr>
          <p:cNvSpPr/>
          <p:nvPr/>
        </p:nvSpPr>
        <p:spPr>
          <a:xfrm>
            <a:off x="331999" y="2162174"/>
            <a:ext cx="1573001" cy="3785413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語音泡泡: 圓角矩形 2">
            <a:extLst>
              <a:ext uri="{FF2B5EF4-FFF2-40B4-BE49-F238E27FC236}">
                <a16:creationId xmlns:a16="http://schemas.microsoft.com/office/drawing/2014/main" id="{524AC1E3-597C-9A86-39E4-2B69AD1DCB37}"/>
              </a:ext>
            </a:extLst>
          </p:cNvPr>
          <p:cNvSpPr/>
          <p:nvPr/>
        </p:nvSpPr>
        <p:spPr bwMode="gray">
          <a:xfrm>
            <a:off x="1961777" y="6089343"/>
            <a:ext cx="1480473" cy="551729"/>
          </a:xfrm>
          <a:prstGeom prst="wedgeRoundRectCallout">
            <a:avLst>
              <a:gd name="adj1" fmla="val -73757"/>
              <a:gd name="adj2" fmla="val -7278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功能選單</a:t>
            </a:r>
          </a:p>
        </p:txBody>
      </p:sp>
      <p:sp>
        <p:nvSpPr>
          <p:cNvPr id="11" name="矩形: 圓角 23">
            <a:extLst>
              <a:ext uri="{FF2B5EF4-FFF2-40B4-BE49-F238E27FC236}">
                <a16:creationId xmlns:a16="http://schemas.microsoft.com/office/drawing/2014/main" id="{11F08589-DAF2-DAE9-E4C9-428833D465BF}"/>
              </a:ext>
            </a:extLst>
          </p:cNvPr>
          <p:cNvSpPr/>
          <p:nvPr/>
        </p:nvSpPr>
        <p:spPr>
          <a:xfrm>
            <a:off x="388776" y="2238465"/>
            <a:ext cx="422598" cy="333285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語音泡泡: 圓角矩形 18">
            <a:extLst>
              <a:ext uri="{FF2B5EF4-FFF2-40B4-BE49-F238E27FC236}">
                <a16:creationId xmlns:a16="http://schemas.microsoft.com/office/drawing/2014/main" id="{1876A08C-2FB0-7B62-165B-DF45AC3FC3D3}"/>
              </a:ext>
            </a:extLst>
          </p:cNvPr>
          <p:cNvSpPr/>
          <p:nvPr/>
        </p:nvSpPr>
        <p:spPr bwMode="gray">
          <a:xfrm>
            <a:off x="1971302" y="953889"/>
            <a:ext cx="2062849" cy="551729"/>
          </a:xfrm>
          <a:prstGeom prst="wedgeRoundRectCallout">
            <a:avLst>
              <a:gd name="adj1" fmla="val -106109"/>
              <a:gd name="adj2" fmla="val 21549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隱藏選單按鈕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55927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4F5B-255C-A159-9E77-2CEFEBE7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3C610F9-221B-6468-806E-801E1148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2.1 </a:t>
            </a:r>
            <a:r>
              <a:rPr lang="zh-TW" altLang="en-US" sz="3600" dirty="0"/>
              <a:t>合約起案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申請合約審閱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35537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使用合約範本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61899DF0-7C34-4214-0CC1-F8E0BBCDE600}"/>
              </a:ext>
            </a:extLst>
          </p:cNvPr>
          <p:cNvGrpSpPr/>
          <p:nvPr/>
        </p:nvGrpSpPr>
        <p:grpSpPr>
          <a:xfrm>
            <a:off x="529302" y="747396"/>
            <a:ext cx="6799974" cy="5906616"/>
            <a:chOff x="629689" y="1032048"/>
            <a:chExt cx="6618374" cy="5679267"/>
          </a:xfr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453D65F7-CB68-30FD-43E8-29467F933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9341" r="1343"/>
            <a:stretch>
              <a:fillRect/>
            </a:stretch>
          </p:blipFill>
          <p:spPr>
            <a:xfrm>
              <a:off x="629689" y="5167254"/>
              <a:ext cx="6618374" cy="1544061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712D0CB7-8090-B976-34BB-59608B02D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11"/>
            <a:stretch>
              <a:fillRect/>
            </a:stretch>
          </p:blipFill>
          <p:spPr>
            <a:xfrm>
              <a:off x="629689" y="1032048"/>
              <a:ext cx="6618374" cy="4135206"/>
            </a:xfrm>
            <a:prstGeom prst="rect">
              <a:avLst/>
            </a:prstGeom>
          </p:spPr>
        </p:pic>
      </p:grpSp>
      <p:sp>
        <p:nvSpPr>
          <p:cNvPr id="5" name="圓角矩形圖說文字 51">
            <a:extLst>
              <a:ext uri="{FF2B5EF4-FFF2-40B4-BE49-F238E27FC236}">
                <a16:creationId xmlns:a16="http://schemas.microsoft.com/office/drawing/2014/main" id="{743DC9D7-887A-2F55-24E2-C3DBA0A4C471}"/>
              </a:ext>
            </a:extLst>
          </p:cNvPr>
          <p:cNvSpPr/>
          <p:nvPr/>
        </p:nvSpPr>
        <p:spPr bwMode="gray">
          <a:xfrm>
            <a:off x="2268230" y="5916872"/>
            <a:ext cx="3318546" cy="792000"/>
          </a:xfrm>
          <a:prstGeom prst="wedgeRoundRectCallout">
            <a:avLst>
              <a:gd name="adj1" fmla="val -65556"/>
              <a:gd name="adj2" fmla="val 1738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6" name="圓角矩形圖說文字 51">
            <a:extLst>
              <a:ext uri="{FF2B5EF4-FFF2-40B4-BE49-F238E27FC236}">
                <a16:creationId xmlns:a16="http://schemas.microsoft.com/office/drawing/2014/main" id="{13F8160F-6FD8-0820-3C6C-4B4C45AA8E72}"/>
              </a:ext>
            </a:extLst>
          </p:cNvPr>
          <p:cNvSpPr/>
          <p:nvPr/>
        </p:nvSpPr>
        <p:spPr bwMode="gray">
          <a:xfrm>
            <a:off x="7774825" y="4368810"/>
            <a:ext cx="4227310" cy="792000"/>
          </a:xfrm>
          <a:prstGeom prst="wedgeRoundRectCallout">
            <a:avLst>
              <a:gd name="adj1" fmla="val -60210"/>
              <a:gd name="adj2" fmla="val 1604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點選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使用合約範本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7" name="圓角矩形圖說文字 51">
            <a:extLst>
              <a:ext uri="{FF2B5EF4-FFF2-40B4-BE49-F238E27FC236}">
                <a16:creationId xmlns:a16="http://schemas.microsoft.com/office/drawing/2014/main" id="{FD275AFD-8660-7F91-7FFD-556A1968E8BC}"/>
              </a:ext>
            </a:extLst>
          </p:cNvPr>
          <p:cNvSpPr/>
          <p:nvPr/>
        </p:nvSpPr>
        <p:spPr bwMode="gray">
          <a:xfrm>
            <a:off x="7859492" y="978069"/>
            <a:ext cx="3212912" cy="792000"/>
          </a:xfrm>
          <a:prstGeom prst="wedgeRoundRectCallout">
            <a:avLst>
              <a:gd name="adj1" fmla="val -66269"/>
              <a:gd name="adj2" fmla="val 4637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填寫基本資料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23">
            <a:extLst>
              <a:ext uri="{FF2B5EF4-FFF2-40B4-BE49-F238E27FC236}">
                <a16:creationId xmlns:a16="http://schemas.microsoft.com/office/drawing/2014/main" id="{AC5E577F-CE52-B9B2-0C36-6661E4C9919A}"/>
              </a:ext>
            </a:extLst>
          </p:cNvPr>
          <p:cNvSpPr/>
          <p:nvPr/>
        </p:nvSpPr>
        <p:spPr>
          <a:xfrm>
            <a:off x="684740" y="6170263"/>
            <a:ext cx="1036981" cy="460213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76584FE-F42D-D8AA-F5BE-FAA4CCA97091}"/>
              </a:ext>
            </a:extLst>
          </p:cNvPr>
          <p:cNvSpPr/>
          <p:nvPr/>
        </p:nvSpPr>
        <p:spPr>
          <a:xfrm>
            <a:off x="532874" y="1597769"/>
            <a:ext cx="6796402" cy="1914855"/>
          </a:xfrm>
          <a:prstGeom prst="roundRect">
            <a:avLst>
              <a:gd name="adj" fmla="val 299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23">
            <a:extLst>
              <a:ext uri="{FF2B5EF4-FFF2-40B4-BE49-F238E27FC236}">
                <a16:creationId xmlns:a16="http://schemas.microsoft.com/office/drawing/2014/main" id="{26E42830-DC1C-4CB3-27B4-D3F7928E0464}"/>
              </a:ext>
            </a:extLst>
          </p:cNvPr>
          <p:cNvSpPr/>
          <p:nvPr/>
        </p:nvSpPr>
        <p:spPr>
          <a:xfrm>
            <a:off x="529302" y="4169248"/>
            <a:ext cx="6796402" cy="866397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: 圓角 23">
            <a:extLst>
              <a:ext uri="{FF2B5EF4-FFF2-40B4-BE49-F238E27FC236}">
                <a16:creationId xmlns:a16="http://schemas.microsoft.com/office/drawing/2014/main" id="{A701842E-EDF3-6DF4-CC84-5E243EA926A7}"/>
              </a:ext>
            </a:extLst>
          </p:cNvPr>
          <p:cNvSpPr/>
          <p:nvPr/>
        </p:nvSpPr>
        <p:spPr>
          <a:xfrm>
            <a:off x="6269324" y="2429250"/>
            <a:ext cx="422598" cy="454024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語音泡泡: 圓角矩形 18">
            <a:extLst>
              <a:ext uri="{FF2B5EF4-FFF2-40B4-BE49-F238E27FC236}">
                <a16:creationId xmlns:a16="http://schemas.microsoft.com/office/drawing/2014/main" id="{9575546B-A103-D33F-D43D-577C84F93B1E}"/>
              </a:ext>
            </a:extLst>
          </p:cNvPr>
          <p:cNvSpPr/>
          <p:nvPr/>
        </p:nvSpPr>
        <p:spPr bwMode="gray">
          <a:xfrm>
            <a:off x="7530671" y="2386002"/>
            <a:ext cx="4273344" cy="1096142"/>
          </a:xfrm>
          <a:prstGeom prst="wedgeRoundRectCallout">
            <a:avLst>
              <a:gd name="adj1" fmla="val -69321"/>
              <a:gd name="adj2" fmla="val -2611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於下拉選單找不到資料，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可點擊此按鈕可新增簽約對象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385599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64AE21E-E83C-443F-5341-05B4902AD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37" y="799309"/>
            <a:ext cx="5203839" cy="4005479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C3C1354E-E7E3-7B4B-E09C-7F520918AA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74" t="15440" r="1419" b="13845"/>
          <a:stretch/>
        </p:blipFill>
        <p:spPr>
          <a:xfrm>
            <a:off x="3614903" y="3749650"/>
            <a:ext cx="7369507" cy="299356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使用合約範本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642839E-5511-253F-9A28-F1D0B3647474}"/>
              </a:ext>
            </a:extLst>
          </p:cNvPr>
          <p:cNvSpPr/>
          <p:nvPr/>
        </p:nvSpPr>
        <p:spPr>
          <a:xfrm>
            <a:off x="1266825" y="1645635"/>
            <a:ext cx="3494529" cy="79200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圖說文字 51">
            <a:extLst>
              <a:ext uri="{FF2B5EF4-FFF2-40B4-BE49-F238E27FC236}">
                <a16:creationId xmlns:a16="http://schemas.microsoft.com/office/drawing/2014/main" id="{BCA415EC-6B5E-DCAB-9052-464264B0373E}"/>
              </a:ext>
            </a:extLst>
          </p:cNvPr>
          <p:cNvSpPr/>
          <p:nvPr/>
        </p:nvSpPr>
        <p:spPr bwMode="gray">
          <a:xfrm>
            <a:off x="5338842" y="1137233"/>
            <a:ext cx="3216680" cy="792000"/>
          </a:xfrm>
          <a:prstGeom prst="wedgeRoundRectCallout">
            <a:avLst>
              <a:gd name="adj1" fmla="val -67216"/>
              <a:gd name="adj2" fmla="val 4914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選擇範本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類型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5CE59F2-E13D-C337-948F-A8690F218434}"/>
              </a:ext>
            </a:extLst>
          </p:cNvPr>
          <p:cNvSpPr/>
          <p:nvPr/>
        </p:nvSpPr>
        <p:spPr>
          <a:xfrm>
            <a:off x="4889062" y="3194441"/>
            <a:ext cx="826727" cy="46601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A9F533A-3B25-0D81-CB90-0DA274298CA6}"/>
              </a:ext>
            </a:extLst>
          </p:cNvPr>
          <p:cNvSpPr/>
          <p:nvPr/>
        </p:nvSpPr>
        <p:spPr>
          <a:xfrm>
            <a:off x="2244541" y="4252124"/>
            <a:ext cx="980714" cy="47503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圖說文字 51">
            <a:extLst>
              <a:ext uri="{FF2B5EF4-FFF2-40B4-BE49-F238E27FC236}">
                <a16:creationId xmlns:a16="http://schemas.microsoft.com/office/drawing/2014/main" id="{8B22FBC1-11CA-869A-EF9C-572E14E0B433}"/>
              </a:ext>
            </a:extLst>
          </p:cNvPr>
          <p:cNvSpPr/>
          <p:nvPr/>
        </p:nvSpPr>
        <p:spPr bwMode="gray">
          <a:xfrm>
            <a:off x="5893176" y="2280570"/>
            <a:ext cx="4721036" cy="827781"/>
          </a:xfrm>
          <a:prstGeom prst="wedgeRoundRectCallout">
            <a:avLst>
              <a:gd name="adj1" fmla="val -62868"/>
              <a:gd name="adj2" fmla="val 56572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下載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並編輯合約</a:t>
            </a:r>
          </a:p>
        </p:txBody>
      </p:sp>
      <p:sp>
        <p:nvSpPr>
          <p:cNvPr id="10" name="圓角矩形圖說文字 51">
            <a:extLst>
              <a:ext uri="{FF2B5EF4-FFF2-40B4-BE49-F238E27FC236}">
                <a16:creationId xmlns:a16="http://schemas.microsoft.com/office/drawing/2014/main" id="{6DF59160-4BC9-BDDF-E846-0D2132F52D86}"/>
              </a:ext>
            </a:extLst>
          </p:cNvPr>
          <p:cNvSpPr/>
          <p:nvPr/>
        </p:nvSpPr>
        <p:spPr bwMode="gray">
          <a:xfrm>
            <a:off x="689337" y="5179221"/>
            <a:ext cx="2276974" cy="975600"/>
          </a:xfrm>
          <a:prstGeom prst="wedgeRoundRectCallout">
            <a:avLst>
              <a:gd name="adj1" fmla="val 41344"/>
              <a:gd name="adj2" fmla="val -9441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6:</a:t>
            </a:r>
          </a:p>
          <a:p>
            <a:pPr>
              <a:lnSpc>
                <a:spcPct val="106000"/>
              </a:lnSpc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9FB3FB9-E928-3931-B5E4-9DDE882162BD}"/>
              </a:ext>
            </a:extLst>
          </p:cNvPr>
          <p:cNvSpPr/>
          <p:nvPr/>
        </p:nvSpPr>
        <p:spPr>
          <a:xfrm>
            <a:off x="3901604" y="4671940"/>
            <a:ext cx="6999477" cy="125072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圓角矩形圖說文字 51">
            <a:extLst>
              <a:ext uri="{FF2B5EF4-FFF2-40B4-BE49-F238E27FC236}">
                <a16:creationId xmlns:a16="http://schemas.microsoft.com/office/drawing/2014/main" id="{389F3F72-5BED-217B-F034-863B8A8B1E3F}"/>
              </a:ext>
            </a:extLst>
          </p:cNvPr>
          <p:cNvSpPr/>
          <p:nvPr/>
        </p:nvSpPr>
        <p:spPr bwMode="gray">
          <a:xfrm>
            <a:off x="8038656" y="3427447"/>
            <a:ext cx="3794041" cy="975600"/>
          </a:xfrm>
          <a:prstGeom prst="wedgeRoundRectCallout">
            <a:avLst>
              <a:gd name="adj1" fmla="val -39053"/>
              <a:gd name="adj2" fmla="val 7786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7: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透過拖曳或點擊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瀏覽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選擇檔案</a:t>
            </a:r>
          </a:p>
        </p:txBody>
      </p:sp>
    </p:spTree>
    <p:extLst>
      <p:ext uri="{BB962C8B-B14F-4D97-AF65-F5344CB8AC3E}">
        <p14:creationId xmlns:p14="http://schemas.microsoft.com/office/powerpoint/2010/main" val="277305778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群組 10">
            <a:extLst>
              <a:ext uri="{FF2B5EF4-FFF2-40B4-BE49-F238E27FC236}">
                <a16:creationId xmlns:a16="http://schemas.microsoft.com/office/drawing/2014/main" id="{CB825F58-E45C-9B1D-F89C-18A7469CACBA}"/>
              </a:ext>
            </a:extLst>
          </p:cNvPr>
          <p:cNvGrpSpPr/>
          <p:nvPr/>
        </p:nvGrpSpPr>
        <p:grpSpPr>
          <a:xfrm>
            <a:off x="448978" y="728886"/>
            <a:ext cx="6985253" cy="5887106"/>
            <a:chOff x="523591" y="826737"/>
            <a:chExt cx="6985253" cy="5887106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72627FEB-C246-3AE5-9AEC-E5CF9393A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8889"/>
            <a:stretch>
              <a:fillRect/>
            </a:stretch>
          </p:blipFill>
          <p:spPr>
            <a:xfrm>
              <a:off x="523594" y="5107139"/>
              <a:ext cx="6985250" cy="1606704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21999F04-65BC-A2FF-797C-FC927A92E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86" r="5039" b="1943"/>
            <a:stretch>
              <a:fillRect/>
            </a:stretch>
          </p:blipFill>
          <p:spPr>
            <a:xfrm>
              <a:off x="523591" y="826737"/>
              <a:ext cx="6985251" cy="4293338"/>
            </a:xfrm>
            <a:prstGeom prst="rect">
              <a:avLst/>
            </a:prstGeom>
          </p:spPr>
        </p:pic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上傳合約檔案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(3/16)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642839E-5511-253F-9A28-F1D0B3647474}"/>
              </a:ext>
            </a:extLst>
          </p:cNvPr>
          <p:cNvSpPr/>
          <p:nvPr/>
        </p:nvSpPr>
        <p:spPr>
          <a:xfrm>
            <a:off x="448976" y="1665691"/>
            <a:ext cx="6985250" cy="183312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圖說文字 51">
            <a:extLst>
              <a:ext uri="{FF2B5EF4-FFF2-40B4-BE49-F238E27FC236}">
                <a16:creationId xmlns:a16="http://schemas.microsoft.com/office/drawing/2014/main" id="{BCA415EC-6B5E-DCAB-9052-464264B0373E}"/>
              </a:ext>
            </a:extLst>
          </p:cNvPr>
          <p:cNvSpPr/>
          <p:nvPr/>
        </p:nvSpPr>
        <p:spPr bwMode="gray">
          <a:xfrm>
            <a:off x="7889735" y="1790253"/>
            <a:ext cx="2577578" cy="792000"/>
          </a:xfrm>
          <a:prstGeom prst="wedgeRoundRectCallout">
            <a:avLst>
              <a:gd name="adj1" fmla="val -67084"/>
              <a:gd name="adj2" fmla="val -2589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填寫資料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5CE59F2-E13D-C337-948F-A8690F218434}"/>
              </a:ext>
            </a:extLst>
          </p:cNvPr>
          <p:cNvSpPr/>
          <p:nvPr/>
        </p:nvSpPr>
        <p:spPr>
          <a:xfrm>
            <a:off x="448975" y="5060324"/>
            <a:ext cx="6985251" cy="93919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A9F533A-3B25-0D81-CB90-0DA274298CA6}"/>
              </a:ext>
            </a:extLst>
          </p:cNvPr>
          <p:cNvSpPr/>
          <p:nvPr/>
        </p:nvSpPr>
        <p:spPr>
          <a:xfrm>
            <a:off x="611530" y="6171740"/>
            <a:ext cx="1053664" cy="48576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圖說文字 51">
            <a:extLst>
              <a:ext uri="{FF2B5EF4-FFF2-40B4-BE49-F238E27FC236}">
                <a16:creationId xmlns:a16="http://schemas.microsoft.com/office/drawing/2014/main" id="{8B22FBC1-11CA-869A-EF9C-572E14E0B433}"/>
              </a:ext>
            </a:extLst>
          </p:cNvPr>
          <p:cNvSpPr/>
          <p:nvPr/>
        </p:nvSpPr>
        <p:spPr bwMode="gray">
          <a:xfrm>
            <a:off x="7889735" y="4488700"/>
            <a:ext cx="4193437" cy="792000"/>
          </a:xfrm>
          <a:prstGeom prst="wedgeRoundRectCallout">
            <a:avLst>
              <a:gd name="adj1" fmla="val -60330"/>
              <a:gd name="adj2" fmla="val 2482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上傳合約檔案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圓角矩形圖說文字 51">
            <a:extLst>
              <a:ext uri="{FF2B5EF4-FFF2-40B4-BE49-F238E27FC236}">
                <a16:creationId xmlns:a16="http://schemas.microsoft.com/office/drawing/2014/main" id="{6DF59160-4BC9-BDDF-E846-0D2132F52D86}"/>
              </a:ext>
            </a:extLst>
          </p:cNvPr>
          <p:cNvSpPr/>
          <p:nvPr/>
        </p:nvSpPr>
        <p:spPr bwMode="gray">
          <a:xfrm>
            <a:off x="2228463" y="6097821"/>
            <a:ext cx="3292924" cy="652649"/>
          </a:xfrm>
          <a:prstGeom prst="wedgeRoundRectCallout">
            <a:avLst>
              <a:gd name="adj1" fmla="val -67033"/>
              <a:gd name="adj2" fmla="val 2011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422185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EDC6946-B532-E77B-19AA-381DCAD6B5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" t="2008"/>
          <a:stretch>
            <a:fillRect/>
          </a:stretch>
        </p:blipFill>
        <p:spPr>
          <a:xfrm>
            <a:off x="618889" y="738959"/>
            <a:ext cx="8248004" cy="4344922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41B07BC-5C84-DF2E-0930-9096D320A8CD}"/>
              </a:ext>
            </a:extLst>
          </p:cNvPr>
          <p:cNvSpPr/>
          <p:nvPr/>
        </p:nvSpPr>
        <p:spPr>
          <a:xfrm>
            <a:off x="1092635" y="2249767"/>
            <a:ext cx="7639451" cy="1336024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57C0654-301E-E131-8EF8-8DAFDB912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080" y="2853830"/>
            <a:ext cx="6885161" cy="3765503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上傳合約檔案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(4/16)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5" name="圓角矩形圖說文字 51">
            <a:extLst>
              <a:ext uri="{FF2B5EF4-FFF2-40B4-BE49-F238E27FC236}">
                <a16:creationId xmlns:a16="http://schemas.microsoft.com/office/drawing/2014/main" id="{E9EA97EA-79A5-FCC3-9D91-865A9CE51C7E}"/>
              </a:ext>
            </a:extLst>
          </p:cNvPr>
          <p:cNvSpPr/>
          <p:nvPr/>
        </p:nvSpPr>
        <p:spPr bwMode="gray">
          <a:xfrm>
            <a:off x="6929591" y="820622"/>
            <a:ext cx="3479329" cy="975600"/>
          </a:xfrm>
          <a:prstGeom prst="wedgeRoundRectCallout">
            <a:avLst>
              <a:gd name="adj1" fmla="val -45324"/>
              <a:gd name="adj2" fmla="val 9297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透過拖曳或點擊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瀏覽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選擇檔案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0A70CEA-E7D6-5AFF-3902-EA184B7345CE}"/>
              </a:ext>
            </a:extLst>
          </p:cNvPr>
          <p:cNvSpPr/>
          <p:nvPr/>
        </p:nvSpPr>
        <p:spPr>
          <a:xfrm>
            <a:off x="1890568" y="4638675"/>
            <a:ext cx="881208" cy="430584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圓角矩形圖說文字 51">
            <a:extLst>
              <a:ext uri="{FF2B5EF4-FFF2-40B4-BE49-F238E27FC236}">
                <a16:creationId xmlns:a16="http://schemas.microsoft.com/office/drawing/2014/main" id="{D9BE3A97-F4B8-B585-4ED8-87C9AB1ACA73}"/>
              </a:ext>
            </a:extLst>
          </p:cNvPr>
          <p:cNvSpPr/>
          <p:nvPr/>
        </p:nvSpPr>
        <p:spPr bwMode="gray">
          <a:xfrm>
            <a:off x="1215378" y="5457453"/>
            <a:ext cx="3286408" cy="792000"/>
          </a:xfrm>
          <a:prstGeom prst="wedgeRoundRectCallout">
            <a:avLst>
              <a:gd name="adj1" fmla="val -21841"/>
              <a:gd name="adj2" fmla="val -9559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5: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20D67512-1671-E5C3-859C-A3EF7E655259}"/>
              </a:ext>
            </a:extLst>
          </p:cNvPr>
          <p:cNvSpPr/>
          <p:nvPr/>
        </p:nvSpPr>
        <p:spPr>
          <a:xfrm>
            <a:off x="9542453" y="6153943"/>
            <a:ext cx="879695" cy="466443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圓角矩形圖說文字 51">
            <a:extLst>
              <a:ext uri="{FF2B5EF4-FFF2-40B4-BE49-F238E27FC236}">
                <a16:creationId xmlns:a16="http://schemas.microsoft.com/office/drawing/2014/main" id="{03417FA1-E4C2-9D83-F00D-09DF3F7B31EB}"/>
              </a:ext>
            </a:extLst>
          </p:cNvPr>
          <p:cNvSpPr/>
          <p:nvPr/>
        </p:nvSpPr>
        <p:spPr bwMode="gray">
          <a:xfrm>
            <a:off x="8763419" y="4882542"/>
            <a:ext cx="3076026" cy="958297"/>
          </a:xfrm>
          <a:prstGeom prst="wedgeRoundRectCallout">
            <a:avLst>
              <a:gd name="adj1" fmla="val -21984"/>
              <a:gd name="adj2" fmla="val 8064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預覽合約後，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339454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群組 10">
            <a:extLst>
              <a:ext uri="{FF2B5EF4-FFF2-40B4-BE49-F238E27FC236}">
                <a16:creationId xmlns:a16="http://schemas.microsoft.com/office/drawing/2014/main" id="{5AA195AD-46BD-0658-73DB-95BAFFD56E90}"/>
              </a:ext>
            </a:extLst>
          </p:cNvPr>
          <p:cNvGrpSpPr/>
          <p:nvPr/>
        </p:nvGrpSpPr>
        <p:grpSpPr>
          <a:xfrm>
            <a:off x="574394" y="803947"/>
            <a:ext cx="5120468" cy="5917528"/>
            <a:chOff x="136540" y="0"/>
            <a:chExt cx="5061591" cy="5760652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48617123-35BB-CFD5-3C78-E964C65BE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75" t="1252" r="1728" b="30575"/>
            <a:stretch>
              <a:fillRect/>
            </a:stretch>
          </p:blipFill>
          <p:spPr>
            <a:xfrm>
              <a:off x="136540" y="0"/>
              <a:ext cx="5061591" cy="2818477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B8497F5F-691D-8781-135E-6D08BDEAD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01" r="2187"/>
            <a:stretch>
              <a:fillRect/>
            </a:stretch>
          </p:blipFill>
          <p:spPr>
            <a:xfrm>
              <a:off x="136540" y="2735003"/>
              <a:ext cx="5061591" cy="3025649"/>
            </a:xfrm>
            <a:prstGeom prst="rect">
              <a:avLst/>
            </a:prstGeom>
          </p:spPr>
        </p:pic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上傳合約檔案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(5/16)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A43CC64-41F4-E63D-76B9-D96718493B66}"/>
              </a:ext>
            </a:extLst>
          </p:cNvPr>
          <p:cNvSpPr/>
          <p:nvPr/>
        </p:nvSpPr>
        <p:spPr>
          <a:xfrm>
            <a:off x="2196465" y="6297051"/>
            <a:ext cx="689610" cy="395849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23">
            <a:extLst>
              <a:ext uri="{FF2B5EF4-FFF2-40B4-BE49-F238E27FC236}">
                <a16:creationId xmlns:a16="http://schemas.microsoft.com/office/drawing/2014/main" id="{3E3077EB-8D9C-42D6-366D-1D76EB1D2933}"/>
              </a:ext>
            </a:extLst>
          </p:cNvPr>
          <p:cNvSpPr/>
          <p:nvPr/>
        </p:nvSpPr>
        <p:spPr>
          <a:xfrm>
            <a:off x="942975" y="1200149"/>
            <a:ext cx="4619625" cy="4962525"/>
          </a:xfrm>
          <a:prstGeom prst="roundRect">
            <a:avLst>
              <a:gd name="adj" fmla="val 125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圓角矩形圖說文字 51">
            <a:extLst>
              <a:ext uri="{FF2B5EF4-FFF2-40B4-BE49-F238E27FC236}">
                <a16:creationId xmlns:a16="http://schemas.microsoft.com/office/drawing/2014/main" id="{687A0C77-FBF5-D7D1-CBA6-DED2CEBF195C}"/>
              </a:ext>
            </a:extLst>
          </p:cNvPr>
          <p:cNvSpPr/>
          <p:nvPr/>
        </p:nvSpPr>
        <p:spPr bwMode="gray">
          <a:xfrm>
            <a:off x="5694862" y="5918186"/>
            <a:ext cx="3368948" cy="802068"/>
          </a:xfrm>
          <a:prstGeom prst="wedgeRoundRectCallout">
            <a:avLst>
              <a:gd name="adj1" fmla="val -133581"/>
              <a:gd name="adj2" fmla="val 28242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12" name="圓角矩形圖說文字 51">
            <a:extLst>
              <a:ext uri="{FF2B5EF4-FFF2-40B4-BE49-F238E27FC236}">
                <a16:creationId xmlns:a16="http://schemas.microsoft.com/office/drawing/2014/main" id="{DEAC7896-4B82-2683-1715-B89B46B4CB9A}"/>
              </a:ext>
            </a:extLst>
          </p:cNvPr>
          <p:cNvSpPr/>
          <p:nvPr/>
        </p:nvSpPr>
        <p:spPr bwMode="gray">
          <a:xfrm>
            <a:off x="6063443" y="2152338"/>
            <a:ext cx="4397731" cy="802067"/>
          </a:xfrm>
          <a:prstGeom prst="wedgeRoundRectCallout">
            <a:avLst>
              <a:gd name="adj1" fmla="val -61066"/>
              <a:gd name="adj2" fmla="val 3783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填寫合約起案申請資料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002347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70230F8D-AF3D-1BD0-E5E5-766A699736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5"/>
          <a:stretch>
            <a:fillRect/>
          </a:stretch>
        </p:blipFill>
        <p:spPr>
          <a:xfrm>
            <a:off x="510240" y="2675586"/>
            <a:ext cx="6124179" cy="3935798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選擇加簽人員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(6/16)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BCA35B0-548F-A187-D42B-921418208DEF}"/>
              </a:ext>
            </a:extLst>
          </p:cNvPr>
          <p:cNvSpPr/>
          <p:nvPr/>
        </p:nvSpPr>
        <p:spPr>
          <a:xfrm>
            <a:off x="1006763" y="3300484"/>
            <a:ext cx="1088738" cy="366970"/>
          </a:xfrm>
          <a:prstGeom prst="roundRect">
            <a:avLst>
              <a:gd name="adj" fmla="val 1093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96526AA-1848-BD72-B9A1-3CDC08FA78BA}"/>
              </a:ext>
            </a:extLst>
          </p:cNvPr>
          <p:cNvSpPr/>
          <p:nvPr/>
        </p:nvSpPr>
        <p:spPr>
          <a:xfrm>
            <a:off x="1025813" y="4065144"/>
            <a:ext cx="5298787" cy="366970"/>
          </a:xfrm>
          <a:prstGeom prst="roundRect">
            <a:avLst>
              <a:gd name="adj" fmla="val 8934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F2F325B-E30C-E40B-668D-510247D1F324}"/>
              </a:ext>
            </a:extLst>
          </p:cNvPr>
          <p:cNvSpPr/>
          <p:nvPr/>
        </p:nvSpPr>
        <p:spPr>
          <a:xfrm>
            <a:off x="6328790" y="4044489"/>
            <a:ext cx="305629" cy="39854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圓角矩形圖說文字 11">
            <a:extLst>
              <a:ext uri="{FF2B5EF4-FFF2-40B4-BE49-F238E27FC236}">
                <a16:creationId xmlns:a16="http://schemas.microsoft.com/office/drawing/2014/main" id="{69710A1E-DFD5-5C1E-FC9F-070CFC0120B1}"/>
              </a:ext>
            </a:extLst>
          </p:cNvPr>
          <p:cNvSpPr/>
          <p:nvPr/>
        </p:nvSpPr>
        <p:spPr>
          <a:xfrm>
            <a:off x="6634419" y="4974109"/>
            <a:ext cx="3937000" cy="675063"/>
          </a:xfrm>
          <a:prstGeom prst="wedgeRoundRectCallout">
            <a:avLst>
              <a:gd name="adj1" fmla="val -77242"/>
              <a:gd name="adj2" fmla="val -12888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可用拖曳方式調整關卡順序</a:t>
            </a:r>
          </a:p>
        </p:txBody>
      </p:sp>
      <p:sp>
        <p:nvSpPr>
          <p:cNvPr id="8" name="圓角矩形圖說文字 11">
            <a:extLst>
              <a:ext uri="{FF2B5EF4-FFF2-40B4-BE49-F238E27FC236}">
                <a16:creationId xmlns:a16="http://schemas.microsoft.com/office/drawing/2014/main" id="{FC5DCDB9-6DA3-B3EB-1E8C-82E036C1970C}"/>
              </a:ext>
            </a:extLst>
          </p:cNvPr>
          <p:cNvSpPr/>
          <p:nvPr/>
        </p:nvSpPr>
        <p:spPr>
          <a:xfrm>
            <a:off x="7332172" y="4065144"/>
            <a:ext cx="1223121" cy="638745"/>
          </a:xfrm>
          <a:prstGeom prst="wedgeRoundRectCallout">
            <a:avLst>
              <a:gd name="adj1" fmla="val -106393"/>
              <a:gd name="adj2" fmla="val -2445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可刪除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A6E65E0B-8D95-BC8A-54BB-313C4BC0E2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32"/>
          <a:stretch/>
        </p:blipFill>
        <p:spPr>
          <a:xfrm>
            <a:off x="6389586" y="651726"/>
            <a:ext cx="4912045" cy="332571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2F37D79C-26CD-71D3-E851-2B530A0BED30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095501" y="1770598"/>
            <a:ext cx="4294085" cy="1713371"/>
          </a:xfrm>
          <a:prstGeom prst="straightConnector1">
            <a:avLst/>
          </a:prstGeom>
          <a:ln w="38100">
            <a:solidFill>
              <a:srgbClr val="DA29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圓角 23">
            <a:extLst>
              <a:ext uri="{FF2B5EF4-FFF2-40B4-BE49-F238E27FC236}">
                <a16:creationId xmlns:a16="http://schemas.microsoft.com/office/drawing/2014/main" id="{CA1FFA61-3CC1-4CE8-C720-D074181876D8}"/>
              </a:ext>
            </a:extLst>
          </p:cNvPr>
          <p:cNvSpPr/>
          <p:nvPr/>
        </p:nvSpPr>
        <p:spPr>
          <a:xfrm>
            <a:off x="1828424" y="6140768"/>
            <a:ext cx="1019551" cy="421960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圓角矩形圖說文字 51">
            <a:extLst>
              <a:ext uri="{FF2B5EF4-FFF2-40B4-BE49-F238E27FC236}">
                <a16:creationId xmlns:a16="http://schemas.microsoft.com/office/drawing/2014/main" id="{10695043-6DC3-83CD-7889-5E14B6586510}"/>
              </a:ext>
            </a:extLst>
          </p:cNvPr>
          <p:cNvSpPr/>
          <p:nvPr/>
        </p:nvSpPr>
        <p:spPr bwMode="gray">
          <a:xfrm>
            <a:off x="3637106" y="5740773"/>
            <a:ext cx="5165775" cy="1043664"/>
          </a:xfrm>
          <a:prstGeom prst="wedgeRoundRectCallout">
            <a:avLst>
              <a:gd name="adj1" fmla="val -64846"/>
              <a:gd name="adj2" fmla="val 7682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9: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申請審核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即可於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送審清單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查閱此案件的審核狀況</a:t>
            </a:r>
          </a:p>
        </p:txBody>
      </p:sp>
    </p:spTree>
    <p:extLst>
      <p:ext uri="{BB962C8B-B14F-4D97-AF65-F5344CB8AC3E}">
        <p14:creationId xmlns:p14="http://schemas.microsoft.com/office/powerpoint/2010/main" val="391863413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群組 12">
            <a:extLst>
              <a:ext uri="{FF2B5EF4-FFF2-40B4-BE49-F238E27FC236}">
                <a16:creationId xmlns:a16="http://schemas.microsoft.com/office/drawing/2014/main" id="{C4E506C9-34A6-2044-32EF-5E13CD7A976A}"/>
              </a:ext>
            </a:extLst>
          </p:cNvPr>
          <p:cNvGrpSpPr/>
          <p:nvPr/>
        </p:nvGrpSpPr>
        <p:grpSpPr>
          <a:xfrm>
            <a:off x="570073" y="862372"/>
            <a:ext cx="6259559" cy="5902960"/>
            <a:chOff x="5433968" y="-68344"/>
            <a:chExt cx="6353264" cy="6089830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5B6BF377-10AC-165D-22B7-71709C918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1003"/>
            <a:stretch>
              <a:fillRect/>
            </a:stretch>
          </p:blipFill>
          <p:spPr>
            <a:xfrm>
              <a:off x="5433968" y="-68344"/>
              <a:ext cx="6353264" cy="4731784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89E7ED4C-18BB-30C3-1EFF-41E9B6A60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9583"/>
            <a:stretch>
              <a:fillRect/>
            </a:stretch>
          </p:blipFill>
          <p:spPr>
            <a:xfrm>
              <a:off x="5433968" y="4621380"/>
              <a:ext cx="6353264" cy="1400106"/>
            </a:xfrm>
            <a:prstGeom prst="rect">
              <a:avLst/>
            </a:prstGeom>
          </p:spPr>
        </p:pic>
      </p:grp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031FAAB-1F88-2DAE-4734-FE6C77E6684C}"/>
              </a:ext>
            </a:extLst>
          </p:cNvPr>
          <p:cNvSpPr/>
          <p:nvPr/>
        </p:nvSpPr>
        <p:spPr>
          <a:xfrm>
            <a:off x="570072" y="4622800"/>
            <a:ext cx="6224520" cy="79554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F99F9334-CE6E-C7E9-ACD2-4C066AEB6345}"/>
              </a:ext>
            </a:extLst>
          </p:cNvPr>
          <p:cNvSpPr/>
          <p:nvPr/>
        </p:nvSpPr>
        <p:spPr bwMode="gray">
          <a:xfrm>
            <a:off x="6981442" y="3633921"/>
            <a:ext cx="4924965" cy="719724"/>
          </a:xfrm>
          <a:prstGeom prst="wedgeRoundRectCallout">
            <a:avLst>
              <a:gd name="adj1" fmla="val -54532"/>
              <a:gd name="adj2" fmla="val 8713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選擇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使用制訂合約範本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7E8EE53-6023-FFF1-384F-890959AF6440}"/>
              </a:ext>
            </a:extLst>
          </p:cNvPr>
          <p:cNvSpPr/>
          <p:nvPr/>
        </p:nvSpPr>
        <p:spPr>
          <a:xfrm>
            <a:off x="733048" y="6352544"/>
            <a:ext cx="943351" cy="36512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212E8E36-EE3A-9230-86CE-F57B8C87E3DE}"/>
              </a:ext>
            </a:extLst>
          </p:cNvPr>
          <p:cNvSpPr/>
          <p:nvPr/>
        </p:nvSpPr>
        <p:spPr bwMode="gray">
          <a:xfrm>
            <a:off x="3912143" y="6153858"/>
            <a:ext cx="3362417" cy="594072"/>
          </a:xfrm>
          <a:prstGeom prst="wedgeRoundRectCallout">
            <a:avLst>
              <a:gd name="adj1" fmla="val -116133"/>
              <a:gd name="adj2" fmla="val 1814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圓角矩形圖說文字 51">
            <a:extLst>
              <a:ext uri="{FF2B5EF4-FFF2-40B4-BE49-F238E27FC236}">
                <a16:creationId xmlns:a16="http://schemas.microsoft.com/office/drawing/2014/main" id="{21835AD8-333F-59E9-FF48-489A013CFBD9}"/>
              </a:ext>
            </a:extLst>
          </p:cNvPr>
          <p:cNvSpPr/>
          <p:nvPr/>
        </p:nvSpPr>
        <p:spPr bwMode="gray">
          <a:xfrm>
            <a:off x="7676057" y="1631214"/>
            <a:ext cx="3162040" cy="719724"/>
          </a:xfrm>
          <a:prstGeom prst="wedgeRoundRectCallout">
            <a:avLst>
              <a:gd name="adj1" fmla="val -77724"/>
              <a:gd name="adj2" fmla="val 2678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填寫基本資料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23">
            <a:extLst>
              <a:ext uri="{FF2B5EF4-FFF2-40B4-BE49-F238E27FC236}">
                <a16:creationId xmlns:a16="http://schemas.microsoft.com/office/drawing/2014/main" id="{542D0973-F11F-491A-6F50-75DB589D4ADB}"/>
              </a:ext>
            </a:extLst>
          </p:cNvPr>
          <p:cNvSpPr/>
          <p:nvPr/>
        </p:nvSpPr>
        <p:spPr>
          <a:xfrm>
            <a:off x="570074" y="1662266"/>
            <a:ext cx="6224521" cy="1619414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D60F5A-161F-96F4-A9AC-6597C8B83AD9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制訂合約範本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(7/16)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8344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3873D3B-CA8F-FBED-54C9-ED55092AE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6" y="1261025"/>
            <a:ext cx="10877385" cy="4853491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1031FAAB-1F88-2DAE-4734-FE6C77E6684C}"/>
              </a:ext>
            </a:extLst>
          </p:cNvPr>
          <p:cNvSpPr/>
          <p:nvPr/>
        </p:nvSpPr>
        <p:spPr>
          <a:xfrm>
            <a:off x="1230832" y="2345332"/>
            <a:ext cx="9965487" cy="132242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7E8EE53-6023-FFF1-384F-890959AF6440}"/>
              </a:ext>
            </a:extLst>
          </p:cNvPr>
          <p:cNvSpPr/>
          <p:nvPr/>
        </p:nvSpPr>
        <p:spPr>
          <a:xfrm>
            <a:off x="1892049" y="4612952"/>
            <a:ext cx="272032" cy="42410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27E743A9-3291-1563-B140-EF413D0E27D4}"/>
              </a:ext>
            </a:extLst>
          </p:cNvPr>
          <p:cNvSpPr/>
          <p:nvPr/>
        </p:nvSpPr>
        <p:spPr bwMode="gray">
          <a:xfrm>
            <a:off x="6065519" y="1261025"/>
            <a:ext cx="4363192" cy="652525"/>
          </a:xfrm>
          <a:prstGeom prst="wedgeRoundRectCallout">
            <a:avLst>
              <a:gd name="adj1" fmla="val -20193"/>
              <a:gd name="adj2" fmla="val 11656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選擇制訂合約範本類型</a:t>
            </a:r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8D2A8A8D-F2DE-9ACB-516A-6666E6C1CA4A}"/>
              </a:ext>
            </a:extLst>
          </p:cNvPr>
          <p:cNvSpPr/>
          <p:nvPr/>
        </p:nvSpPr>
        <p:spPr bwMode="gray">
          <a:xfrm>
            <a:off x="3394478" y="3530147"/>
            <a:ext cx="2401510" cy="562110"/>
          </a:xfrm>
          <a:prstGeom prst="wedgeRoundRectCallout">
            <a:avLst>
              <a:gd name="adj1" fmla="val -72385"/>
              <a:gd name="adj2" fmla="val 28756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可選擇範本標籤</a:t>
            </a:r>
          </a:p>
        </p:txBody>
      </p: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7FF87CA3-1C86-69CA-37A7-CE25100614CF}"/>
              </a:ext>
            </a:extLst>
          </p:cNvPr>
          <p:cNvSpPr/>
          <p:nvPr/>
        </p:nvSpPr>
        <p:spPr bwMode="gray">
          <a:xfrm>
            <a:off x="6096000" y="3729564"/>
            <a:ext cx="4215382" cy="564048"/>
          </a:xfrm>
          <a:prstGeom prst="wedgeRoundRectCallout">
            <a:avLst>
              <a:gd name="adj1" fmla="val -136795"/>
              <a:gd name="adj2" fmla="val 11784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點擊該按鈕，可加入常用範本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CC1987AC-3B90-35F2-F9F8-5365086F3DA3}"/>
              </a:ext>
            </a:extLst>
          </p:cNvPr>
          <p:cNvSpPr/>
          <p:nvPr/>
        </p:nvSpPr>
        <p:spPr>
          <a:xfrm>
            <a:off x="1220461" y="3853114"/>
            <a:ext cx="1624339" cy="42410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語音泡泡: 圓角矩形 17">
            <a:extLst>
              <a:ext uri="{FF2B5EF4-FFF2-40B4-BE49-F238E27FC236}">
                <a16:creationId xmlns:a16="http://schemas.microsoft.com/office/drawing/2014/main" id="{B0CC1B31-EF07-6430-81D7-20E9344B1051}"/>
              </a:ext>
            </a:extLst>
          </p:cNvPr>
          <p:cNvSpPr/>
          <p:nvPr/>
        </p:nvSpPr>
        <p:spPr bwMode="gray">
          <a:xfrm>
            <a:off x="3737071" y="5277072"/>
            <a:ext cx="4215383" cy="564048"/>
          </a:xfrm>
          <a:prstGeom prst="wedgeRoundRectCallout">
            <a:avLst>
              <a:gd name="adj1" fmla="val -91046"/>
              <a:gd name="adj2" fmla="val -9045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點擊該按鈕，可預覽範本內容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40ACFD0-6755-982A-487D-8ADB51CFDFD8}"/>
              </a:ext>
            </a:extLst>
          </p:cNvPr>
          <p:cNvSpPr/>
          <p:nvPr/>
        </p:nvSpPr>
        <p:spPr>
          <a:xfrm>
            <a:off x="2160783" y="4612951"/>
            <a:ext cx="272033" cy="42410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1513845-43FC-C23E-1143-3D2D69DFBBD5}"/>
              </a:ext>
            </a:extLst>
          </p:cNvPr>
          <p:cNvSpPr/>
          <p:nvPr/>
        </p:nvSpPr>
        <p:spPr>
          <a:xfrm>
            <a:off x="1640336" y="4617551"/>
            <a:ext cx="272032" cy="42410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76BBD1D7-95A1-0005-774D-B262F6C9BE8F}"/>
              </a:ext>
            </a:extLst>
          </p:cNvPr>
          <p:cNvSpPr/>
          <p:nvPr/>
        </p:nvSpPr>
        <p:spPr bwMode="gray">
          <a:xfrm>
            <a:off x="494719" y="5603206"/>
            <a:ext cx="3066692" cy="749290"/>
          </a:xfrm>
          <a:prstGeom prst="wedgeRoundRectCallout">
            <a:avLst>
              <a:gd name="adj1" fmla="val -8821"/>
              <a:gd name="adj2" fmla="val -12261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選取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48DAF-AA0A-3E58-B6F0-2536676E8224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制訂合約範本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(8/16)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9833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C56DFE0-2BEC-F945-9FAF-94B5CC4545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6" r="1342"/>
          <a:stretch/>
        </p:blipFill>
        <p:spPr>
          <a:xfrm>
            <a:off x="848360" y="1152049"/>
            <a:ext cx="10495280" cy="5151582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1031FAAB-1F88-2DAE-4734-FE6C77E6684C}"/>
              </a:ext>
            </a:extLst>
          </p:cNvPr>
          <p:cNvSpPr/>
          <p:nvPr/>
        </p:nvSpPr>
        <p:spPr>
          <a:xfrm>
            <a:off x="1395014" y="1634067"/>
            <a:ext cx="2978205" cy="414020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F99F9334-CE6E-C7E9-ACD2-4C066AEB6345}"/>
              </a:ext>
            </a:extLst>
          </p:cNvPr>
          <p:cNvSpPr/>
          <p:nvPr/>
        </p:nvSpPr>
        <p:spPr bwMode="gray">
          <a:xfrm>
            <a:off x="5615710" y="956926"/>
            <a:ext cx="3205543" cy="736408"/>
          </a:xfrm>
          <a:prstGeom prst="wedgeRoundRectCallout">
            <a:avLst>
              <a:gd name="adj1" fmla="val -88675"/>
              <a:gd name="adj2" fmla="val 75112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6: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填寫合約資料</a:t>
            </a:r>
          </a:p>
        </p:txBody>
      </p:sp>
      <p:sp>
        <p:nvSpPr>
          <p:cNvPr id="13" name="語音泡泡: 圓角矩形 12">
            <a:extLst>
              <a:ext uri="{FF2B5EF4-FFF2-40B4-BE49-F238E27FC236}">
                <a16:creationId xmlns:a16="http://schemas.microsoft.com/office/drawing/2014/main" id="{E54FDF30-C120-E496-F4D6-A61381AD2AE2}"/>
              </a:ext>
            </a:extLst>
          </p:cNvPr>
          <p:cNvSpPr/>
          <p:nvPr/>
        </p:nvSpPr>
        <p:spPr bwMode="gray">
          <a:xfrm>
            <a:off x="4548611" y="3236687"/>
            <a:ext cx="5339743" cy="934959"/>
          </a:xfrm>
          <a:prstGeom prst="wedgeRoundRectCallout">
            <a:avLst>
              <a:gd name="adj1" fmla="val -81466"/>
              <a:gd name="adj2" fmla="val -7036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此欄位固定出現，當您切換甲乙方時，系統會自動調整甲乙方的欄位資料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392B0AA-E209-09BD-7314-649092068605}"/>
              </a:ext>
            </a:extLst>
          </p:cNvPr>
          <p:cNvSpPr/>
          <p:nvPr/>
        </p:nvSpPr>
        <p:spPr>
          <a:xfrm>
            <a:off x="1491639" y="2513266"/>
            <a:ext cx="1369948" cy="61940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F90DC-4070-15FB-FD90-2CC8CBCF5EC3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制訂合約範本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(9/16)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4021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DDA0491-418D-502B-B6FE-02839DDAB1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5"/>
          <a:stretch/>
        </p:blipFill>
        <p:spPr>
          <a:xfrm>
            <a:off x="636918" y="1090158"/>
            <a:ext cx="10816567" cy="5254433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E730ED74-EA3D-D541-7647-2A66094966DB}"/>
              </a:ext>
            </a:extLst>
          </p:cNvPr>
          <p:cNvSpPr/>
          <p:nvPr/>
        </p:nvSpPr>
        <p:spPr bwMode="gray">
          <a:xfrm>
            <a:off x="267247" y="2296160"/>
            <a:ext cx="4081001" cy="668020"/>
          </a:xfrm>
          <a:prstGeom prst="wedgeRoundRectCallout">
            <a:avLst>
              <a:gd name="adj1" fmla="val 60619"/>
              <a:gd name="adj2" fmla="val -4235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7: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即時檢視填寫的內容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AA4544D-D3D7-2387-D295-18C41CFF0A79}"/>
              </a:ext>
            </a:extLst>
          </p:cNvPr>
          <p:cNvSpPr/>
          <p:nvPr/>
        </p:nvSpPr>
        <p:spPr>
          <a:xfrm>
            <a:off x="4790086" y="1584960"/>
            <a:ext cx="6396074" cy="414531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B6075F4D-EF7A-1379-CB20-282815E0BA52}"/>
              </a:ext>
            </a:extLst>
          </p:cNvPr>
          <p:cNvSpPr/>
          <p:nvPr/>
        </p:nvSpPr>
        <p:spPr bwMode="gray">
          <a:xfrm>
            <a:off x="267247" y="3683507"/>
            <a:ext cx="4418876" cy="1325563"/>
          </a:xfrm>
          <a:prstGeom prst="wedgeRoundRectCallout">
            <a:avLst>
              <a:gd name="adj1" fmla="val 52136"/>
              <a:gd name="adj2" fmla="val -7684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自動帶入正在填寫的合約資料，並以藍底標示；非正在填寫部份，則以黃底標示。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7E8EE53-6023-FFF1-384F-890959AF6440}"/>
              </a:ext>
            </a:extLst>
          </p:cNvPr>
          <p:cNvSpPr/>
          <p:nvPr/>
        </p:nvSpPr>
        <p:spPr>
          <a:xfrm>
            <a:off x="2379258" y="5815119"/>
            <a:ext cx="960119" cy="42948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212E8E36-EE3A-9230-86CE-F57B8C87E3DE}"/>
              </a:ext>
            </a:extLst>
          </p:cNvPr>
          <p:cNvSpPr/>
          <p:nvPr/>
        </p:nvSpPr>
        <p:spPr bwMode="gray">
          <a:xfrm>
            <a:off x="4329269" y="5865919"/>
            <a:ext cx="3431864" cy="669942"/>
          </a:xfrm>
          <a:prstGeom prst="wedgeRoundRectCallout">
            <a:avLst>
              <a:gd name="adj1" fmla="val -78914"/>
              <a:gd name="adj2" fmla="val -3173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8: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53A8A9-A37E-5C7F-B07B-19A0BB25ED55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制訂合約範本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(10/16)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2977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C10A93E1-C4B1-9D73-4400-D8C0A7C90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51" y="971966"/>
            <a:ext cx="7134054" cy="5749509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8ACCF815-C218-32E0-6470-FFE5350408F9}"/>
              </a:ext>
            </a:extLst>
          </p:cNvPr>
          <p:cNvSpPr/>
          <p:nvPr/>
        </p:nvSpPr>
        <p:spPr bwMode="gray">
          <a:xfrm>
            <a:off x="8104973" y="1672423"/>
            <a:ext cx="3427036" cy="889000"/>
          </a:xfrm>
          <a:prstGeom prst="wedgeRoundRectCallout">
            <a:avLst>
              <a:gd name="adj1" fmla="val -69773"/>
              <a:gd name="adj2" fmla="val 2149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9: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填寫合約起案申請資料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06E3A39-64EA-34AE-7891-4B463636ABD8}"/>
              </a:ext>
            </a:extLst>
          </p:cNvPr>
          <p:cNvSpPr/>
          <p:nvPr/>
        </p:nvSpPr>
        <p:spPr>
          <a:xfrm>
            <a:off x="1229359" y="1544319"/>
            <a:ext cx="6197601" cy="5177155"/>
          </a:xfrm>
          <a:prstGeom prst="roundRect">
            <a:avLst>
              <a:gd name="adj" fmla="val 2924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50DE63C7-B761-5832-396A-588804940681}"/>
              </a:ext>
            </a:extLst>
          </p:cNvPr>
          <p:cNvSpPr/>
          <p:nvPr/>
        </p:nvSpPr>
        <p:spPr>
          <a:xfrm>
            <a:off x="1369866" y="5568979"/>
            <a:ext cx="2582374" cy="47759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6A402E02-920E-607C-A8AE-56CD26A02A7D}"/>
              </a:ext>
            </a:extLst>
          </p:cNvPr>
          <p:cNvSpPr/>
          <p:nvPr/>
        </p:nvSpPr>
        <p:spPr bwMode="gray">
          <a:xfrm>
            <a:off x="7567764" y="4007849"/>
            <a:ext cx="3971677" cy="1350448"/>
          </a:xfrm>
          <a:prstGeom prst="wedgeRoundRectCallout">
            <a:avLst>
              <a:gd name="adj1" fmla="val -142713"/>
              <a:gd name="adj2" fmla="val 6427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前面已填寫過的合約資料，則在合約起案申請時，系統會自動帶入所填寫的資料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BAB40-8B1E-6DA1-CA0C-2FF42B2FE74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制訂合約範本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(11/16)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771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4C728E5F-5BD7-D38D-2674-EBB29C681386}"/>
              </a:ext>
            </a:extLst>
          </p:cNvPr>
          <p:cNvGrpSpPr/>
          <p:nvPr/>
        </p:nvGrpSpPr>
        <p:grpSpPr>
          <a:xfrm>
            <a:off x="592363" y="899275"/>
            <a:ext cx="6386502" cy="5822200"/>
            <a:chOff x="4839250" y="-85749"/>
            <a:chExt cx="6917165" cy="6570732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8AA213B9-F677-86C0-4811-23940F4BF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85"/>
            <a:stretch>
              <a:fillRect/>
            </a:stretch>
          </p:blipFill>
          <p:spPr>
            <a:xfrm>
              <a:off x="4839250" y="-85749"/>
              <a:ext cx="6917165" cy="4242371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5FA904CF-1D4C-847A-6349-D4726BECB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85"/>
            <a:stretch>
              <a:fillRect/>
            </a:stretch>
          </p:blipFill>
          <p:spPr>
            <a:xfrm>
              <a:off x="4839250" y="4144899"/>
              <a:ext cx="6917165" cy="2340084"/>
            </a:xfrm>
            <a:prstGeom prst="rect">
              <a:avLst/>
            </a:prstGeom>
          </p:spPr>
        </p:pic>
      </p:grpSp>
      <p:sp>
        <p:nvSpPr>
          <p:cNvPr id="16" name="圓角矩形圖說文字 51">
            <a:extLst>
              <a:ext uri="{FF2B5EF4-FFF2-40B4-BE49-F238E27FC236}">
                <a16:creationId xmlns:a16="http://schemas.microsoft.com/office/drawing/2014/main" id="{7EEE5458-7C21-BB9E-8FE2-4DAF369477E4}"/>
              </a:ext>
            </a:extLst>
          </p:cNvPr>
          <p:cNvSpPr/>
          <p:nvPr/>
        </p:nvSpPr>
        <p:spPr bwMode="gray">
          <a:xfrm>
            <a:off x="3338616" y="6017898"/>
            <a:ext cx="3318546" cy="744218"/>
          </a:xfrm>
          <a:prstGeom prst="wedgeRoundRectCallout">
            <a:avLst>
              <a:gd name="adj1" fmla="val -98422"/>
              <a:gd name="adj2" fmla="val 1654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17" name="圓角矩形圖說文字 51">
            <a:extLst>
              <a:ext uri="{FF2B5EF4-FFF2-40B4-BE49-F238E27FC236}">
                <a16:creationId xmlns:a16="http://schemas.microsoft.com/office/drawing/2014/main" id="{6FE72902-7C2D-892F-BD63-7CE8548992FD}"/>
              </a:ext>
            </a:extLst>
          </p:cNvPr>
          <p:cNvSpPr/>
          <p:nvPr/>
        </p:nvSpPr>
        <p:spPr bwMode="gray">
          <a:xfrm>
            <a:off x="7465266" y="3881121"/>
            <a:ext cx="4576667" cy="713926"/>
          </a:xfrm>
          <a:prstGeom prst="wedgeRoundRectCallout">
            <a:avLst>
              <a:gd name="adj1" fmla="val -63076"/>
              <a:gd name="adj2" fmla="val 5592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點選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使用合約產生器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18" name="圓角矩形圖說文字 51">
            <a:extLst>
              <a:ext uri="{FF2B5EF4-FFF2-40B4-BE49-F238E27FC236}">
                <a16:creationId xmlns:a16="http://schemas.microsoft.com/office/drawing/2014/main" id="{963682C1-1DE3-E680-96A0-6467CB8BE532}"/>
              </a:ext>
            </a:extLst>
          </p:cNvPr>
          <p:cNvSpPr/>
          <p:nvPr/>
        </p:nvSpPr>
        <p:spPr bwMode="gray">
          <a:xfrm>
            <a:off x="7720833" y="1368633"/>
            <a:ext cx="3212912" cy="713926"/>
          </a:xfrm>
          <a:prstGeom prst="wedgeRoundRectCallout">
            <a:avLst>
              <a:gd name="adj1" fmla="val -71962"/>
              <a:gd name="adj2" fmla="val 3611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填寫基本資料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: 圓角 23">
            <a:extLst>
              <a:ext uri="{FF2B5EF4-FFF2-40B4-BE49-F238E27FC236}">
                <a16:creationId xmlns:a16="http://schemas.microsoft.com/office/drawing/2014/main" id="{5C567E6C-E7E1-EB68-4377-40CD1EBDD3A0}"/>
              </a:ext>
            </a:extLst>
          </p:cNvPr>
          <p:cNvSpPr/>
          <p:nvPr/>
        </p:nvSpPr>
        <p:spPr>
          <a:xfrm>
            <a:off x="592362" y="4647971"/>
            <a:ext cx="6386501" cy="744218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40F050D0-DBA8-5C9B-8BAA-07B4EF5341C2}"/>
              </a:ext>
            </a:extLst>
          </p:cNvPr>
          <p:cNvSpPr/>
          <p:nvPr/>
        </p:nvSpPr>
        <p:spPr>
          <a:xfrm>
            <a:off x="758369" y="6248400"/>
            <a:ext cx="989152" cy="424156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536B778-DDE3-236C-4D14-C80F9FBBDCAD}"/>
              </a:ext>
            </a:extLst>
          </p:cNvPr>
          <p:cNvSpPr/>
          <p:nvPr/>
        </p:nvSpPr>
        <p:spPr>
          <a:xfrm>
            <a:off x="568395" y="1686559"/>
            <a:ext cx="6410469" cy="1527087"/>
          </a:xfrm>
          <a:prstGeom prst="roundRect">
            <a:avLst>
              <a:gd name="adj" fmla="val 5280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D4BED-E319-426A-6B3B-A792095A8710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合約產生器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(12/16)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3478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928BE4D-FFFE-F91F-6070-CFABEBDD4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94" y="851070"/>
            <a:ext cx="7722665" cy="5840266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536B778-DDE3-236C-4D14-C80F9FBBDCAD}"/>
              </a:ext>
            </a:extLst>
          </p:cNvPr>
          <p:cNvSpPr/>
          <p:nvPr/>
        </p:nvSpPr>
        <p:spPr>
          <a:xfrm>
            <a:off x="1127760" y="2547444"/>
            <a:ext cx="2677625" cy="721410"/>
          </a:xfrm>
          <a:prstGeom prst="roundRect">
            <a:avLst>
              <a:gd name="adj" fmla="val 5280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圓角矩形圖說文字 51">
            <a:extLst>
              <a:ext uri="{FF2B5EF4-FFF2-40B4-BE49-F238E27FC236}">
                <a16:creationId xmlns:a16="http://schemas.microsoft.com/office/drawing/2014/main" id="{963682C1-1DE3-E680-96A0-6467CB8BE532}"/>
              </a:ext>
            </a:extLst>
          </p:cNvPr>
          <p:cNvSpPr/>
          <p:nvPr/>
        </p:nvSpPr>
        <p:spPr bwMode="gray">
          <a:xfrm>
            <a:off x="5303821" y="2176633"/>
            <a:ext cx="3212912" cy="698659"/>
          </a:xfrm>
          <a:prstGeom prst="wedgeRoundRectCallout">
            <a:avLst>
              <a:gd name="adj1" fmla="val -97054"/>
              <a:gd name="adj2" fmla="val 1876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選擇合約類型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40F050D0-DBA8-5C9B-8BAA-07B4EF5341C2}"/>
              </a:ext>
            </a:extLst>
          </p:cNvPr>
          <p:cNvSpPr/>
          <p:nvPr/>
        </p:nvSpPr>
        <p:spPr>
          <a:xfrm>
            <a:off x="2111794" y="4154837"/>
            <a:ext cx="958393" cy="409057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圓角矩形圖說文字 51">
            <a:extLst>
              <a:ext uri="{FF2B5EF4-FFF2-40B4-BE49-F238E27FC236}">
                <a16:creationId xmlns:a16="http://schemas.microsoft.com/office/drawing/2014/main" id="{7EEE5458-7C21-BB9E-8FE2-4DAF369477E4}"/>
              </a:ext>
            </a:extLst>
          </p:cNvPr>
          <p:cNvSpPr/>
          <p:nvPr/>
        </p:nvSpPr>
        <p:spPr bwMode="gray">
          <a:xfrm>
            <a:off x="4128391" y="4104037"/>
            <a:ext cx="5736548" cy="744394"/>
          </a:xfrm>
          <a:prstGeom prst="wedgeRoundRectCallout">
            <a:avLst>
              <a:gd name="adj1" fmla="val -68523"/>
              <a:gd name="adj2" fmla="val -2525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點選問卷的答案，點擊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下一步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14" name="矩形: 圓角 23">
            <a:extLst>
              <a:ext uri="{FF2B5EF4-FFF2-40B4-BE49-F238E27FC236}">
                <a16:creationId xmlns:a16="http://schemas.microsoft.com/office/drawing/2014/main" id="{74BDB60C-9729-E0D9-C34F-E5E5EBBAF72C}"/>
              </a:ext>
            </a:extLst>
          </p:cNvPr>
          <p:cNvSpPr/>
          <p:nvPr/>
        </p:nvSpPr>
        <p:spPr>
          <a:xfrm>
            <a:off x="1127760" y="3268854"/>
            <a:ext cx="6901929" cy="662969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399DA0-AD2C-019D-B5E2-CA8F6FFB45C9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合約產生器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(13/16)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7422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47C47DD-B7B3-650C-F12D-2740C69C89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4" t="260" b="1010"/>
          <a:stretch/>
        </p:blipFill>
        <p:spPr>
          <a:xfrm>
            <a:off x="589336" y="729903"/>
            <a:ext cx="6167808" cy="6012065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9" name="矩形: 圓角 23">
            <a:extLst>
              <a:ext uri="{FF2B5EF4-FFF2-40B4-BE49-F238E27FC236}">
                <a16:creationId xmlns:a16="http://schemas.microsoft.com/office/drawing/2014/main" id="{5C567E6C-E7E1-EB68-4377-40CD1EBDD3A0}"/>
              </a:ext>
            </a:extLst>
          </p:cNvPr>
          <p:cNvSpPr/>
          <p:nvPr/>
        </p:nvSpPr>
        <p:spPr>
          <a:xfrm>
            <a:off x="831727" y="1066800"/>
            <a:ext cx="5802753" cy="5156397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圓角矩形圖說文字 51">
            <a:extLst>
              <a:ext uri="{FF2B5EF4-FFF2-40B4-BE49-F238E27FC236}">
                <a16:creationId xmlns:a16="http://schemas.microsoft.com/office/drawing/2014/main" id="{7EEE5458-7C21-BB9E-8FE2-4DAF369477E4}"/>
              </a:ext>
            </a:extLst>
          </p:cNvPr>
          <p:cNvSpPr/>
          <p:nvPr/>
        </p:nvSpPr>
        <p:spPr bwMode="gray">
          <a:xfrm>
            <a:off x="7138139" y="1938436"/>
            <a:ext cx="3174261" cy="792000"/>
          </a:xfrm>
          <a:prstGeom prst="wedgeRoundRectCallout">
            <a:avLst>
              <a:gd name="adj1" fmla="val -64796"/>
              <a:gd name="adj2" fmla="val 2231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填寫合約資料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A32042EA-7C01-6946-D92A-71467F7C13DB}"/>
              </a:ext>
            </a:extLst>
          </p:cNvPr>
          <p:cNvSpPr/>
          <p:nvPr/>
        </p:nvSpPr>
        <p:spPr bwMode="gray">
          <a:xfrm>
            <a:off x="7405146" y="4284702"/>
            <a:ext cx="4197518" cy="1080866"/>
          </a:xfrm>
          <a:prstGeom prst="wedgeRoundRectCallout">
            <a:avLst>
              <a:gd name="adj1" fmla="val -67639"/>
              <a:gd name="adj2" fmla="val -1554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甲方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乙方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，系統會自動帶入立書人基本資料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29478A-9830-5D69-782C-781DA0D78698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合約產生器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(14/16)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4837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8A6D-6617-FFA0-579B-AB1C63297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066CD000-82A5-24CB-5278-A1B47E5AF3F1}"/>
              </a:ext>
            </a:extLst>
          </p:cNvPr>
          <p:cNvGrpSpPr/>
          <p:nvPr/>
        </p:nvGrpSpPr>
        <p:grpSpPr>
          <a:xfrm>
            <a:off x="523594" y="896326"/>
            <a:ext cx="6730646" cy="5825149"/>
            <a:chOff x="442314" y="753159"/>
            <a:chExt cx="5750445" cy="4769437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BC926C6E-CD31-6B4B-8F0D-00FEDCC15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5436"/>
            <a:stretch>
              <a:fillRect/>
            </a:stretch>
          </p:blipFill>
          <p:spPr>
            <a:xfrm>
              <a:off x="442314" y="753159"/>
              <a:ext cx="5750445" cy="3300682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B959E389-252F-CFDD-18FE-6CC447F56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5720"/>
            <a:stretch>
              <a:fillRect/>
            </a:stretch>
          </p:blipFill>
          <p:spPr>
            <a:xfrm>
              <a:off x="442314" y="4053841"/>
              <a:ext cx="5750445" cy="1468755"/>
            </a:xfrm>
            <a:prstGeom prst="rect">
              <a:avLst/>
            </a:prstGeom>
          </p:spPr>
        </p:pic>
      </p:grp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EADBCC9-913D-4B3A-FEFC-948F328B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2" name="圓角矩形圖說文字 51">
            <a:extLst>
              <a:ext uri="{FF2B5EF4-FFF2-40B4-BE49-F238E27FC236}">
                <a16:creationId xmlns:a16="http://schemas.microsoft.com/office/drawing/2014/main" id="{275FA571-87C7-3C00-9909-9EA5E9054857}"/>
              </a:ext>
            </a:extLst>
          </p:cNvPr>
          <p:cNvSpPr/>
          <p:nvPr/>
        </p:nvSpPr>
        <p:spPr bwMode="gray">
          <a:xfrm>
            <a:off x="1766225" y="1937150"/>
            <a:ext cx="3602526" cy="677057"/>
          </a:xfrm>
          <a:prstGeom prst="wedgeRoundRectCallout">
            <a:avLst>
              <a:gd name="adj1" fmla="val -28354"/>
              <a:gd name="adj2" fmla="val 40023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選擇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電子簽章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C2A06F1-8FAD-66C9-046F-4DF2B8A3777B}"/>
              </a:ext>
            </a:extLst>
          </p:cNvPr>
          <p:cNvSpPr/>
          <p:nvPr/>
        </p:nvSpPr>
        <p:spPr>
          <a:xfrm>
            <a:off x="1148080" y="5000851"/>
            <a:ext cx="1737360" cy="47933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55E0920-4081-36E4-A970-385AE0BBAAA9}"/>
              </a:ext>
            </a:extLst>
          </p:cNvPr>
          <p:cNvSpPr/>
          <p:nvPr/>
        </p:nvSpPr>
        <p:spPr>
          <a:xfrm>
            <a:off x="4003040" y="4980530"/>
            <a:ext cx="2661920" cy="49965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圓角矩形圖說文字 51">
            <a:extLst>
              <a:ext uri="{FF2B5EF4-FFF2-40B4-BE49-F238E27FC236}">
                <a16:creationId xmlns:a16="http://schemas.microsoft.com/office/drawing/2014/main" id="{9F856C4A-BF1E-EA7F-A8FB-F5458F8899F8}"/>
              </a:ext>
            </a:extLst>
          </p:cNvPr>
          <p:cNvSpPr/>
          <p:nvPr/>
        </p:nvSpPr>
        <p:spPr bwMode="gray">
          <a:xfrm>
            <a:off x="7919720" y="4303473"/>
            <a:ext cx="3830320" cy="677057"/>
          </a:xfrm>
          <a:prstGeom prst="wedgeRoundRectCallout">
            <a:avLst>
              <a:gd name="adj1" fmla="val -82648"/>
              <a:gd name="adj2" fmla="val 5659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選擇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簽署人數量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6C6EF452-8700-AC15-4621-4E53A17AB67A}"/>
              </a:ext>
            </a:extLst>
          </p:cNvPr>
          <p:cNvSpPr/>
          <p:nvPr/>
        </p:nvSpPr>
        <p:spPr>
          <a:xfrm>
            <a:off x="1148080" y="5604230"/>
            <a:ext cx="5588000" cy="99977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圓角矩形圖說文字 51">
            <a:extLst>
              <a:ext uri="{FF2B5EF4-FFF2-40B4-BE49-F238E27FC236}">
                <a16:creationId xmlns:a16="http://schemas.microsoft.com/office/drawing/2014/main" id="{C75C1198-5BBA-B813-48D5-5E946DAD8657}"/>
              </a:ext>
            </a:extLst>
          </p:cNvPr>
          <p:cNvSpPr/>
          <p:nvPr/>
        </p:nvSpPr>
        <p:spPr bwMode="gray">
          <a:xfrm>
            <a:off x="7878726" y="5123861"/>
            <a:ext cx="3830320" cy="983475"/>
          </a:xfrm>
          <a:prstGeom prst="wedgeRoundRectCallout">
            <a:avLst>
              <a:gd name="adj1" fmla="val -79995"/>
              <a:gd name="adj2" fmla="val 4077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填寫簽署人的姓名和電子郵件</a:t>
            </a:r>
          </a:p>
        </p:txBody>
      </p:sp>
      <p:sp>
        <p:nvSpPr>
          <p:cNvPr id="22" name="語音泡泡: 圓角矩形 21">
            <a:extLst>
              <a:ext uri="{FF2B5EF4-FFF2-40B4-BE49-F238E27FC236}">
                <a16:creationId xmlns:a16="http://schemas.microsoft.com/office/drawing/2014/main" id="{15EAD5FC-7C33-0DDE-A7FF-0CBA2636C7E0}"/>
              </a:ext>
            </a:extLst>
          </p:cNvPr>
          <p:cNvSpPr/>
          <p:nvPr/>
        </p:nvSpPr>
        <p:spPr bwMode="gray">
          <a:xfrm>
            <a:off x="7411720" y="3216221"/>
            <a:ext cx="2921000" cy="677058"/>
          </a:xfrm>
          <a:prstGeom prst="wedgeRoundRectCallout">
            <a:avLst>
              <a:gd name="adj1" fmla="val -80145"/>
              <a:gd name="adj2" fmla="val 21105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最多可選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個簽署人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44804-6A6A-9841-0F50-0F225F8233B8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選擇電子簽章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(15/16)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2946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8F7CA-05D5-CD18-26CE-7FFEBF838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F4F703D-C3E5-0352-DB58-2B114E5F77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8" r="514"/>
          <a:stretch>
            <a:fillRect/>
          </a:stretch>
        </p:blipFill>
        <p:spPr>
          <a:xfrm>
            <a:off x="523594" y="897942"/>
            <a:ext cx="6344920" cy="3016682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2D75835-E80F-644D-7779-6315D71D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7337AD9-AC3F-BE62-CCB4-766EF1AF3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740" y="1608713"/>
            <a:ext cx="6700520" cy="5131748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6DB6A4B-F541-B620-9B17-897453C145EF}"/>
              </a:ext>
            </a:extLst>
          </p:cNvPr>
          <p:cNvSpPr/>
          <p:nvPr/>
        </p:nvSpPr>
        <p:spPr>
          <a:xfrm>
            <a:off x="2357120" y="3420238"/>
            <a:ext cx="873760" cy="44770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圖說文字 51">
            <a:extLst>
              <a:ext uri="{FF2B5EF4-FFF2-40B4-BE49-F238E27FC236}">
                <a16:creationId xmlns:a16="http://schemas.microsoft.com/office/drawing/2014/main" id="{0E6C275F-4E44-4C76-2199-6CB2181CFA27}"/>
              </a:ext>
            </a:extLst>
          </p:cNvPr>
          <p:cNvSpPr/>
          <p:nvPr/>
        </p:nvSpPr>
        <p:spPr bwMode="gray">
          <a:xfrm>
            <a:off x="523594" y="4328675"/>
            <a:ext cx="3408680" cy="983475"/>
          </a:xfrm>
          <a:prstGeom prst="wedgeRoundRectCallout">
            <a:avLst>
              <a:gd name="adj1" fmla="val 20564"/>
              <a:gd name="adj2" fmla="val -9455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其餘資料填寫完畢後，點擊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下一步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語音泡泡: 圓角矩形 18">
            <a:extLst>
              <a:ext uri="{FF2B5EF4-FFF2-40B4-BE49-F238E27FC236}">
                <a16:creationId xmlns:a16="http://schemas.microsoft.com/office/drawing/2014/main" id="{31B2C292-0FA0-F2F6-5EDC-CF3FD177C68F}"/>
              </a:ext>
            </a:extLst>
          </p:cNvPr>
          <p:cNvSpPr/>
          <p:nvPr/>
        </p:nvSpPr>
        <p:spPr bwMode="gray">
          <a:xfrm>
            <a:off x="739410" y="5993404"/>
            <a:ext cx="3778511" cy="714101"/>
          </a:xfrm>
          <a:prstGeom prst="wedgeRoundRectCallout">
            <a:avLst>
              <a:gd name="adj1" fmla="val 81473"/>
              <a:gd name="adj2" fmla="val 2534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申請審核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1180B952-73EF-C564-85DB-F5B2B56CBA2F}"/>
              </a:ext>
            </a:extLst>
          </p:cNvPr>
          <p:cNvSpPr/>
          <p:nvPr/>
        </p:nvSpPr>
        <p:spPr>
          <a:xfrm>
            <a:off x="4844134" y="4934702"/>
            <a:ext cx="5795926" cy="78568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23" name="語音泡泡: 圓角矩形 22">
            <a:extLst>
              <a:ext uri="{FF2B5EF4-FFF2-40B4-BE49-F238E27FC236}">
                <a16:creationId xmlns:a16="http://schemas.microsoft.com/office/drawing/2014/main" id="{3B6D1E73-A019-86EA-36FA-CA4964336FDD}"/>
              </a:ext>
            </a:extLst>
          </p:cNvPr>
          <p:cNvSpPr/>
          <p:nvPr/>
        </p:nvSpPr>
        <p:spPr bwMode="gray">
          <a:xfrm>
            <a:off x="8224082" y="1045968"/>
            <a:ext cx="3129718" cy="1007303"/>
          </a:xfrm>
          <a:prstGeom prst="wedgeRoundRectCallout">
            <a:avLst>
              <a:gd name="adj1" fmla="val 20640"/>
              <a:gd name="adj2" fmla="val 33561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審核流程出現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電子簽章簽署關卡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07609E74-BA58-0A76-3FD9-5F6D0718398B}"/>
              </a:ext>
            </a:extLst>
          </p:cNvPr>
          <p:cNvSpPr/>
          <p:nvPr/>
        </p:nvSpPr>
        <p:spPr>
          <a:xfrm>
            <a:off x="5714261" y="6247956"/>
            <a:ext cx="1056286" cy="43398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57F29-C0D4-AC31-43B4-733E7D7DA07B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申請合約審閱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</a:rPr>
              <a:t>選擇電子簽章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(16/16)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4182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D4130-0587-B159-FD28-8C8B3AB1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59095391-34EB-EC27-EE91-0AC1F8C42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2.2 </a:t>
            </a:r>
            <a:r>
              <a:rPr lang="zh-TW" altLang="en-US" sz="3600" dirty="0"/>
              <a:t>合約起案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草稿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2754671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955C783-C25A-DBF2-05E3-B78CF83518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0" r="1129"/>
          <a:stretch>
            <a:fillRect/>
          </a:stretch>
        </p:blipFill>
        <p:spPr>
          <a:xfrm>
            <a:off x="573545" y="862736"/>
            <a:ext cx="8562975" cy="3386568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1D79873-9B74-DC80-6863-31F85E95C9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949"/>
          <a:stretch>
            <a:fillRect/>
          </a:stretch>
        </p:blipFill>
        <p:spPr>
          <a:xfrm>
            <a:off x="3533506" y="3618770"/>
            <a:ext cx="8004715" cy="288267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草稿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】(1/2)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B037C33-A50F-970C-30C4-AF018C70F08B}"/>
              </a:ext>
            </a:extLst>
          </p:cNvPr>
          <p:cNvSpPr/>
          <p:nvPr/>
        </p:nvSpPr>
        <p:spPr>
          <a:xfrm>
            <a:off x="731380" y="3590924"/>
            <a:ext cx="1230770" cy="534023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74F5240-20EE-F38A-5215-7D851F95C5F7}"/>
              </a:ext>
            </a:extLst>
          </p:cNvPr>
          <p:cNvSpPr/>
          <p:nvPr/>
        </p:nvSpPr>
        <p:spPr>
          <a:xfrm>
            <a:off x="3778250" y="6071464"/>
            <a:ext cx="7515226" cy="384192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B06C8CD4-251B-907C-0E59-36A0546FF7AA}"/>
              </a:ext>
            </a:extLst>
          </p:cNvPr>
          <p:cNvSpPr/>
          <p:nvPr/>
        </p:nvSpPr>
        <p:spPr bwMode="gray">
          <a:xfrm>
            <a:off x="6589401" y="4430133"/>
            <a:ext cx="5274675" cy="995981"/>
          </a:xfrm>
          <a:prstGeom prst="wedgeRoundRectCallout">
            <a:avLst>
              <a:gd name="adj1" fmla="val -20766"/>
              <a:gd name="adj2" fmla="val 11211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申請合約審閱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存成草稿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或自動儲存的合約草稿顯示於此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37161AC5-84AF-680B-76DA-6AFC9E8E4123}"/>
              </a:ext>
            </a:extLst>
          </p:cNvPr>
          <p:cNvCxnSpPr>
            <a:cxnSpLocks/>
          </p:cNvCxnSpPr>
          <p:nvPr/>
        </p:nvCxnSpPr>
        <p:spPr>
          <a:xfrm>
            <a:off x="1495425" y="4124947"/>
            <a:ext cx="2282825" cy="19465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566110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1D2FE7C-8818-8752-9B1C-F11467A3C9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49"/>
          <a:stretch>
            <a:fillRect/>
          </a:stretch>
        </p:blipFill>
        <p:spPr>
          <a:xfrm>
            <a:off x="505310" y="932791"/>
            <a:ext cx="8004715" cy="288267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16F0174-3270-34EE-2581-2E45F653F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8743" y="1739214"/>
            <a:ext cx="7755220" cy="489003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草稿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B037C33-A50F-970C-30C4-AF018C70F08B}"/>
              </a:ext>
            </a:extLst>
          </p:cNvPr>
          <p:cNvSpPr/>
          <p:nvPr/>
        </p:nvSpPr>
        <p:spPr>
          <a:xfrm>
            <a:off x="1299884" y="3343275"/>
            <a:ext cx="452716" cy="448793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EF484F6E-97DC-B66D-D49D-2C2352699AC0}"/>
              </a:ext>
            </a:extLst>
          </p:cNvPr>
          <p:cNvSpPr/>
          <p:nvPr/>
        </p:nvSpPr>
        <p:spPr bwMode="gray">
          <a:xfrm>
            <a:off x="505310" y="4231854"/>
            <a:ext cx="3676165" cy="1077914"/>
          </a:xfrm>
          <a:prstGeom prst="wedgeRoundRectCallout">
            <a:avLst>
              <a:gd name="adj1" fmla="val -21190"/>
              <a:gd name="adj2" fmla="val -8941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，頁面回到當時申請合約審閱的畫面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83826C5-6DEA-4ADD-9D58-DF5E383B9006}"/>
              </a:ext>
            </a:extLst>
          </p:cNvPr>
          <p:cNvSpPr/>
          <p:nvPr/>
        </p:nvSpPr>
        <p:spPr>
          <a:xfrm>
            <a:off x="5983799" y="1788854"/>
            <a:ext cx="996776" cy="378721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8514231F-D385-8364-6364-E1FE68E117BE}"/>
              </a:ext>
            </a:extLst>
          </p:cNvPr>
          <p:cNvSpPr/>
          <p:nvPr/>
        </p:nvSpPr>
        <p:spPr bwMode="gray">
          <a:xfrm>
            <a:off x="7390150" y="913741"/>
            <a:ext cx="4296540" cy="792000"/>
          </a:xfrm>
          <a:prstGeom prst="wedgeRoundRectCallout">
            <a:avLst>
              <a:gd name="adj1" fmla="val -62571"/>
              <a:gd name="adj2" fmla="val 5813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顯示當時申請合約審閱的方式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214534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1BAA9-9FB0-4E2A-85EA-7979AC050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49BAB85E-D1CF-6FA5-8181-8DF7C062A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3.1 </a:t>
            </a:r>
            <a:r>
              <a:rPr lang="zh-TW" altLang="en-US" sz="3600" dirty="0"/>
              <a:t>我的案件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送審清單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26537810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98B101D-41EC-E4CD-9B1A-7CD561C60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48" y="1338821"/>
            <a:ext cx="11526177" cy="319289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】(1/14)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FBCB975-5DCC-1A40-0C68-4B1225311253}"/>
              </a:ext>
            </a:extLst>
          </p:cNvPr>
          <p:cNvSpPr/>
          <p:nvPr/>
        </p:nvSpPr>
        <p:spPr>
          <a:xfrm>
            <a:off x="560488" y="1920687"/>
            <a:ext cx="1405686" cy="46347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59759484-89FF-EF40-C0A2-14E58FB3D1D8}"/>
              </a:ext>
            </a:extLst>
          </p:cNvPr>
          <p:cNvSpPr/>
          <p:nvPr/>
        </p:nvSpPr>
        <p:spPr bwMode="gray">
          <a:xfrm>
            <a:off x="2567845" y="2384160"/>
            <a:ext cx="4577026" cy="753907"/>
          </a:xfrm>
          <a:prstGeom prst="wedgeRoundRectCallout">
            <a:avLst>
              <a:gd name="adj1" fmla="val -63697"/>
              <a:gd name="adj2" fmla="val -50116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點擊後展開查詢條件，以做查詢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7A1EF06-87A7-7405-14AB-F2BA335B342E}"/>
              </a:ext>
            </a:extLst>
          </p:cNvPr>
          <p:cNvSpPr/>
          <p:nvPr/>
        </p:nvSpPr>
        <p:spPr>
          <a:xfrm>
            <a:off x="550963" y="3777808"/>
            <a:ext cx="11193362" cy="75390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899ABD28-18E4-603B-21C6-677DD1CED711}"/>
              </a:ext>
            </a:extLst>
          </p:cNvPr>
          <p:cNvSpPr/>
          <p:nvPr/>
        </p:nvSpPr>
        <p:spPr bwMode="gray">
          <a:xfrm>
            <a:off x="6296024" y="4918487"/>
            <a:ext cx="5191125" cy="1749013"/>
          </a:xfrm>
          <a:prstGeom prst="wedgeRoundRectCallout">
            <a:avLst>
              <a:gd name="adj1" fmla="val -22015"/>
              <a:gd name="adj2" fmla="val -7120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列表顯示由「自己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」送審的申請單：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合約審閱申請單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紙本合約借閱申請單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合約電子檔閱覽申請單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686040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91281573-8A54-5A14-C527-3638E504FD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01"/>
          <a:stretch>
            <a:fillRect/>
          </a:stretch>
        </p:blipFill>
        <p:spPr>
          <a:xfrm>
            <a:off x="495523" y="902946"/>
            <a:ext cx="11113771" cy="304898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964E5A9E-9865-C29A-8685-9567F4E197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8" r="790"/>
          <a:stretch>
            <a:fillRect/>
          </a:stretch>
        </p:blipFill>
        <p:spPr>
          <a:xfrm>
            <a:off x="3046924" y="2460263"/>
            <a:ext cx="8884990" cy="349477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BB85A9F-7B5E-B06B-EC4E-FFADAA4B586C}"/>
              </a:ext>
            </a:extLst>
          </p:cNvPr>
          <p:cNvSpPr/>
          <p:nvPr/>
        </p:nvSpPr>
        <p:spPr>
          <a:xfrm>
            <a:off x="1123950" y="3248932"/>
            <a:ext cx="322620" cy="37490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6BE22253-2BD4-7B5B-ABB7-3665D333D380}"/>
              </a:ext>
            </a:extLst>
          </p:cNvPr>
          <p:cNvSpPr/>
          <p:nvPr/>
        </p:nvSpPr>
        <p:spPr bwMode="gray">
          <a:xfrm>
            <a:off x="1812420" y="2365585"/>
            <a:ext cx="917743" cy="792000"/>
          </a:xfrm>
          <a:prstGeom prst="wedgeRoundRectCallout">
            <a:avLst>
              <a:gd name="adj1" fmla="val -86366"/>
              <a:gd name="adj2" fmla="val 6317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明細</a:t>
            </a:r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614E2D52-CC94-6E69-8F77-749DB88F71DB}"/>
              </a:ext>
            </a:extLst>
          </p:cNvPr>
          <p:cNvSpPr/>
          <p:nvPr/>
        </p:nvSpPr>
        <p:spPr bwMode="gray">
          <a:xfrm>
            <a:off x="3978291" y="5263672"/>
            <a:ext cx="5527659" cy="1085370"/>
          </a:xfrm>
          <a:prstGeom prst="wedgeRoundRectCallout">
            <a:avLst>
              <a:gd name="adj1" fmla="val 51165"/>
              <a:gd name="adj2" fmla="val -10528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通過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審核管理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流程維護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所設定的特定關卡後，系統會產出合約編號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82984F4-1B3F-3B27-11A0-541A1F91049A}"/>
              </a:ext>
            </a:extLst>
          </p:cNvPr>
          <p:cNvSpPr/>
          <p:nvPr/>
        </p:nvSpPr>
        <p:spPr>
          <a:xfrm>
            <a:off x="9591675" y="4144525"/>
            <a:ext cx="2036669" cy="52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C631CC9-4ECB-9FAD-69CC-3A1DA11B18FC}"/>
              </a:ext>
            </a:extLst>
          </p:cNvPr>
          <p:cNvSpPr/>
          <p:nvPr/>
        </p:nvSpPr>
        <p:spPr>
          <a:xfrm>
            <a:off x="1446570" y="3600432"/>
            <a:ext cx="322620" cy="35149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66F66329-E42E-4EFD-B239-96A5CE099A31}"/>
              </a:ext>
            </a:extLst>
          </p:cNvPr>
          <p:cNvSpPr/>
          <p:nvPr/>
        </p:nvSpPr>
        <p:spPr bwMode="gray">
          <a:xfrm>
            <a:off x="386567" y="4051280"/>
            <a:ext cx="917743" cy="792000"/>
          </a:xfrm>
          <a:prstGeom prst="wedgeRoundRectCallout">
            <a:avLst>
              <a:gd name="adj1" fmla="val 83637"/>
              <a:gd name="adj2" fmla="val -6022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撤回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FFADA86-F133-9DB4-59B2-EF5B601528B4}"/>
              </a:ext>
            </a:extLst>
          </p:cNvPr>
          <p:cNvSpPr/>
          <p:nvPr/>
        </p:nvSpPr>
        <p:spPr bwMode="gray">
          <a:xfrm>
            <a:off x="7233103" y="1115077"/>
            <a:ext cx="4153354" cy="1067071"/>
          </a:xfrm>
          <a:prstGeom prst="roundRect">
            <a:avLst>
              <a:gd name="adj" fmla="val 5422"/>
            </a:avLst>
          </a:prstGeom>
          <a:solidFill>
            <a:schemeClr val="bg1">
              <a:lumMod val="6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/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補充說明：</a:t>
            </a:r>
            <a:endParaRPr lang="en-US" altLang="zh-TW" sz="1800" b="1" dirty="0">
              <a:solidFill>
                <a:schemeClr val="bg1"/>
              </a:solidFill>
            </a:endParaRPr>
          </a:p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尚未產生合約編號的合約審閱申請單，才會提供</a:t>
            </a:r>
            <a:r>
              <a:rPr lang="en-US" altLang="zh-TW" sz="1800" b="1" dirty="0">
                <a:solidFill>
                  <a:schemeClr val="bg1"/>
                </a:solidFill>
              </a:rPr>
              <a:t>&lt;</a:t>
            </a:r>
            <a:r>
              <a:rPr lang="zh-TW" altLang="en-US" sz="1800" b="1" dirty="0">
                <a:solidFill>
                  <a:schemeClr val="bg1"/>
                </a:solidFill>
              </a:rPr>
              <a:t>撤回</a:t>
            </a:r>
            <a:r>
              <a:rPr lang="en-US" altLang="zh-TW" sz="1800" b="1" dirty="0">
                <a:solidFill>
                  <a:schemeClr val="bg1"/>
                </a:solidFill>
              </a:rPr>
              <a:t>&gt;</a:t>
            </a:r>
            <a:r>
              <a:rPr lang="zh-TW" altLang="en-US" sz="1800" b="1" dirty="0">
                <a:solidFill>
                  <a:schemeClr val="bg1"/>
                </a:solidFill>
              </a:rPr>
              <a:t>功能</a:t>
            </a:r>
            <a:endParaRPr lang="en-US" altLang="zh-TW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774990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1B65939-662A-F248-C0F7-5DFBF0798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78" y="1148234"/>
            <a:ext cx="10752644" cy="484728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基本資料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(3/14)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AA10C0E-DDD7-8109-1918-C486659621BB}"/>
              </a:ext>
            </a:extLst>
          </p:cNvPr>
          <p:cNvSpPr/>
          <p:nvPr/>
        </p:nvSpPr>
        <p:spPr>
          <a:xfrm>
            <a:off x="956580" y="1759837"/>
            <a:ext cx="1392171" cy="45948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88146106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A0A7E2E-E5FA-1D65-3CEF-677B5411E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36" y="1161405"/>
            <a:ext cx="10677127" cy="471448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審核進度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(4/14)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C9701FD-B640-86A7-C561-EC619BFB0DDA}"/>
              </a:ext>
            </a:extLst>
          </p:cNvPr>
          <p:cNvSpPr/>
          <p:nvPr/>
        </p:nvSpPr>
        <p:spPr>
          <a:xfrm>
            <a:off x="2243349" y="1739120"/>
            <a:ext cx="1417052" cy="51910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179ADBF-C012-179E-CDC1-E103B3FC9AE8}"/>
              </a:ext>
            </a:extLst>
          </p:cNvPr>
          <p:cNvSpPr/>
          <p:nvPr/>
        </p:nvSpPr>
        <p:spPr>
          <a:xfrm>
            <a:off x="1030942" y="3683245"/>
            <a:ext cx="10141884" cy="40341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圓角矩形圖說文字 9">
            <a:extLst>
              <a:ext uri="{FF2B5EF4-FFF2-40B4-BE49-F238E27FC236}">
                <a16:creationId xmlns:a16="http://schemas.microsoft.com/office/drawing/2014/main" id="{750EFC86-3F52-14FA-257E-8EF3D99BE10B}"/>
              </a:ext>
            </a:extLst>
          </p:cNvPr>
          <p:cNvSpPr/>
          <p:nvPr/>
        </p:nvSpPr>
        <p:spPr>
          <a:xfrm>
            <a:off x="3873505" y="4442931"/>
            <a:ext cx="4308471" cy="693313"/>
          </a:xfrm>
          <a:prstGeom prst="wedgeRoundRectCallout">
            <a:avLst>
              <a:gd name="adj1" fmla="val -21528"/>
              <a:gd name="adj2" fmla="val -9920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</a:rPr>
              <a:t>目前審核中的關卡會呈現藍底</a:t>
            </a:r>
          </a:p>
        </p:txBody>
      </p:sp>
    </p:spTree>
    <p:extLst>
      <p:ext uri="{BB962C8B-B14F-4D97-AF65-F5344CB8AC3E}">
        <p14:creationId xmlns:p14="http://schemas.microsoft.com/office/powerpoint/2010/main" val="1140134792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3FCA946-CD5B-3DC0-4439-C8794A401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51" y="1058536"/>
            <a:ext cx="10910047" cy="448979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審核紀錄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(5/14)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112B413-9E7A-6C2E-3D9D-4A2B64C82917}"/>
              </a:ext>
            </a:extLst>
          </p:cNvPr>
          <p:cNvSpPr/>
          <p:nvPr/>
        </p:nvSpPr>
        <p:spPr>
          <a:xfrm>
            <a:off x="3501006" y="1675837"/>
            <a:ext cx="1443029" cy="48409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2AFCF798-7C30-D49F-B0A9-D55DCBC983C5}"/>
              </a:ext>
            </a:extLst>
          </p:cNvPr>
          <p:cNvSpPr/>
          <p:nvPr/>
        </p:nvSpPr>
        <p:spPr bwMode="gray">
          <a:xfrm>
            <a:off x="4288155" y="5555041"/>
            <a:ext cx="3042076" cy="975600"/>
          </a:xfrm>
          <a:prstGeom prst="wedgeRoundRectCallout">
            <a:avLst>
              <a:gd name="adj1" fmla="val 65175"/>
              <a:gd name="adj2" fmla="val -5557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錄各關卡所調整的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合約本文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4BD6B62-1AED-EDD6-609F-E3D9946CF5DD}"/>
              </a:ext>
            </a:extLst>
          </p:cNvPr>
          <p:cNvSpPr/>
          <p:nvPr/>
        </p:nvSpPr>
        <p:spPr>
          <a:xfrm>
            <a:off x="7820025" y="2313160"/>
            <a:ext cx="948578" cy="323516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294764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66CE302C-B9E7-4EE8-6B40-2643D7B2C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01" y="1532965"/>
            <a:ext cx="10914798" cy="219129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修改紀錄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(6/14)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DC54EA3-41F2-F9F9-46A2-5A84C670F6BB}"/>
              </a:ext>
            </a:extLst>
          </p:cNvPr>
          <p:cNvSpPr/>
          <p:nvPr/>
        </p:nvSpPr>
        <p:spPr>
          <a:xfrm>
            <a:off x="4720306" y="2159137"/>
            <a:ext cx="1433516" cy="47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CFEEBFF-4C1A-E3D8-AD4E-D38519308A53}"/>
              </a:ext>
            </a:extLst>
          </p:cNvPr>
          <p:cNvSpPr/>
          <p:nvPr/>
        </p:nvSpPr>
        <p:spPr>
          <a:xfrm>
            <a:off x="879013" y="2767454"/>
            <a:ext cx="10369600" cy="81726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12EBE032-27E0-7181-1F8A-4B13A044CC4E}"/>
              </a:ext>
            </a:extLst>
          </p:cNvPr>
          <p:cNvSpPr/>
          <p:nvPr/>
        </p:nvSpPr>
        <p:spPr bwMode="gray">
          <a:xfrm>
            <a:off x="6384579" y="3869432"/>
            <a:ext cx="4864033" cy="850663"/>
          </a:xfrm>
          <a:prstGeom prst="wedgeRoundRectCallout">
            <a:avLst>
              <a:gd name="adj1" fmla="val -22654"/>
              <a:gd name="adj2" fmla="val -8326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基本資料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被修改過的欄位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847204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4267DD2-6646-0917-CC17-003FE7746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88" y="1394673"/>
            <a:ext cx="10475823" cy="322063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版本歷程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(7/14)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4C83988-A50A-8C0E-9449-6BE5AB51C27A}"/>
              </a:ext>
            </a:extLst>
          </p:cNvPr>
          <p:cNvSpPr/>
          <p:nvPr/>
        </p:nvSpPr>
        <p:spPr>
          <a:xfrm>
            <a:off x="6018867" y="1988130"/>
            <a:ext cx="1404245" cy="44245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40574ED-A92F-438B-8732-C48D14B6303E}"/>
              </a:ext>
            </a:extLst>
          </p:cNvPr>
          <p:cNvSpPr/>
          <p:nvPr/>
        </p:nvSpPr>
        <p:spPr>
          <a:xfrm>
            <a:off x="1143000" y="2924175"/>
            <a:ext cx="9901518" cy="1512769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語音泡泡: 圓角矩形 18">
            <a:extLst>
              <a:ext uri="{FF2B5EF4-FFF2-40B4-BE49-F238E27FC236}">
                <a16:creationId xmlns:a16="http://schemas.microsoft.com/office/drawing/2014/main" id="{90F35286-DB40-87FB-165F-239C7700DF6B}"/>
              </a:ext>
            </a:extLst>
          </p:cNvPr>
          <p:cNvSpPr/>
          <p:nvPr/>
        </p:nvSpPr>
        <p:spPr bwMode="gray">
          <a:xfrm>
            <a:off x="896188" y="4896263"/>
            <a:ext cx="6097193" cy="946986"/>
          </a:xfrm>
          <a:prstGeom prst="wedgeRoundRectCallout">
            <a:avLst>
              <a:gd name="adj1" fmla="val -21401"/>
              <a:gd name="adj2" fmla="val -9634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在審核過程中，若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合約本文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有上傳更新過，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系統會記錄其版本歷程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746813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A38604F-043C-E9B9-BCE9-76CA5B9D4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86" y="872493"/>
            <a:ext cx="10115680" cy="310991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EC5A584-7EE5-B97A-F4D1-B9F90679D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980" y="1737047"/>
            <a:ext cx="6471669" cy="489718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版本歷程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版本比對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(8/14)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40574ED-A92F-438B-8732-C48D14B6303E}"/>
              </a:ext>
            </a:extLst>
          </p:cNvPr>
          <p:cNvSpPr/>
          <p:nvPr/>
        </p:nvSpPr>
        <p:spPr>
          <a:xfrm>
            <a:off x="847724" y="2714924"/>
            <a:ext cx="398369" cy="760428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圖說文字 51">
            <a:extLst>
              <a:ext uri="{FF2B5EF4-FFF2-40B4-BE49-F238E27FC236}">
                <a16:creationId xmlns:a16="http://schemas.microsoft.com/office/drawing/2014/main" id="{2EE4AA88-7711-52B1-7B3C-CE3E5D999AE7}"/>
              </a:ext>
            </a:extLst>
          </p:cNvPr>
          <p:cNvSpPr/>
          <p:nvPr/>
        </p:nvSpPr>
        <p:spPr bwMode="gray">
          <a:xfrm>
            <a:off x="585386" y="3982405"/>
            <a:ext cx="3759146" cy="705573"/>
          </a:xfrm>
          <a:prstGeom prst="wedgeRoundRectCallout">
            <a:avLst>
              <a:gd name="adj1" fmla="val -33033"/>
              <a:gd name="adj2" fmla="val -12002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選兩個版本合約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8DB24EE-838D-6A36-880C-7170DE22788A}"/>
              </a:ext>
            </a:extLst>
          </p:cNvPr>
          <p:cNvSpPr/>
          <p:nvPr/>
        </p:nvSpPr>
        <p:spPr>
          <a:xfrm>
            <a:off x="809625" y="1938144"/>
            <a:ext cx="1018878" cy="470255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圓角矩形圖說文字 51">
            <a:extLst>
              <a:ext uri="{FF2B5EF4-FFF2-40B4-BE49-F238E27FC236}">
                <a16:creationId xmlns:a16="http://schemas.microsoft.com/office/drawing/2014/main" id="{F4151456-E2A7-658B-12C1-9C180D765078}"/>
              </a:ext>
            </a:extLst>
          </p:cNvPr>
          <p:cNvSpPr/>
          <p:nvPr/>
        </p:nvSpPr>
        <p:spPr bwMode="gray">
          <a:xfrm>
            <a:off x="1897994" y="797748"/>
            <a:ext cx="3607025" cy="705573"/>
          </a:xfrm>
          <a:prstGeom prst="wedgeRoundRectCallout">
            <a:avLst>
              <a:gd name="adj1" fmla="val -53875"/>
              <a:gd name="adj2" fmla="val 11037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合約比對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210DC0-76CC-3DA1-26FB-474252A28455}"/>
              </a:ext>
            </a:extLst>
          </p:cNvPr>
          <p:cNvSpPr/>
          <p:nvPr/>
        </p:nvSpPr>
        <p:spPr bwMode="gray">
          <a:xfrm>
            <a:off x="7170420" y="2094876"/>
            <a:ext cx="464820" cy="190500"/>
          </a:xfrm>
          <a:prstGeom prst="rect">
            <a:avLst/>
          </a:prstGeom>
          <a:solidFill>
            <a:srgbClr val="FFFFFF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800" dirty="0">
                <a:solidFill>
                  <a:srgbClr val="8F8F8F"/>
                </a:solidFill>
              </a:rPr>
              <a:t>Ver0.2</a:t>
            </a:r>
            <a:endParaRPr lang="zh-TW" altLang="en-US" sz="800" dirty="0">
              <a:solidFill>
                <a:srgbClr val="8F8F8F"/>
              </a:solidFill>
            </a:endParaRP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64BDAD76-39A4-E7AB-9C1C-7F1C48B2361E}"/>
              </a:ext>
            </a:extLst>
          </p:cNvPr>
          <p:cNvCxnSpPr>
            <a:cxnSpLocks/>
          </p:cNvCxnSpPr>
          <p:nvPr/>
        </p:nvCxnSpPr>
        <p:spPr>
          <a:xfrm>
            <a:off x="1828503" y="2211372"/>
            <a:ext cx="3523477" cy="430753"/>
          </a:xfrm>
          <a:prstGeom prst="straightConnector1">
            <a:avLst/>
          </a:prstGeom>
          <a:ln w="38100">
            <a:solidFill>
              <a:srgbClr val="DA29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981185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694D74A-1367-E9B4-466C-0B388CD2B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72" y="791837"/>
            <a:ext cx="10843520" cy="217052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比對紀錄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(9/14)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E207ABC-95BB-1A46-413A-1592733FECFE}"/>
              </a:ext>
            </a:extLst>
          </p:cNvPr>
          <p:cNvSpPr/>
          <p:nvPr/>
        </p:nvSpPr>
        <p:spPr>
          <a:xfrm>
            <a:off x="7128686" y="1416694"/>
            <a:ext cx="1421260" cy="47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CE219B04-D5D6-1ED6-AF69-88E5372B0D25}"/>
              </a:ext>
            </a:extLst>
          </p:cNvPr>
          <p:cNvSpPr/>
          <p:nvPr/>
        </p:nvSpPr>
        <p:spPr>
          <a:xfrm>
            <a:off x="771525" y="2378278"/>
            <a:ext cx="10296525" cy="543806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語音泡泡: 圓角矩形 17">
            <a:extLst>
              <a:ext uri="{FF2B5EF4-FFF2-40B4-BE49-F238E27FC236}">
                <a16:creationId xmlns:a16="http://schemas.microsoft.com/office/drawing/2014/main" id="{60195264-83D0-1ED3-9BD9-5B5136F04205}"/>
              </a:ext>
            </a:extLst>
          </p:cNvPr>
          <p:cNvSpPr/>
          <p:nvPr/>
        </p:nvSpPr>
        <p:spPr bwMode="gray">
          <a:xfrm>
            <a:off x="423844" y="3152727"/>
            <a:ext cx="5467474" cy="828831"/>
          </a:xfrm>
          <a:prstGeom prst="wedgeRoundRectCallout">
            <a:avLst>
              <a:gd name="adj1" fmla="val -19383"/>
              <a:gd name="adj2" fmla="val -7727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顯示於</a:t>
            </a:r>
            <a:r>
              <a:rPr lang="zh-TW" altLang="en-US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審核時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zh-TW" altLang="en-US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新增時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曾比對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過的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紀錄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80F058F-DC61-D0DE-8255-DD6CD949B3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41" r="2796" b="6819"/>
          <a:stretch/>
        </p:blipFill>
        <p:spPr>
          <a:xfrm>
            <a:off x="423844" y="4198195"/>
            <a:ext cx="8547735" cy="2293287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5817DCEA-BD51-F669-5383-616AE81B08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732" t="49670" r="16917" b="857"/>
          <a:stretch/>
        </p:blipFill>
        <p:spPr>
          <a:xfrm>
            <a:off x="6026622" y="3338458"/>
            <a:ext cx="5467475" cy="235959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A148DE3A-7DB1-9A63-038D-79C78FFED1B3}"/>
              </a:ext>
            </a:extLst>
          </p:cNvPr>
          <p:cNvSpPr/>
          <p:nvPr/>
        </p:nvSpPr>
        <p:spPr>
          <a:xfrm>
            <a:off x="2131698" y="6009363"/>
            <a:ext cx="1384586" cy="41637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B8F9084-E6A3-23E6-9A8E-D414E7196B9F}"/>
              </a:ext>
            </a:extLst>
          </p:cNvPr>
          <p:cNvSpPr/>
          <p:nvPr/>
        </p:nvSpPr>
        <p:spPr>
          <a:xfrm>
            <a:off x="6026621" y="5281678"/>
            <a:ext cx="1463145" cy="41637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C70D772-C86D-BE46-6EB2-12EC549FE3F7}"/>
              </a:ext>
            </a:extLst>
          </p:cNvPr>
          <p:cNvCxnSpPr>
            <a:cxnSpLocks/>
          </p:cNvCxnSpPr>
          <p:nvPr/>
        </p:nvCxnSpPr>
        <p:spPr>
          <a:xfrm>
            <a:off x="1971675" y="3741015"/>
            <a:ext cx="480580" cy="22683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4F2E5277-D69A-6864-F197-14A7FF47D1ED}"/>
              </a:ext>
            </a:extLst>
          </p:cNvPr>
          <p:cNvCxnSpPr>
            <a:cxnSpLocks/>
          </p:cNvCxnSpPr>
          <p:nvPr/>
        </p:nvCxnSpPr>
        <p:spPr>
          <a:xfrm>
            <a:off x="3171825" y="3741015"/>
            <a:ext cx="2854796" cy="15656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332784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E565052-4DCC-EC02-BF66-AB156AA36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0" y="761400"/>
            <a:ext cx="10330935" cy="2067917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比對紀錄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(10/14)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CE219B04-D5D6-1ED6-AF69-88E5372B0D25}"/>
              </a:ext>
            </a:extLst>
          </p:cNvPr>
          <p:cNvSpPr/>
          <p:nvPr/>
        </p:nvSpPr>
        <p:spPr>
          <a:xfrm>
            <a:off x="7477268" y="2317117"/>
            <a:ext cx="1320086" cy="455919"/>
          </a:xfrm>
          <a:prstGeom prst="roundRect">
            <a:avLst>
              <a:gd name="adj" fmla="val 292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圓角矩形圖說文字 51">
            <a:extLst>
              <a:ext uri="{FF2B5EF4-FFF2-40B4-BE49-F238E27FC236}">
                <a16:creationId xmlns:a16="http://schemas.microsoft.com/office/drawing/2014/main" id="{404803F1-25A1-58D7-51ED-3F7C6EBC3788}"/>
              </a:ext>
            </a:extLst>
          </p:cNvPr>
          <p:cNvSpPr/>
          <p:nvPr/>
        </p:nvSpPr>
        <p:spPr bwMode="gray">
          <a:xfrm>
            <a:off x="8671562" y="2941200"/>
            <a:ext cx="3148964" cy="975600"/>
          </a:xfrm>
          <a:prstGeom prst="wedgeRoundRectCallout">
            <a:avLst>
              <a:gd name="adj1" fmla="val -45409"/>
              <a:gd name="adj2" fmla="val -7833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 </a:t>
            </a: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檢視比對結果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C45C4B5-4E05-D970-8D32-B35063CB8B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23" t="5642" r="1711" b="3647"/>
          <a:stretch/>
        </p:blipFill>
        <p:spPr>
          <a:xfrm>
            <a:off x="586670" y="2913656"/>
            <a:ext cx="5927945" cy="3732397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A5A3F30B-5101-5337-FF84-C56DFBF1F00A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6514615" y="2773036"/>
            <a:ext cx="1622696" cy="14103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145046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004D2-6D95-FE6E-291B-E7FAC2E4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5A6BAFA-2C50-E8A1-9268-D8639CD3F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71" y="1179639"/>
            <a:ext cx="11342857" cy="244761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5533E77-5651-DEA9-0D9F-6B18EE416618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提醒項目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(11/14)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DE1FE79-7DDA-0D87-8DA5-FA833F4B9712}"/>
              </a:ext>
            </a:extLst>
          </p:cNvPr>
          <p:cNvSpPr/>
          <p:nvPr/>
        </p:nvSpPr>
        <p:spPr>
          <a:xfrm>
            <a:off x="10062092" y="1826016"/>
            <a:ext cx="1425057" cy="49746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51DD585-D564-894D-71E2-17A8315B0C70}"/>
              </a:ext>
            </a:extLst>
          </p:cNvPr>
          <p:cNvSpPr/>
          <p:nvPr/>
        </p:nvSpPr>
        <p:spPr>
          <a:xfrm>
            <a:off x="685800" y="2465890"/>
            <a:ext cx="10791824" cy="96310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A8B3F811-08A4-D1A4-BD2D-7543833078DF}"/>
              </a:ext>
            </a:extLst>
          </p:cNvPr>
          <p:cNvSpPr/>
          <p:nvPr/>
        </p:nvSpPr>
        <p:spPr bwMode="gray">
          <a:xfrm>
            <a:off x="5637108" y="3947434"/>
            <a:ext cx="5118462" cy="975600"/>
          </a:xfrm>
          <a:prstGeom prst="wedgeRoundRectCallout">
            <a:avLst>
              <a:gd name="adj1" fmla="val -20862"/>
              <a:gd name="adj2" fmla="val -10187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履約管理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提醒設定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有設定此合約的提醒資訊，顯示該提醒項目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0777424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52CB-09A8-B185-5B08-A70E9EE80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808FE84-2E83-A8D5-1025-6B9A2D7BD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70" y="833107"/>
            <a:ext cx="11342857" cy="244761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A45E4A5-D11E-35BE-ED71-97B1911B1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368" y="2094466"/>
            <a:ext cx="4511053" cy="450305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01D7BFC-007D-3333-CEB5-404F23C48EC2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提醒項目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(12/14)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BD37784-950C-B85B-9B6B-82391B3B16DD}"/>
              </a:ext>
            </a:extLst>
          </p:cNvPr>
          <p:cNvSpPr/>
          <p:nvPr/>
        </p:nvSpPr>
        <p:spPr>
          <a:xfrm>
            <a:off x="9535493" y="2563825"/>
            <a:ext cx="881553" cy="47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圖說文字 51">
            <a:extLst>
              <a:ext uri="{FF2B5EF4-FFF2-40B4-BE49-F238E27FC236}">
                <a16:creationId xmlns:a16="http://schemas.microsoft.com/office/drawing/2014/main" id="{26B759D0-68A6-E180-72D4-D06BC0D40D27}"/>
              </a:ext>
            </a:extLst>
          </p:cNvPr>
          <p:cNvSpPr/>
          <p:nvPr/>
        </p:nvSpPr>
        <p:spPr bwMode="gray">
          <a:xfrm>
            <a:off x="8792111" y="1302466"/>
            <a:ext cx="3002219" cy="792000"/>
          </a:xfrm>
          <a:prstGeom prst="wedgeRoundRectCallout">
            <a:avLst>
              <a:gd name="adj1" fmla="val 1911"/>
              <a:gd name="adj2" fmla="val 10606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檢視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FBB2812-D5F4-1A40-8B6A-3C64E16BB41B}"/>
              </a:ext>
            </a:extLst>
          </p:cNvPr>
          <p:cNvCxnSpPr>
            <a:cxnSpLocks/>
          </p:cNvCxnSpPr>
          <p:nvPr/>
        </p:nvCxnSpPr>
        <p:spPr>
          <a:xfrm flipH="1">
            <a:off x="8221063" y="3053130"/>
            <a:ext cx="1314430" cy="6969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787167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B4C99-8A7B-2630-FA0C-F9E5B5B6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4C238A2-F28C-0025-781B-6AF0C807D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95" y="859329"/>
            <a:ext cx="11314609" cy="315338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3978663-4D01-315C-9E26-052F799AC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228" y="3706284"/>
            <a:ext cx="9363076" cy="2910678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67A764B-4A34-D1DC-893A-2BE5B9B56FB4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紙本合約借閱申請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_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申請資料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(13/14)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9434A26-E165-88EA-2971-E83895D030CD}"/>
              </a:ext>
            </a:extLst>
          </p:cNvPr>
          <p:cNvSpPr/>
          <p:nvPr/>
        </p:nvSpPr>
        <p:spPr>
          <a:xfrm>
            <a:off x="2537017" y="4208169"/>
            <a:ext cx="1279982" cy="47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F2D2228E-2AA3-E109-C98D-FF4413102143}"/>
              </a:ext>
            </a:extLst>
          </p:cNvPr>
          <p:cNvSpPr/>
          <p:nvPr/>
        </p:nvSpPr>
        <p:spPr bwMode="gray">
          <a:xfrm>
            <a:off x="2390228" y="1886807"/>
            <a:ext cx="4301413" cy="792000"/>
          </a:xfrm>
          <a:prstGeom prst="wedgeRoundRectCallout">
            <a:avLst>
              <a:gd name="adj1" fmla="val -41359"/>
              <a:gd name="adj2" fmla="val 12082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開頭：紙本合約借閱申請單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980D496-279B-66A4-B366-862AFCA1BFCE}"/>
              </a:ext>
            </a:extLst>
          </p:cNvPr>
          <p:cNvSpPr/>
          <p:nvPr/>
        </p:nvSpPr>
        <p:spPr>
          <a:xfrm>
            <a:off x="1943100" y="3252033"/>
            <a:ext cx="1543050" cy="41546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430743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54213-5BFC-3E34-1202-053E39AB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B28DFA6-2D85-F423-D042-9033788F3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887723"/>
            <a:ext cx="11410949" cy="316924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636A240-DE7F-5627-FF62-2D39963AA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496" y="3777163"/>
            <a:ext cx="9354978" cy="284819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6D55500-C652-BF5C-C011-A4453404491E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送審清單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合約電子檔閱覽申請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_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申請資料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(14/14)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78E9E9D-85B2-5A29-A8CE-A8BB9297276E}"/>
              </a:ext>
            </a:extLst>
          </p:cNvPr>
          <p:cNvSpPr/>
          <p:nvPr/>
        </p:nvSpPr>
        <p:spPr>
          <a:xfrm>
            <a:off x="2638424" y="4273085"/>
            <a:ext cx="1226199" cy="47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427BE109-40AA-B269-7632-299B342D80F0}"/>
              </a:ext>
            </a:extLst>
          </p:cNvPr>
          <p:cNvSpPr/>
          <p:nvPr/>
        </p:nvSpPr>
        <p:spPr bwMode="gray">
          <a:xfrm>
            <a:off x="2324100" y="1936443"/>
            <a:ext cx="4572000" cy="792000"/>
          </a:xfrm>
          <a:prstGeom prst="wedgeRoundRectCallout">
            <a:avLst>
              <a:gd name="adj1" fmla="val -40408"/>
              <a:gd name="adj2" fmla="val 12082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EL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開頭：合約電子檔閱覽申請單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3DCEEC7-BD25-7352-6367-2E4CD1A52AB4}"/>
              </a:ext>
            </a:extLst>
          </p:cNvPr>
          <p:cNvSpPr/>
          <p:nvPr/>
        </p:nvSpPr>
        <p:spPr>
          <a:xfrm>
            <a:off x="1910762" y="3304217"/>
            <a:ext cx="1575387" cy="39992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213390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851E-2C23-AF00-EC7E-D93DF98F3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71BBCC76-59DD-891B-1EE8-6C46CCB9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3.2 </a:t>
            </a:r>
            <a:r>
              <a:rPr lang="zh-TW" altLang="en-US" sz="3600" dirty="0"/>
              <a:t>我的案件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待審清單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4605275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13D8017-97FE-6884-5A83-7DB2E303E8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16"/>
          <a:stretch>
            <a:fillRect/>
          </a:stretch>
        </p:blipFill>
        <p:spPr>
          <a:xfrm>
            <a:off x="510127" y="1939853"/>
            <a:ext cx="11315176" cy="386168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7A1EF06-87A7-7405-14AB-F2BA335B342E}"/>
              </a:ext>
            </a:extLst>
          </p:cNvPr>
          <p:cNvSpPr/>
          <p:nvPr/>
        </p:nvSpPr>
        <p:spPr>
          <a:xfrm>
            <a:off x="690647" y="3790950"/>
            <a:ext cx="11134656" cy="201058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899ABD28-18E4-603B-21C6-677DD1CED711}"/>
              </a:ext>
            </a:extLst>
          </p:cNvPr>
          <p:cNvSpPr/>
          <p:nvPr/>
        </p:nvSpPr>
        <p:spPr bwMode="gray">
          <a:xfrm>
            <a:off x="6419950" y="1452366"/>
            <a:ext cx="5405353" cy="1774572"/>
          </a:xfrm>
          <a:prstGeom prst="wedgeRoundRectCallout">
            <a:avLst>
              <a:gd name="adj1" fmla="val -20377"/>
              <a:gd name="adj2" fmla="val 8281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列表顯示等待「自己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」審核的申請單：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合約審閱申請單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紙本合約借閱申請單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合約電子檔閱覽申請單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A65B2C6-FE2B-A217-A02B-2173EF54DB99}"/>
              </a:ext>
            </a:extLst>
          </p:cNvPr>
          <p:cNvSpPr/>
          <p:nvPr/>
        </p:nvSpPr>
        <p:spPr>
          <a:xfrm>
            <a:off x="1153574" y="4290524"/>
            <a:ext cx="419170" cy="38511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608C38C9-9EA8-9987-EA7B-223B6916D3E4}"/>
              </a:ext>
            </a:extLst>
          </p:cNvPr>
          <p:cNvSpPr/>
          <p:nvPr/>
        </p:nvSpPr>
        <p:spPr bwMode="gray">
          <a:xfrm>
            <a:off x="398840" y="3324937"/>
            <a:ext cx="917743" cy="792000"/>
          </a:xfrm>
          <a:prstGeom prst="wedgeRoundRectCallout">
            <a:avLst>
              <a:gd name="adj1" fmla="val 57642"/>
              <a:gd name="adj2" fmla="val 7074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明細</a:t>
            </a:r>
          </a:p>
        </p:txBody>
      </p:sp>
    </p:spTree>
    <p:extLst>
      <p:ext uri="{BB962C8B-B14F-4D97-AF65-F5344CB8AC3E}">
        <p14:creationId xmlns:p14="http://schemas.microsoft.com/office/powerpoint/2010/main" val="4008553343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AD06CC3-3BEF-60B7-B413-7B4690658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44" y="756294"/>
            <a:ext cx="9533639" cy="4738898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54F38BCA-6B8B-0AE6-404A-89F762AB3EDE}"/>
              </a:ext>
            </a:extLst>
          </p:cNvPr>
          <p:cNvSpPr/>
          <p:nvPr/>
        </p:nvSpPr>
        <p:spPr>
          <a:xfrm>
            <a:off x="708803" y="3076456"/>
            <a:ext cx="8955150" cy="241873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97DF058C-2AA4-F68B-D6F6-A9F14422C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762" y="2946022"/>
            <a:ext cx="4346382" cy="365063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基本資料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" name="語音泡泡: 圓角矩形 2">
            <a:extLst>
              <a:ext uri="{FF2B5EF4-FFF2-40B4-BE49-F238E27FC236}">
                <a16:creationId xmlns:a16="http://schemas.microsoft.com/office/drawing/2014/main" id="{0FD32665-F559-E4C9-25C6-4DBAABDA9E96}"/>
              </a:ext>
            </a:extLst>
          </p:cNvPr>
          <p:cNvSpPr/>
          <p:nvPr/>
        </p:nvSpPr>
        <p:spPr bwMode="gray">
          <a:xfrm>
            <a:off x="5056313" y="1824441"/>
            <a:ext cx="4840768" cy="975600"/>
          </a:xfrm>
          <a:prstGeom prst="wedgeRoundRectCallout">
            <a:avLst>
              <a:gd name="adj1" fmla="val -20158"/>
              <a:gd name="adj2" fmla="val 7625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依據</a:t>
            </a:r>
            <a:r>
              <a:rPr lang="en-US" altLang="zh-TW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審核管理</a:t>
            </a:r>
            <a:r>
              <a:rPr lang="en-US" altLang="zh-TW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流程維護</a:t>
            </a:r>
            <a:r>
              <a:rPr lang="en-US" altLang="zh-TW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功能設定各關卡的欄位狀態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02E4313-63EF-E42C-CE2A-FC9660191CF8}"/>
              </a:ext>
            </a:extLst>
          </p:cNvPr>
          <p:cNvSpPr/>
          <p:nvPr/>
        </p:nvSpPr>
        <p:spPr>
          <a:xfrm>
            <a:off x="9201150" y="3362175"/>
            <a:ext cx="2606106" cy="3211250"/>
          </a:xfrm>
          <a:prstGeom prst="roundRect">
            <a:avLst>
              <a:gd name="adj" fmla="val 261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E6E13C71-9D81-D727-9F9E-D61ABEF60FC5}"/>
              </a:ext>
            </a:extLst>
          </p:cNvPr>
          <p:cNvSpPr/>
          <p:nvPr/>
        </p:nvSpPr>
        <p:spPr>
          <a:xfrm>
            <a:off x="1791154" y="1238250"/>
            <a:ext cx="7872799" cy="44021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D329586D-D8D7-A152-C901-E9837E382A40}"/>
              </a:ext>
            </a:extLst>
          </p:cNvPr>
          <p:cNvCxnSpPr>
            <a:cxnSpLocks/>
          </p:cNvCxnSpPr>
          <p:nvPr/>
        </p:nvCxnSpPr>
        <p:spPr>
          <a:xfrm>
            <a:off x="8581292" y="2292609"/>
            <a:ext cx="0" cy="6534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E94F1DD0-AFAE-FEDC-36BC-FAD8900D76C1}"/>
              </a:ext>
            </a:extLst>
          </p:cNvPr>
          <p:cNvSpPr/>
          <p:nvPr/>
        </p:nvSpPr>
        <p:spPr bwMode="gray">
          <a:xfrm>
            <a:off x="7490762" y="116669"/>
            <a:ext cx="4044938" cy="975600"/>
          </a:xfrm>
          <a:prstGeom prst="wedgeRoundRectCallout">
            <a:avLst>
              <a:gd name="adj1" fmla="val 3594"/>
              <a:gd name="adj2" fmla="val 7783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審核進度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】~【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提醒項目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請參考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送審清單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</a:p>
        </p:txBody>
      </p:sp>
    </p:spTree>
    <p:extLst>
      <p:ext uri="{BB962C8B-B14F-4D97-AF65-F5344CB8AC3E}">
        <p14:creationId xmlns:p14="http://schemas.microsoft.com/office/powerpoint/2010/main" val="1462996423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A8F3B-DEF0-FFD6-2AEB-BAE52622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46097067-87A1-7D2C-6B2E-D212212BD02B}"/>
              </a:ext>
            </a:extLst>
          </p:cNvPr>
          <p:cNvGrpSpPr/>
          <p:nvPr/>
        </p:nvGrpSpPr>
        <p:grpSpPr>
          <a:xfrm>
            <a:off x="4753604" y="4641093"/>
            <a:ext cx="7044547" cy="1912788"/>
            <a:chOff x="540711" y="4833187"/>
            <a:chExt cx="4238656" cy="1202156"/>
          </a:xfr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FDFC4EEE-6729-81F9-62D0-131514BB6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1892" b="82466"/>
            <a:stretch>
              <a:fillRect/>
            </a:stretch>
          </p:blipFill>
          <p:spPr>
            <a:xfrm>
              <a:off x="540711" y="4833187"/>
              <a:ext cx="4238656" cy="696483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406444C3-6D6B-9BB6-1B96-BE23C1694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9" t="87952" r="21773" b="-681"/>
            <a:stretch>
              <a:fillRect/>
            </a:stretch>
          </p:blipFill>
          <p:spPr>
            <a:xfrm>
              <a:off x="540711" y="5529670"/>
              <a:ext cx="4238656" cy="505673"/>
            </a:xfrm>
            <a:prstGeom prst="rect">
              <a:avLst/>
            </a:prstGeom>
          </p:spPr>
        </p:pic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F55212FB-9DBA-C65D-CA05-E7E616CF3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849741"/>
            <a:ext cx="10902172" cy="258209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DE7333BB-55A1-B331-140F-79105344F932}"/>
              </a:ext>
            </a:extLst>
          </p:cNvPr>
          <p:cNvSpPr/>
          <p:nvPr/>
        </p:nvSpPr>
        <p:spPr>
          <a:xfrm>
            <a:off x="775478" y="1590673"/>
            <a:ext cx="10368772" cy="167640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8E39765-C329-4393-BA5A-0CE3420663AF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基本資料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(3/19)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" name="語音泡泡: 圓角矩形 2">
            <a:extLst>
              <a:ext uri="{FF2B5EF4-FFF2-40B4-BE49-F238E27FC236}">
                <a16:creationId xmlns:a16="http://schemas.microsoft.com/office/drawing/2014/main" id="{D620DAD2-5ABA-A636-899F-8FEFF0B27E36}"/>
              </a:ext>
            </a:extLst>
          </p:cNvPr>
          <p:cNvSpPr/>
          <p:nvPr/>
        </p:nvSpPr>
        <p:spPr bwMode="gray">
          <a:xfrm>
            <a:off x="514350" y="3564431"/>
            <a:ext cx="5381625" cy="975600"/>
          </a:xfrm>
          <a:prstGeom prst="wedgeRoundRectCallout">
            <a:avLst>
              <a:gd name="adj1" fmla="val -20788"/>
              <a:gd name="adj2" fmla="val -7995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依據</a:t>
            </a:r>
            <a:r>
              <a:rPr lang="en-US" altLang="zh-TW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審核管理</a:t>
            </a:r>
            <a:r>
              <a:rPr lang="en-US" altLang="zh-TW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流程維護</a:t>
            </a:r>
            <a:r>
              <a:rPr lang="en-US" altLang="zh-TW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功能設定各關卡的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合約其他資訊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欄位狀態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2E3BBF7-00A7-333F-8169-314F38B8DE96}"/>
              </a:ext>
            </a:extLst>
          </p:cNvPr>
          <p:cNvSpPr/>
          <p:nvPr/>
        </p:nvSpPr>
        <p:spPr>
          <a:xfrm>
            <a:off x="5077244" y="5842351"/>
            <a:ext cx="3952455" cy="635974"/>
          </a:xfrm>
          <a:prstGeom prst="roundRect">
            <a:avLst>
              <a:gd name="adj" fmla="val 261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BF4CA174-FB10-90C0-6A50-01DF19F83D95}"/>
              </a:ext>
            </a:extLst>
          </p:cNvPr>
          <p:cNvCxnSpPr>
            <a:cxnSpLocks/>
          </p:cNvCxnSpPr>
          <p:nvPr/>
        </p:nvCxnSpPr>
        <p:spPr>
          <a:xfrm>
            <a:off x="3990975" y="4553776"/>
            <a:ext cx="762629" cy="71355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54127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74746DC-7441-87E8-A3B5-9A9D94BF02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4" t="1265" r="1169" b="2429"/>
          <a:stretch/>
        </p:blipFill>
        <p:spPr>
          <a:xfrm>
            <a:off x="403837" y="801030"/>
            <a:ext cx="9466731" cy="255232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0731EDF-B5E1-8409-3EE6-655B7D2FC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194" y="3504651"/>
            <a:ext cx="8157471" cy="304059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基本資料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(4/19)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AA10C0E-DDD7-8109-1918-C486659621BB}"/>
              </a:ext>
            </a:extLst>
          </p:cNvPr>
          <p:cNvSpPr/>
          <p:nvPr/>
        </p:nvSpPr>
        <p:spPr>
          <a:xfrm>
            <a:off x="3785634" y="2805952"/>
            <a:ext cx="2633096" cy="51153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8C5471E3-F461-19F4-A773-FBF9D47FC260}"/>
              </a:ext>
            </a:extLst>
          </p:cNvPr>
          <p:cNvSpPr/>
          <p:nvPr/>
        </p:nvSpPr>
        <p:spPr bwMode="gray">
          <a:xfrm>
            <a:off x="6692886" y="1707904"/>
            <a:ext cx="4840768" cy="975600"/>
          </a:xfrm>
          <a:prstGeom prst="wedgeRoundRectCallout">
            <a:avLst>
              <a:gd name="adj1" fmla="val -65049"/>
              <a:gd name="adj2" fmla="val 5944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依據</a:t>
            </a:r>
            <a:r>
              <a:rPr lang="en-US" altLang="zh-TW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審核管理</a:t>
            </a:r>
            <a:r>
              <a:rPr lang="en-US" altLang="zh-TW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流程維護</a:t>
            </a:r>
            <a:r>
              <a:rPr lang="en-US" altLang="zh-TW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設定各關卡所提供的審核功能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1B2CC59-9E72-00CC-2C7A-73325CF9DBDA}"/>
              </a:ext>
            </a:extLst>
          </p:cNvPr>
          <p:cNvSpPr/>
          <p:nvPr/>
        </p:nvSpPr>
        <p:spPr>
          <a:xfrm>
            <a:off x="3848959" y="5223146"/>
            <a:ext cx="3316951" cy="59548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FFE6CCD3-F380-B650-D661-53BCECD80A2B}"/>
              </a:ext>
            </a:extLst>
          </p:cNvPr>
          <p:cNvCxnSpPr>
            <a:cxnSpLocks/>
          </p:cNvCxnSpPr>
          <p:nvPr/>
        </p:nvCxnSpPr>
        <p:spPr>
          <a:xfrm>
            <a:off x="9478343" y="2683504"/>
            <a:ext cx="0" cy="82114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436957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29C38FE-0B10-6858-1B8B-231DE546D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4" t="1265" r="1169" b="2429"/>
          <a:stretch/>
        </p:blipFill>
        <p:spPr>
          <a:xfrm>
            <a:off x="403837" y="729310"/>
            <a:ext cx="9466731" cy="255232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重新指派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(5/19)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AA10C0E-DDD7-8109-1918-C486659621BB}"/>
              </a:ext>
            </a:extLst>
          </p:cNvPr>
          <p:cNvSpPr/>
          <p:nvPr/>
        </p:nvSpPr>
        <p:spPr>
          <a:xfrm>
            <a:off x="3794450" y="2716300"/>
            <a:ext cx="1037525" cy="55636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A5DF76E2-0BF3-8F1E-B0A1-58B0AFADDB1D}"/>
              </a:ext>
            </a:extLst>
          </p:cNvPr>
          <p:cNvSpPr/>
          <p:nvPr/>
        </p:nvSpPr>
        <p:spPr bwMode="gray">
          <a:xfrm>
            <a:off x="4140797" y="1672144"/>
            <a:ext cx="3910405" cy="666652"/>
          </a:xfrm>
          <a:prstGeom prst="wedgeRoundRectCallout">
            <a:avLst>
              <a:gd name="adj1" fmla="val -38770"/>
              <a:gd name="adj2" fmla="val 10314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可重新指派此關卡的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審核者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745D44-7B0F-4132-4F99-C9636AE692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60"/>
          <a:stretch/>
        </p:blipFill>
        <p:spPr>
          <a:xfrm>
            <a:off x="4688542" y="3429001"/>
            <a:ext cx="7060405" cy="3235208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3224792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7602EF7-C439-1A55-1353-9B892EB5ED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4" t="1265" r="1169" b="2429"/>
          <a:stretch/>
        </p:blipFill>
        <p:spPr>
          <a:xfrm>
            <a:off x="403837" y="729310"/>
            <a:ext cx="9466731" cy="255232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會辦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(6/19)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AA10C0E-DDD7-8109-1918-C486659621BB}"/>
              </a:ext>
            </a:extLst>
          </p:cNvPr>
          <p:cNvSpPr/>
          <p:nvPr/>
        </p:nvSpPr>
        <p:spPr>
          <a:xfrm>
            <a:off x="4815145" y="2706743"/>
            <a:ext cx="805726" cy="57488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7B7B8C49-FABE-1BD9-9C71-9EDB5F8B1107}"/>
              </a:ext>
            </a:extLst>
          </p:cNvPr>
          <p:cNvSpPr/>
          <p:nvPr/>
        </p:nvSpPr>
        <p:spPr bwMode="gray">
          <a:xfrm>
            <a:off x="403836" y="3576371"/>
            <a:ext cx="5356884" cy="1270800"/>
          </a:xfrm>
          <a:prstGeom prst="wedgeRoundRectCallout">
            <a:avLst>
              <a:gd name="adj1" fmla="val 34861"/>
              <a:gd name="adj2" fmla="val -7056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可選擇欲會辦成員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會辦者提供審閱意見後，流程回到原關卡審核者，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以參考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會辦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意見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1EA8A48-5165-7214-2E9A-964F74445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044" y="2630848"/>
            <a:ext cx="6043494" cy="397547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1873538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92196D2-E5DE-FA2F-3F9B-EB2FAFCBCE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18" t="4742" r="1791" b="2429"/>
          <a:stretch/>
        </p:blipFill>
        <p:spPr>
          <a:xfrm>
            <a:off x="358588" y="758628"/>
            <a:ext cx="9673042" cy="254457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加簽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(7/19)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AA10C0E-DDD7-8109-1918-C486659621BB}"/>
              </a:ext>
            </a:extLst>
          </p:cNvPr>
          <p:cNvSpPr/>
          <p:nvPr/>
        </p:nvSpPr>
        <p:spPr>
          <a:xfrm>
            <a:off x="5658060" y="2770433"/>
            <a:ext cx="864638" cy="47897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F5133B30-633B-448B-D9EC-59D84CCD5B2F}"/>
              </a:ext>
            </a:extLst>
          </p:cNvPr>
          <p:cNvSpPr/>
          <p:nvPr/>
        </p:nvSpPr>
        <p:spPr bwMode="gray">
          <a:xfrm>
            <a:off x="4330222" y="1465413"/>
            <a:ext cx="5766278" cy="952315"/>
          </a:xfrm>
          <a:prstGeom prst="wedgeRoundRectCallout">
            <a:avLst>
              <a:gd name="adj1" fmla="val -19967"/>
              <a:gd name="adj2" fmla="val 8590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可選擇欲加簽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員。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加簽人員承襲此關的審核功能、欄位狀態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4F83EC6-9ED4-BAEC-75C2-D653F04FB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80" y="2800978"/>
            <a:ext cx="5396331" cy="3700998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7635718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5B2F-3523-FC5B-3DFD-E503926D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061BB69-F0D4-09BF-FA80-5424E7F05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1226256"/>
            <a:ext cx="11591926" cy="282345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E8B466A-9D05-8F4B-31E6-CEFAA3959762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紙本合約借閱申請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(8/19)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F5E67E03-3E4D-F783-A14F-075028E6E521}"/>
              </a:ext>
            </a:extLst>
          </p:cNvPr>
          <p:cNvSpPr/>
          <p:nvPr/>
        </p:nvSpPr>
        <p:spPr bwMode="gray">
          <a:xfrm>
            <a:off x="2893461" y="4486719"/>
            <a:ext cx="4301413" cy="792000"/>
          </a:xfrm>
          <a:prstGeom prst="wedgeRoundRectCallout">
            <a:avLst>
              <a:gd name="adj1" fmla="val -47907"/>
              <a:gd name="adj2" fmla="val -10578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開頭：紙本合約借閱申請單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B10F5EF-E5AC-9721-85AF-AAC1EFB332D6}"/>
              </a:ext>
            </a:extLst>
          </p:cNvPr>
          <p:cNvSpPr/>
          <p:nvPr/>
        </p:nvSpPr>
        <p:spPr>
          <a:xfrm>
            <a:off x="1608485" y="3646797"/>
            <a:ext cx="1429989" cy="40290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458444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BD543-B1C7-7BB9-956E-0C18110F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D477451-A3CC-E16C-DFE4-EBC175F71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6" y="835182"/>
            <a:ext cx="9886948" cy="565804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27410C8-3E2C-61B6-A8BB-0C6B5C7937B7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紙本合約借閱申請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_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申請資料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(9/19)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5BCA939C-D0D7-4E11-FBE2-65AFBB3E97BA}"/>
              </a:ext>
            </a:extLst>
          </p:cNvPr>
          <p:cNvSpPr/>
          <p:nvPr/>
        </p:nvSpPr>
        <p:spPr bwMode="gray">
          <a:xfrm>
            <a:off x="2343518" y="4700278"/>
            <a:ext cx="4522944" cy="792000"/>
          </a:xfrm>
          <a:prstGeom prst="wedgeRoundRectCallout">
            <a:avLst>
              <a:gd name="adj1" fmla="val 46871"/>
              <a:gd name="adj2" fmla="val 9645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退件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後該申請單即中止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7AB58D6-F6CA-196A-91A6-87A9F50C869E}"/>
              </a:ext>
            </a:extLst>
          </p:cNvPr>
          <p:cNvSpPr/>
          <p:nvPr/>
        </p:nvSpPr>
        <p:spPr>
          <a:xfrm>
            <a:off x="6474576" y="5888277"/>
            <a:ext cx="783773" cy="47744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21C6E33-9B1F-8100-97A8-91013477952E}"/>
              </a:ext>
            </a:extLst>
          </p:cNvPr>
          <p:cNvSpPr/>
          <p:nvPr/>
        </p:nvSpPr>
        <p:spPr>
          <a:xfrm>
            <a:off x="7258349" y="5888278"/>
            <a:ext cx="783772" cy="47744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46D12C81-3D31-CAE8-F54C-0E0A390CB0B0}"/>
              </a:ext>
            </a:extLst>
          </p:cNvPr>
          <p:cNvSpPr/>
          <p:nvPr/>
        </p:nvSpPr>
        <p:spPr bwMode="gray">
          <a:xfrm>
            <a:off x="7449775" y="4700278"/>
            <a:ext cx="4522944" cy="792000"/>
          </a:xfrm>
          <a:prstGeom prst="wedgeRoundRectCallout">
            <a:avLst>
              <a:gd name="adj1" fmla="val -42351"/>
              <a:gd name="adj2" fmla="val 9669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後傳往下一關審核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A1775CA-AC31-18AB-FCD1-884F8B534382}"/>
              </a:ext>
            </a:extLst>
          </p:cNvPr>
          <p:cNvSpPr/>
          <p:nvPr/>
        </p:nvSpPr>
        <p:spPr>
          <a:xfrm>
            <a:off x="1314452" y="1386793"/>
            <a:ext cx="1343608" cy="47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0458974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05F13-2873-377E-537A-7BB60CFA0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02B2934-ADBB-D03C-880E-F7DBA40F7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" y="1216353"/>
            <a:ext cx="11706225" cy="280525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085D103-CD05-CCB9-7B9A-FC6BDBE024F5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合約電子檔閱覽申請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(10/19)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871C7B35-2A2D-E66C-5B49-6DF60BBB74C3}"/>
              </a:ext>
            </a:extLst>
          </p:cNvPr>
          <p:cNvSpPr/>
          <p:nvPr/>
        </p:nvSpPr>
        <p:spPr bwMode="gray">
          <a:xfrm>
            <a:off x="3083961" y="4478752"/>
            <a:ext cx="4593189" cy="792000"/>
          </a:xfrm>
          <a:prstGeom prst="wedgeRoundRectCallout">
            <a:avLst>
              <a:gd name="adj1" fmla="val -52336"/>
              <a:gd name="adj2" fmla="val -10939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EL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開頭：合約電子檔閱覽申請單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E1DAEE5-56A1-53F4-797D-F2722C128E2E}"/>
              </a:ext>
            </a:extLst>
          </p:cNvPr>
          <p:cNvSpPr/>
          <p:nvPr/>
        </p:nvSpPr>
        <p:spPr>
          <a:xfrm>
            <a:off x="1608485" y="3631531"/>
            <a:ext cx="1372839" cy="40290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275898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05263-2AEB-F8EB-525B-A131D2545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8306216-6A9D-C46A-1D3B-9BDC2EB6F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75" y="790575"/>
            <a:ext cx="9920649" cy="579120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C42CCFE-6ABD-45E0-27D8-85422404D7BF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合約電子檔閱覽申請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_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申請資料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(11/19)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066ACD5E-AE49-F3D9-9CED-F87B0CEC25C9}"/>
              </a:ext>
            </a:extLst>
          </p:cNvPr>
          <p:cNvSpPr/>
          <p:nvPr/>
        </p:nvSpPr>
        <p:spPr bwMode="gray">
          <a:xfrm>
            <a:off x="2317939" y="4747782"/>
            <a:ext cx="4522944" cy="792000"/>
          </a:xfrm>
          <a:prstGeom prst="wedgeRoundRectCallout">
            <a:avLst>
              <a:gd name="adj1" fmla="val 46871"/>
              <a:gd name="adj2" fmla="val 9885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退件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後該申請單即中止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EC5D452-F7E8-9F1C-3FF1-E91C9CB4CFA0}"/>
              </a:ext>
            </a:extLst>
          </p:cNvPr>
          <p:cNvSpPr/>
          <p:nvPr/>
        </p:nvSpPr>
        <p:spPr>
          <a:xfrm>
            <a:off x="6448997" y="5954953"/>
            <a:ext cx="783773" cy="47744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B2BED70-149B-63D5-47B8-C646AE394F10}"/>
              </a:ext>
            </a:extLst>
          </p:cNvPr>
          <p:cNvSpPr/>
          <p:nvPr/>
        </p:nvSpPr>
        <p:spPr>
          <a:xfrm>
            <a:off x="7225113" y="5945428"/>
            <a:ext cx="783772" cy="47744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29D0B345-1877-8E83-F261-BE3A663064F4}"/>
              </a:ext>
            </a:extLst>
          </p:cNvPr>
          <p:cNvSpPr/>
          <p:nvPr/>
        </p:nvSpPr>
        <p:spPr bwMode="gray">
          <a:xfrm>
            <a:off x="7139388" y="4747782"/>
            <a:ext cx="4522944" cy="792000"/>
          </a:xfrm>
          <a:prstGeom prst="wedgeRoundRectCallout">
            <a:avLst>
              <a:gd name="adj1" fmla="val -39192"/>
              <a:gd name="adj2" fmla="val 9669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後傳往下一關審核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0C453F2-4FBC-9CD5-C468-65490AB25488}"/>
              </a:ext>
            </a:extLst>
          </p:cNvPr>
          <p:cNvSpPr/>
          <p:nvPr/>
        </p:nvSpPr>
        <p:spPr>
          <a:xfrm>
            <a:off x="1323977" y="1318218"/>
            <a:ext cx="1343608" cy="47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48556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43E2F-1357-6C1C-51D8-E2F0B52C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404A6D1E-D0E0-BA9A-BF99-0CD6C788C0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7" r="-1"/>
          <a:stretch>
            <a:fillRect/>
          </a:stretch>
        </p:blipFill>
        <p:spPr>
          <a:xfrm>
            <a:off x="523594" y="1523495"/>
            <a:ext cx="11167698" cy="2486631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E24EDC8-8265-4E2C-0241-13C3BD4E8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B95B591-7183-F937-54CF-BE3F76C41600}"/>
              </a:ext>
            </a:extLst>
          </p:cNvPr>
          <p:cNvSpPr/>
          <p:nvPr/>
        </p:nvSpPr>
        <p:spPr>
          <a:xfrm>
            <a:off x="1008406" y="3613887"/>
            <a:ext cx="416560" cy="39623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2A4D838-835A-4113-D690-13656E962477}"/>
              </a:ext>
            </a:extLst>
          </p:cNvPr>
          <p:cNvSpPr/>
          <p:nvPr/>
        </p:nvSpPr>
        <p:spPr>
          <a:xfrm>
            <a:off x="10586569" y="3612187"/>
            <a:ext cx="1104723" cy="39624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8" name="圓角矩形圖說文字 51">
            <a:extLst>
              <a:ext uri="{FF2B5EF4-FFF2-40B4-BE49-F238E27FC236}">
                <a16:creationId xmlns:a16="http://schemas.microsoft.com/office/drawing/2014/main" id="{FAA0F51C-109C-B8E3-2504-19E532DA52DC}"/>
              </a:ext>
            </a:extLst>
          </p:cNvPr>
          <p:cNvSpPr/>
          <p:nvPr/>
        </p:nvSpPr>
        <p:spPr bwMode="gray">
          <a:xfrm>
            <a:off x="5904719" y="1853280"/>
            <a:ext cx="6035848" cy="995778"/>
          </a:xfrm>
          <a:prstGeom prst="wedgeRoundRectCallout">
            <a:avLst>
              <a:gd name="adj1" fmla="val -123995"/>
              <a:gd name="adj2" fmla="val 13291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當申請單送到</a:t>
            </a:r>
            <a:r>
              <a:rPr lang="zh-TW" altLang="en-US" sz="2400" b="1" dirty="0">
                <a:solidFill>
                  <a:srgbClr val="FFFF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設定電子簽章資訊</a:t>
            </a:r>
            <a:r>
              <a:rPr lang="zh-TW" altLang="en-US" sz="2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關卡時，點擊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明細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138A7EA-C5B7-8582-6577-02384CE2A0D0}"/>
              </a:ext>
            </a:extLst>
          </p:cNvPr>
          <p:cNvCxnSpPr>
            <a:cxnSpLocks/>
          </p:cNvCxnSpPr>
          <p:nvPr/>
        </p:nvCxnSpPr>
        <p:spPr>
          <a:xfrm>
            <a:off x="11254142" y="2351169"/>
            <a:ext cx="0" cy="126101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圖片 28">
            <a:extLst>
              <a:ext uri="{FF2B5EF4-FFF2-40B4-BE49-F238E27FC236}">
                <a16:creationId xmlns:a16="http://schemas.microsoft.com/office/drawing/2014/main" id="{C9EBDA82-9E11-D8A0-8F37-58D96A6A34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3487" r="1947" b="1"/>
          <a:stretch>
            <a:fillRect/>
          </a:stretch>
        </p:blipFill>
        <p:spPr>
          <a:xfrm>
            <a:off x="2503577" y="3898804"/>
            <a:ext cx="4800227" cy="2289346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7E476055-8CA1-2963-4475-C0EDC1394FD9}"/>
              </a:ext>
            </a:extLst>
          </p:cNvPr>
          <p:cNvSpPr/>
          <p:nvPr/>
        </p:nvSpPr>
        <p:spPr>
          <a:xfrm>
            <a:off x="4329309" y="5435599"/>
            <a:ext cx="1337845" cy="67812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語音泡泡: 圓角矩形 30">
            <a:extLst>
              <a:ext uri="{FF2B5EF4-FFF2-40B4-BE49-F238E27FC236}">
                <a16:creationId xmlns:a16="http://schemas.microsoft.com/office/drawing/2014/main" id="{DB25127B-BE99-97B2-6DB3-05B5F41B7A39}"/>
              </a:ext>
            </a:extLst>
          </p:cNvPr>
          <p:cNvSpPr/>
          <p:nvPr/>
        </p:nvSpPr>
        <p:spPr bwMode="gray">
          <a:xfrm>
            <a:off x="6533707" y="5642249"/>
            <a:ext cx="3133916" cy="714101"/>
          </a:xfrm>
          <a:prstGeom prst="wedgeRoundRectCallout">
            <a:avLst>
              <a:gd name="adj1" fmla="val -77839"/>
              <a:gd name="adj2" fmla="val -4016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確定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語音泡泡: 圓角矩形 32">
            <a:extLst>
              <a:ext uri="{FF2B5EF4-FFF2-40B4-BE49-F238E27FC236}">
                <a16:creationId xmlns:a16="http://schemas.microsoft.com/office/drawing/2014/main" id="{325CD6E7-C080-25E6-35EC-3B509E354BCE}"/>
              </a:ext>
            </a:extLst>
          </p:cNvPr>
          <p:cNvSpPr/>
          <p:nvPr/>
        </p:nvSpPr>
        <p:spPr bwMode="gray">
          <a:xfrm>
            <a:off x="7709648" y="4414506"/>
            <a:ext cx="4230920" cy="714100"/>
          </a:xfrm>
          <a:prstGeom prst="wedgeRoundRectCallout">
            <a:avLst>
              <a:gd name="adj1" fmla="val 22202"/>
              <a:gd name="adj2" fmla="val -10444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關卡名稱可由系統管理者自訂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CBA28-8A33-F214-5937-4483EBF934D9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設定電子簽章資訊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套用範本位置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(12/19)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24798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55FF-F56A-8EEB-024F-4ED3CAC78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C4C423B-C658-AA7B-9EA5-1A0DBD5A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678882E7-6080-2623-EFBC-11CE16C0D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22" y="777198"/>
            <a:ext cx="6975223" cy="6001175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61D0B056-AF92-27D4-845F-999C76E731D5}"/>
              </a:ext>
            </a:extLst>
          </p:cNvPr>
          <p:cNvSpPr/>
          <p:nvPr/>
        </p:nvSpPr>
        <p:spPr>
          <a:xfrm>
            <a:off x="833120" y="1613264"/>
            <a:ext cx="4267200" cy="82513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4690881D-3C30-2A47-1E5E-C988EFE348AD}"/>
              </a:ext>
            </a:extLst>
          </p:cNvPr>
          <p:cNvSpPr/>
          <p:nvPr/>
        </p:nvSpPr>
        <p:spPr>
          <a:xfrm>
            <a:off x="833120" y="2811803"/>
            <a:ext cx="6553200" cy="3514066"/>
          </a:xfrm>
          <a:prstGeom prst="roundRect">
            <a:avLst>
              <a:gd name="adj" fmla="val 191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語音泡泡: 圓角矩形 20">
            <a:extLst>
              <a:ext uri="{FF2B5EF4-FFF2-40B4-BE49-F238E27FC236}">
                <a16:creationId xmlns:a16="http://schemas.microsoft.com/office/drawing/2014/main" id="{4E5E13B9-DEB5-1B2D-E1A6-C7D58A3D0C00}"/>
              </a:ext>
            </a:extLst>
          </p:cNvPr>
          <p:cNvSpPr/>
          <p:nvPr/>
        </p:nvSpPr>
        <p:spPr bwMode="gray">
          <a:xfrm>
            <a:off x="8631055" y="2272206"/>
            <a:ext cx="3313295" cy="816013"/>
          </a:xfrm>
          <a:prstGeom prst="wedgeRoundRectCallout">
            <a:avLst>
              <a:gd name="adj1" fmla="val -156409"/>
              <a:gd name="adj2" fmla="val -5857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：選擇電子簽章合約範本</a:t>
            </a:r>
          </a:p>
        </p:txBody>
      </p:sp>
      <p:sp>
        <p:nvSpPr>
          <p:cNvPr id="22" name="語音泡泡: 圓角矩形 21">
            <a:extLst>
              <a:ext uri="{FF2B5EF4-FFF2-40B4-BE49-F238E27FC236}">
                <a16:creationId xmlns:a16="http://schemas.microsoft.com/office/drawing/2014/main" id="{1D9A2666-43DB-9BEE-ADF0-3FFD846FB672}"/>
              </a:ext>
            </a:extLst>
          </p:cNvPr>
          <p:cNvSpPr/>
          <p:nvPr/>
        </p:nvSpPr>
        <p:spPr bwMode="gray">
          <a:xfrm>
            <a:off x="7869055" y="838061"/>
            <a:ext cx="4046246" cy="1325563"/>
          </a:xfrm>
          <a:prstGeom prst="wedgeRoundRectCallout">
            <a:avLst>
              <a:gd name="adj1" fmla="val -192724"/>
              <a:gd name="adj2" fmla="val -1601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系統會依起案時選擇的簽署人數，自動列出對應人數的電子簽章合約範本。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E6E7EA16-C1A8-B264-EEC5-2FADDF34FB32}"/>
              </a:ext>
            </a:extLst>
          </p:cNvPr>
          <p:cNvSpPr/>
          <p:nvPr/>
        </p:nvSpPr>
        <p:spPr>
          <a:xfrm>
            <a:off x="4109721" y="6441439"/>
            <a:ext cx="889000" cy="33693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語音泡泡: 圓角矩形 24">
            <a:extLst>
              <a:ext uri="{FF2B5EF4-FFF2-40B4-BE49-F238E27FC236}">
                <a16:creationId xmlns:a16="http://schemas.microsoft.com/office/drawing/2014/main" id="{5B688A5D-37F2-C042-5477-4751C7FCA5FB}"/>
              </a:ext>
            </a:extLst>
          </p:cNvPr>
          <p:cNvSpPr/>
          <p:nvPr/>
        </p:nvSpPr>
        <p:spPr bwMode="gray">
          <a:xfrm>
            <a:off x="7869055" y="5734685"/>
            <a:ext cx="4136268" cy="950595"/>
          </a:xfrm>
          <a:prstGeom prst="wedgeRoundRectCallout">
            <a:avLst>
              <a:gd name="adj1" fmla="val -119217"/>
              <a:gd name="adj2" fmla="val 3825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：確認完簽署位置後，點擊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完成選擇範本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語音泡泡: 圓角矩形 25">
            <a:extLst>
              <a:ext uri="{FF2B5EF4-FFF2-40B4-BE49-F238E27FC236}">
                <a16:creationId xmlns:a16="http://schemas.microsoft.com/office/drawing/2014/main" id="{A3E90A8E-D6AE-0A9E-533D-D8864731A9DC}"/>
              </a:ext>
            </a:extLst>
          </p:cNvPr>
          <p:cNvSpPr/>
          <p:nvPr/>
        </p:nvSpPr>
        <p:spPr bwMode="gray">
          <a:xfrm>
            <a:off x="7476601" y="3273014"/>
            <a:ext cx="4669803" cy="1036899"/>
          </a:xfrm>
          <a:prstGeom prst="wedgeRoundRectCallout">
            <a:avLst>
              <a:gd name="adj1" fmla="val -52029"/>
              <a:gd name="adj2" fmla="val -7220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選擇範本後，系統會將該範本的簽署位置套用至本次審核的合約。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5C33A8CC-051F-344D-4FCF-C3FD086B511C}"/>
              </a:ext>
            </a:extLst>
          </p:cNvPr>
          <p:cNvSpPr/>
          <p:nvPr/>
        </p:nvSpPr>
        <p:spPr>
          <a:xfrm>
            <a:off x="1415216" y="1074543"/>
            <a:ext cx="700663" cy="29705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語音泡泡: 圓角矩形 30">
            <a:extLst>
              <a:ext uri="{FF2B5EF4-FFF2-40B4-BE49-F238E27FC236}">
                <a16:creationId xmlns:a16="http://schemas.microsoft.com/office/drawing/2014/main" id="{4AC8C6B5-6D2A-8282-857A-769A13DFE4E2}"/>
              </a:ext>
            </a:extLst>
          </p:cNvPr>
          <p:cNvSpPr/>
          <p:nvPr/>
        </p:nvSpPr>
        <p:spPr bwMode="gray">
          <a:xfrm>
            <a:off x="6653641" y="4453312"/>
            <a:ext cx="5492763" cy="1036899"/>
          </a:xfrm>
          <a:prstGeom prst="wedgeRoundRectCallout">
            <a:avLst>
              <a:gd name="adj1" fmla="val -80153"/>
              <a:gd name="adj2" fmla="val -8012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簽署人順序為甲方先行簽署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由左到右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，再換乙方簽署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由左到右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)...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依此類推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2CF7A38E-9F61-F588-4FAC-10786F06C0E1}"/>
              </a:ext>
            </a:extLst>
          </p:cNvPr>
          <p:cNvSpPr/>
          <p:nvPr/>
        </p:nvSpPr>
        <p:spPr>
          <a:xfrm>
            <a:off x="4530201" y="3615836"/>
            <a:ext cx="1250839" cy="51928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FF36E-3F27-EBFF-2173-41FD8E9C1D0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設定電子簽章資訊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套用範本位置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(13/19)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13456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7E94-0830-8A69-0E26-DE8EA519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F83C124-CE58-7B48-8055-8268BEF47319}"/>
              </a:ext>
            </a:extLst>
          </p:cNvPr>
          <p:cNvGrpSpPr/>
          <p:nvPr/>
        </p:nvGrpSpPr>
        <p:grpSpPr>
          <a:xfrm>
            <a:off x="442314" y="1379642"/>
            <a:ext cx="9108086" cy="5282972"/>
            <a:chOff x="824905" y="1006512"/>
            <a:chExt cx="7691120" cy="4147406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AC414849-CB63-4BEF-E830-8A45F85AA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64928"/>
            <a:stretch>
              <a:fillRect/>
            </a:stretch>
          </p:blipFill>
          <p:spPr>
            <a:xfrm>
              <a:off x="824905" y="1006512"/>
              <a:ext cx="7691120" cy="2326439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F1D26C08-2D86-D683-9D62-C7A23A546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2208"/>
            <a:stretch>
              <a:fillRect/>
            </a:stretch>
          </p:blipFill>
          <p:spPr>
            <a:xfrm>
              <a:off x="824905" y="3310414"/>
              <a:ext cx="7691120" cy="1843504"/>
            </a:xfrm>
            <a:prstGeom prst="rect">
              <a:avLst/>
            </a:prstGeom>
          </p:spPr>
        </p:pic>
      </p:grpSp>
      <p:pic>
        <p:nvPicPr>
          <p:cNvPr id="32" name="圖片 31">
            <a:extLst>
              <a:ext uri="{FF2B5EF4-FFF2-40B4-BE49-F238E27FC236}">
                <a16:creationId xmlns:a16="http://schemas.microsoft.com/office/drawing/2014/main" id="{3A83D945-523D-B420-8F44-BBD1C3E766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2" r="1870"/>
          <a:stretch>
            <a:fillRect/>
          </a:stretch>
        </p:blipFill>
        <p:spPr>
          <a:xfrm>
            <a:off x="3737998" y="1115216"/>
            <a:ext cx="8045479" cy="2174284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EFF9915-E691-13DB-E787-F3F8443C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3ED8DA9-4930-B310-64E0-654EEF872FC6}"/>
              </a:ext>
            </a:extLst>
          </p:cNvPr>
          <p:cNvSpPr/>
          <p:nvPr/>
        </p:nvSpPr>
        <p:spPr>
          <a:xfrm>
            <a:off x="5024120" y="5284357"/>
            <a:ext cx="2123440" cy="58065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AA839676-752C-ECF9-62F7-AF4FB4B4E065}"/>
              </a:ext>
            </a:extLst>
          </p:cNvPr>
          <p:cNvSpPr/>
          <p:nvPr/>
        </p:nvSpPr>
        <p:spPr bwMode="gray">
          <a:xfrm>
            <a:off x="7759060" y="5148814"/>
            <a:ext cx="3295022" cy="659087"/>
          </a:xfrm>
          <a:prstGeom prst="wedgeRoundRectCallout">
            <a:avLst>
              <a:gd name="adj1" fmla="val -68105"/>
              <a:gd name="adj2" fmla="val 2077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顯示所選擇的範本名稱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6CF88F9F-71B3-B804-A87D-8D7403F6C6AB}"/>
              </a:ext>
            </a:extLst>
          </p:cNvPr>
          <p:cNvSpPr/>
          <p:nvPr/>
        </p:nvSpPr>
        <p:spPr>
          <a:xfrm>
            <a:off x="6527801" y="5284357"/>
            <a:ext cx="269239" cy="28003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485A4CCF-5809-C8C0-0571-7E0E76348DCC}"/>
              </a:ext>
            </a:extLst>
          </p:cNvPr>
          <p:cNvSpPr/>
          <p:nvPr/>
        </p:nvSpPr>
        <p:spPr>
          <a:xfrm>
            <a:off x="6797040" y="5284357"/>
            <a:ext cx="269239" cy="28003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語音泡泡: 圓角矩形 26">
            <a:extLst>
              <a:ext uri="{FF2B5EF4-FFF2-40B4-BE49-F238E27FC236}">
                <a16:creationId xmlns:a16="http://schemas.microsoft.com/office/drawing/2014/main" id="{74A7CD46-2DE2-FADE-B22D-46F836176129}"/>
              </a:ext>
            </a:extLst>
          </p:cNvPr>
          <p:cNvSpPr/>
          <p:nvPr/>
        </p:nvSpPr>
        <p:spPr bwMode="gray">
          <a:xfrm>
            <a:off x="5478138" y="4369436"/>
            <a:ext cx="1184282" cy="659087"/>
          </a:xfrm>
          <a:prstGeom prst="wedgeRoundRectCallout">
            <a:avLst>
              <a:gd name="adj1" fmla="val 46737"/>
              <a:gd name="adj2" fmla="val 8552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可修改</a:t>
            </a:r>
          </a:p>
        </p:txBody>
      </p:sp>
      <p:sp>
        <p:nvSpPr>
          <p:cNvPr id="28" name="語音泡泡: 圓角矩形 27">
            <a:extLst>
              <a:ext uri="{FF2B5EF4-FFF2-40B4-BE49-F238E27FC236}">
                <a16:creationId xmlns:a16="http://schemas.microsoft.com/office/drawing/2014/main" id="{6AE6563F-66DB-84CF-8301-217764EA0625}"/>
              </a:ext>
            </a:extLst>
          </p:cNvPr>
          <p:cNvSpPr/>
          <p:nvPr/>
        </p:nvSpPr>
        <p:spPr bwMode="gray">
          <a:xfrm>
            <a:off x="6931659" y="4378918"/>
            <a:ext cx="1184282" cy="659087"/>
          </a:xfrm>
          <a:prstGeom prst="wedgeRoundRectCallout">
            <a:avLst>
              <a:gd name="adj1" fmla="val -50206"/>
              <a:gd name="adj2" fmla="val 8398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可檢視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A6D94F6B-DA90-B913-E813-7563A292F6CC}"/>
              </a:ext>
            </a:extLst>
          </p:cNvPr>
          <p:cNvSpPr/>
          <p:nvPr/>
        </p:nvSpPr>
        <p:spPr>
          <a:xfrm>
            <a:off x="7634177" y="2799857"/>
            <a:ext cx="702242" cy="44025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語音泡泡: 圓角矩形 29">
            <a:extLst>
              <a:ext uri="{FF2B5EF4-FFF2-40B4-BE49-F238E27FC236}">
                <a16:creationId xmlns:a16="http://schemas.microsoft.com/office/drawing/2014/main" id="{D103C12F-C079-40C3-8FFA-267A4C4AC5A0}"/>
              </a:ext>
            </a:extLst>
          </p:cNvPr>
          <p:cNvSpPr/>
          <p:nvPr/>
        </p:nvSpPr>
        <p:spPr bwMode="gray">
          <a:xfrm>
            <a:off x="8610600" y="2021237"/>
            <a:ext cx="3259583" cy="694634"/>
          </a:xfrm>
          <a:prstGeom prst="wedgeRoundRectCallout">
            <a:avLst>
              <a:gd name="adj1" fmla="val -64549"/>
              <a:gd name="adj2" fmla="val 5730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語音泡泡: 圓角矩形 34">
            <a:extLst>
              <a:ext uri="{FF2B5EF4-FFF2-40B4-BE49-F238E27FC236}">
                <a16:creationId xmlns:a16="http://schemas.microsoft.com/office/drawing/2014/main" id="{38B3657F-86C1-BD40-84A5-3271484E6F9B}"/>
              </a:ext>
            </a:extLst>
          </p:cNvPr>
          <p:cNvSpPr/>
          <p:nvPr/>
        </p:nvSpPr>
        <p:spPr bwMode="gray">
          <a:xfrm>
            <a:off x="8530642" y="3316022"/>
            <a:ext cx="3519118" cy="1004602"/>
          </a:xfrm>
          <a:prstGeom prst="wedgeRoundRectCallout">
            <a:avLst>
              <a:gd name="adj1" fmla="val -65266"/>
              <a:gd name="adj2" fmla="val -5779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送出後，才算完成設定，並正式啟動簽署流程。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5A0A4-2BF1-B051-6417-695BFD7250C0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設定電子簽章資訊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套用範本位置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(14/19)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31197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466C-CB18-102F-85C8-E8A74E2C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FF21193D-EFE0-1EA7-778F-E3D7B0EDE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0" y="754514"/>
            <a:ext cx="6369037" cy="6034528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774C0C-89C0-4B99-9652-0D1A6D08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CA14D65-3E44-4132-2B65-711BBC237CA2}"/>
              </a:ext>
            </a:extLst>
          </p:cNvPr>
          <p:cNvSpPr/>
          <p:nvPr/>
        </p:nvSpPr>
        <p:spPr>
          <a:xfrm>
            <a:off x="4773916" y="1476351"/>
            <a:ext cx="1992644" cy="80254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DE526A87-D475-97AC-E6A3-4BF176FD311A}"/>
              </a:ext>
            </a:extLst>
          </p:cNvPr>
          <p:cNvSpPr/>
          <p:nvPr/>
        </p:nvSpPr>
        <p:spPr bwMode="gray">
          <a:xfrm>
            <a:off x="6468953" y="772444"/>
            <a:ext cx="5627956" cy="633508"/>
          </a:xfrm>
          <a:prstGeom prst="wedgeRoundRectCallout">
            <a:avLst>
              <a:gd name="adj1" fmla="val -61225"/>
              <a:gd name="adj2" fmla="val 6008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：選擇最右側的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自訂簽章位置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E0130E5-C917-12DA-6A42-6AF39317C3F3}"/>
              </a:ext>
            </a:extLst>
          </p:cNvPr>
          <p:cNvSpPr/>
          <p:nvPr/>
        </p:nvSpPr>
        <p:spPr>
          <a:xfrm>
            <a:off x="2594813" y="2510797"/>
            <a:ext cx="1174543" cy="37006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語音泡泡: 圓角矩形 17">
            <a:extLst>
              <a:ext uri="{FF2B5EF4-FFF2-40B4-BE49-F238E27FC236}">
                <a16:creationId xmlns:a16="http://schemas.microsoft.com/office/drawing/2014/main" id="{E960E799-E107-AEDC-A06C-E381094C52E6}"/>
              </a:ext>
            </a:extLst>
          </p:cNvPr>
          <p:cNvSpPr/>
          <p:nvPr/>
        </p:nvSpPr>
        <p:spPr bwMode="gray">
          <a:xfrm>
            <a:off x="6684096" y="2327071"/>
            <a:ext cx="5197669" cy="737517"/>
          </a:xfrm>
          <a:prstGeom prst="wedgeRoundRectCallout">
            <a:avLst>
              <a:gd name="adj1" fmla="val -105842"/>
              <a:gd name="adj2" fmla="val 9460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選擇簽名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簽章位置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49D7528F-FB8B-5FEA-B962-8D6A4B6DD9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921" b="6053"/>
          <a:stretch>
            <a:fillRect/>
          </a:stretch>
        </p:blipFill>
        <p:spPr>
          <a:xfrm>
            <a:off x="5426081" y="3159752"/>
            <a:ext cx="6369037" cy="3523966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697B4DB-04E6-3CB0-3D53-EBACB4D74C34}"/>
              </a:ext>
            </a:extLst>
          </p:cNvPr>
          <p:cNvSpPr/>
          <p:nvPr/>
        </p:nvSpPr>
        <p:spPr>
          <a:xfrm>
            <a:off x="7995919" y="3704571"/>
            <a:ext cx="1229360" cy="55246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語音泡泡: 圓角矩形 21">
            <a:extLst>
              <a:ext uri="{FF2B5EF4-FFF2-40B4-BE49-F238E27FC236}">
                <a16:creationId xmlns:a16="http://schemas.microsoft.com/office/drawing/2014/main" id="{8A4C9FC1-49BF-921A-7C82-83E187EBEB21}"/>
              </a:ext>
            </a:extLst>
          </p:cNvPr>
          <p:cNvSpPr/>
          <p:nvPr/>
        </p:nvSpPr>
        <p:spPr bwMode="gray">
          <a:xfrm>
            <a:off x="2885440" y="3607737"/>
            <a:ext cx="3476940" cy="944594"/>
          </a:xfrm>
          <a:prstGeom prst="wedgeRoundRectCallout">
            <a:avLst>
              <a:gd name="adj1" fmla="val 97116"/>
              <a:gd name="adj2" fmla="val 938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畫面出現「第一簽署人」簽章區域</a:t>
            </a:r>
          </a:p>
        </p:txBody>
      </p:sp>
      <p:sp>
        <p:nvSpPr>
          <p:cNvPr id="25" name="語音泡泡: 圓角矩形 24">
            <a:extLst>
              <a:ext uri="{FF2B5EF4-FFF2-40B4-BE49-F238E27FC236}">
                <a16:creationId xmlns:a16="http://schemas.microsoft.com/office/drawing/2014/main" id="{0A8DB101-DD71-A976-2C9E-D081100F7A3B}"/>
              </a:ext>
            </a:extLst>
          </p:cNvPr>
          <p:cNvSpPr/>
          <p:nvPr/>
        </p:nvSpPr>
        <p:spPr bwMode="gray">
          <a:xfrm>
            <a:off x="7147197" y="1521815"/>
            <a:ext cx="4811124" cy="610018"/>
          </a:xfrm>
          <a:prstGeom prst="wedgeRoundRectCallout">
            <a:avLst>
              <a:gd name="adj1" fmla="val -57678"/>
              <a:gd name="adj2" fmla="val 6806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當無合適的範本時，請使用此項目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617A8-7BC1-5873-156C-CD739831B008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設定電子簽章資訊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自訂簽章位置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(15/19)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92220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BED98-899C-420F-2EB7-F43B9297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8D2808C-323E-D68B-F592-84E9166BF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59" y="793770"/>
            <a:ext cx="6379621" cy="6011823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4A6F9CC-801A-A73D-3C70-A8DE589B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18" name="語音泡泡: 圓角矩形 17">
            <a:extLst>
              <a:ext uri="{FF2B5EF4-FFF2-40B4-BE49-F238E27FC236}">
                <a16:creationId xmlns:a16="http://schemas.microsoft.com/office/drawing/2014/main" id="{F63B8C55-AC56-3D30-9643-4D31036D4B3D}"/>
              </a:ext>
            </a:extLst>
          </p:cNvPr>
          <p:cNvSpPr/>
          <p:nvPr/>
        </p:nvSpPr>
        <p:spPr bwMode="gray">
          <a:xfrm>
            <a:off x="6035040" y="3283606"/>
            <a:ext cx="4775199" cy="988359"/>
          </a:xfrm>
          <a:prstGeom prst="wedgeRoundRectCallout">
            <a:avLst>
              <a:gd name="adj1" fmla="val -67137"/>
              <a:gd name="adj2" fmla="val 5905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：拖曳調整「第一簽署人」簽署區域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55CC8B6-23CE-D554-6DE4-28BB568C6074}"/>
              </a:ext>
            </a:extLst>
          </p:cNvPr>
          <p:cNvSpPr/>
          <p:nvPr/>
        </p:nvSpPr>
        <p:spPr>
          <a:xfrm>
            <a:off x="3982720" y="4246880"/>
            <a:ext cx="1229360" cy="57912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9388358F-1DF4-523C-AA41-2FA1EF8A6C32}"/>
              </a:ext>
            </a:extLst>
          </p:cNvPr>
          <p:cNvSpPr/>
          <p:nvPr/>
        </p:nvSpPr>
        <p:spPr bwMode="gray">
          <a:xfrm>
            <a:off x="6035040" y="4556228"/>
            <a:ext cx="3032762" cy="655034"/>
          </a:xfrm>
          <a:prstGeom prst="wedgeRoundRectCallout">
            <a:avLst>
              <a:gd name="adj1" fmla="val -76786"/>
              <a:gd name="adj2" fmla="val -3018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可移除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可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調整大小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AE56C-7636-8489-AF4C-DFCF7DE5F70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設定電子簽章資訊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自訂簽章位置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(16/19)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86089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6B51-A8F7-BB69-0CA9-F6D908B5F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25B5E89D-1565-CAC4-8B26-E520417FF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30" y="765187"/>
            <a:ext cx="6379621" cy="6025198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0349CED-F77B-B4E0-1FE9-ED803483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18" name="語音泡泡: 圓角矩形 17">
            <a:extLst>
              <a:ext uri="{FF2B5EF4-FFF2-40B4-BE49-F238E27FC236}">
                <a16:creationId xmlns:a16="http://schemas.microsoft.com/office/drawing/2014/main" id="{F0DBCFC9-5DEA-1377-5E6B-0896BB03E158}"/>
              </a:ext>
            </a:extLst>
          </p:cNvPr>
          <p:cNvSpPr/>
          <p:nvPr/>
        </p:nvSpPr>
        <p:spPr bwMode="gray">
          <a:xfrm>
            <a:off x="7076086" y="1199221"/>
            <a:ext cx="4094694" cy="772907"/>
          </a:xfrm>
          <a:prstGeom prst="wedgeRoundRectCallout">
            <a:avLst>
              <a:gd name="adj1" fmla="val -161579"/>
              <a:gd name="adj2" fmla="val 11416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：選擇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第二簽署人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452A5211-DEE3-182A-F0A0-46ED47E1D3BC}"/>
              </a:ext>
            </a:extLst>
          </p:cNvPr>
          <p:cNvSpPr/>
          <p:nvPr/>
        </p:nvSpPr>
        <p:spPr>
          <a:xfrm>
            <a:off x="782320" y="2489200"/>
            <a:ext cx="1818640" cy="37592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15B3936-5772-C9BB-292D-22B00DF7E499}"/>
              </a:ext>
            </a:extLst>
          </p:cNvPr>
          <p:cNvSpPr/>
          <p:nvPr/>
        </p:nvSpPr>
        <p:spPr>
          <a:xfrm>
            <a:off x="2615137" y="2535697"/>
            <a:ext cx="1123744" cy="32942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566F2821-F663-63B6-12AF-5728F0186386}"/>
              </a:ext>
            </a:extLst>
          </p:cNvPr>
          <p:cNvSpPr/>
          <p:nvPr/>
        </p:nvSpPr>
        <p:spPr bwMode="gray">
          <a:xfrm>
            <a:off x="7076086" y="2178903"/>
            <a:ext cx="5044793" cy="772907"/>
          </a:xfrm>
          <a:prstGeom prst="wedgeRoundRectCallout">
            <a:avLst>
              <a:gd name="adj1" fmla="val -115800"/>
              <a:gd name="adj2" fmla="val 1820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選擇簽名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簽章位置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9A97624-65C7-BA34-2E5C-8BF4C778F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535" y="3129458"/>
            <a:ext cx="6379621" cy="3512830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2208249-1BBF-5C3E-D41B-175BBF8110C8}"/>
              </a:ext>
            </a:extLst>
          </p:cNvPr>
          <p:cNvSpPr/>
          <p:nvPr/>
        </p:nvSpPr>
        <p:spPr>
          <a:xfrm>
            <a:off x="8158479" y="3677467"/>
            <a:ext cx="1229360" cy="46215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82A16CF6-10D7-6778-3401-BC8228327F06}"/>
              </a:ext>
            </a:extLst>
          </p:cNvPr>
          <p:cNvSpPr/>
          <p:nvPr/>
        </p:nvSpPr>
        <p:spPr bwMode="gray">
          <a:xfrm>
            <a:off x="3104880" y="3667323"/>
            <a:ext cx="3476940" cy="944594"/>
          </a:xfrm>
          <a:prstGeom prst="wedgeRoundRectCallout">
            <a:avLst>
              <a:gd name="adj1" fmla="val 95071"/>
              <a:gd name="adj2" fmla="val -1427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畫面出現「第二簽署人」簽章區域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65F8A4-6340-26A7-C6EC-0782AD72217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設定電子簽章資訊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自訂簽章位置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(17/19)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44993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99C36-116A-9D03-F805-7B31DDCC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177B366-F707-C045-D45B-5EAE9DF0A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88" y="797644"/>
            <a:ext cx="6236985" cy="5923831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A92AD2B-7B44-1BE1-732D-0174815F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D195716E-0378-0DFF-8CE2-C6A9D4D6AC91}"/>
              </a:ext>
            </a:extLst>
          </p:cNvPr>
          <p:cNvSpPr/>
          <p:nvPr/>
        </p:nvSpPr>
        <p:spPr bwMode="gray">
          <a:xfrm>
            <a:off x="7035447" y="3965428"/>
            <a:ext cx="4719674" cy="944880"/>
          </a:xfrm>
          <a:prstGeom prst="wedgeRoundRectCallout">
            <a:avLst>
              <a:gd name="adj1" fmla="val -90398"/>
              <a:gd name="adj2" fmla="val 7089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6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拖曳調整「第二簽署人」簽署位置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B27B287-3BF5-E268-9E13-7B9BEDA01FB9}"/>
              </a:ext>
            </a:extLst>
          </p:cNvPr>
          <p:cNvSpPr/>
          <p:nvPr/>
        </p:nvSpPr>
        <p:spPr>
          <a:xfrm>
            <a:off x="3942080" y="5080000"/>
            <a:ext cx="1168400" cy="56896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6E3D53F-A155-EC0A-94E6-A557F7A9DC38}"/>
              </a:ext>
            </a:extLst>
          </p:cNvPr>
          <p:cNvSpPr/>
          <p:nvPr/>
        </p:nvSpPr>
        <p:spPr>
          <a:xfrm>
            <a:off x="3716650" y="6319089"/>
            <a:ext cx="889000" cy="33693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42A51F11-DD99-1B30-C4D4-B39BDE2BAAC7}"/>
              </a:ext>
            </a:extLst>
          </p:cNvPr>
          <p:cNvSpPr/>
          <p:nvPr/>
        </p:nvSpPr>
        <p:spPr bwMode="gray">
          <a:xfrm>
            <a:off x="7025287" y="5282191"/>
            <a:ext cx="4136268" cy="1036898"/>
          </a:xfrm>
          <a:prstGeom prst="wedgeRoundRectCallout">
            <a:avLst>
              <a:gd name="adj1" fmla="val -108409"/>
              <a:gd name="adj2" fmla="val 65690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7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：調整好簽署位置後，點擊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完成選擇範本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BDAD50-CF33-4A41-DCCA-40B5DD6076D9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設定電子簽章資訊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自訂簽章位置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(18/19)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87100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ADAF-7AC4-4DDE-22CA-83DA9B571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群組 10">
            <a:extLst>
              <a:ext uri="{FF2B5EF4-FFF2-40B4-BE49-F238E27FC236}">
                <a16:creationId xmlns:a16="http://schemas.microsoft.com/office/drawing/2014/main" id="{16D0220A-E2FF-9417-FB52-ED3C20EE5A7A}"/>
              </a:ext>
            </a:extLst>
          </p:cNvPr>
          <p:cNvGrpSpPr/>
          <p:nvPr/>
        </p:nvGrpSpPr>
        <p:grpSpPr>
          <a:xfrm>
            <a:off x="523594" y="1304973"/>
            <a:ext cx="9306561" cy="5325062"/>
            <a:chOff x="40640" y="71120"/>
            <a:chExt cx="7529578" cy="4224293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CECE112F-06D4-2470-7F4E-C34224518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65630"/>
            <a:stretch>
              <a:fillRect/>
            </a:stretch>
          </p:blipFill>
          <p:spPr>
            <a:xfrm>
              <a:off x="40640" y="71120"/>
              <a:ext cx="7529578" cy="2357120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059E3E2F-76A9-B5A1-E82B-7B43BF738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2000"/>
            <a:stretch>
              <a:fillRect/>
            </a:stretch>
          </p:blipFill>
          <p:spPr>
            <a:xfrm>
              <a:off x="40640" y="2375173"/>
              <a:ext cx="7529578" cy="1920240"/>
            </a:xfrm>
            <a:prstGeom prst="rect">
              <a:avLst/>
            </a:prstGeom>
          </p:spPr>
        </p:pic>
      </p:grp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E91832-A613-128F-7E70-FCD5CE79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76F43C8-1A4F-C6B1-9E08-E0F23CE2B2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41" r="2028"/>
          <a:stretch>
            <a:fillRect/>
          </a:stretch>
        </p:blipFill>
        <p:spPr>
          <a:xfrm>
            <a:off x="3716650" y="970641"/>
            <a:ext cx="8214006" cy="2212898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C760AB5-25BC-3B38-770C-69F7A7E88F45}"/>
              </a:ext>
            </a:extLst>
          </p:cNvPr>
          <p:cNvSpPr/>
          <p:nvPr/>
        </p:nvSpPr>
        <p:spPr>
          <a:xfrm>
            <a:off x="5201920" y="5191760"/>
            <a:ext cx="2184400" cy="54104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62750485-7300-1CC7-554A-A8E3ACB08A7E}"/>
              </a:ext>
            </a:extLst>
          </p:cNvPr>
          <p:cNvSpPr/>
          <p:nvPr/>
        </p:nvSpPr>
        <p:spPr bwMode="gray">
          <a:xfrm>
            <a:off x="7983255" y="5030443"/>
            <a:ext cx="3295022" cy="659087"/>
          </a:xfrm>
          <a:prstGeom prst="wedgeRoundRectCallout">
            <a:avLst>
              <a:gd name="adj1" fmla="val -68105"/>
              <a:gd name="adj2" fmla="val 2077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顯示使用自訂簽章位置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0CE1613-3A2E-ED31-9423-CE86D659578F}"/>
              </a:ext>
            </a:extLst>
          </p:cNvPr>
          <p:cNvSpPr/>
          <p:nvPr/>
        </p:nvSpPr>
        <p:spPr>
          <a:xfrm>
            <a:off x="7694920" y="2655564"/>
            <a:ext cx="702242" cy="44025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語音泡泡: 圓角矩形 21">
            <a:extLst>
              <a:ext uri="{FF2B5EF4-FFF2-40B4-BE49-F238E27FC236}">
                <a16:creationId xmlns:a16="http://schemas.microsoft.com/office/drawing/2014/main" id="{AA1EC2C9-0677-B788-27E6-6FCD61BAEE41}"/>
              </a:ext>
            </a:extLst>
          </p:cNvPr>
          <p:cNvSpPr/>
          <p:nvPr/>
        </p:nvSpPr>
        <p:spPr bwMode="gray">
          <a:xfrm>
            <a:off x="8661400" y="1888842"/>
            <a:ext cx="3259583" cy="694634"/>
          </a:xfrm>
          <a:prstGeom prst="wedgeRoundRectCallout">
            <a:avLst>
              <a:gd name="adj1" fmla="val -66731"/>
              <a:gd name="adj2" fmla="val 5584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8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語音泡泡: 圓角矩形 22">
            <a:extLst>
              <a:ext uri="{FF2B5EF4-FFF2-40B4-BE49-F238E27FC236}">
                <a16:creationId xmlns:a16="http://schemas.microsoft.com/office/drawing/2014/main" id="{6B90BCA4-5729-FEDF-7194-3A7A4AD04180}"/>
              </a:ext>
            </a:extLst>
          </p:cNvPr>
          <p:cNvSpPr/>
          <p:nvPr/>
        </p:nvSpPr>
        <p:spPr bwMode="gray">
          <a:xfrm>
            <a:off x="8480832" y="3194177"/>
            <a:ext cx="3519118" cy="1004602"/>
          </a:xfrm>
          <a:prstGeom prst="wedgeRoundRectCallout">
            <a:avLst>
              <a:gd name="adj1" fmla="val -62668"/>
              <a:gd name="adj2" fmla="val -5779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送出後，才算完成設定，並正式啟動簽署流程。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B677B-EF5B-F641-B53E-44C61B0AC849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待審清單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設定電子簽章資訊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自訂簽章位置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(19/19)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49513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94FFF-25AB-8D62-9130-28593B823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245C2808-F48C-9E64-D941-603BC2310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3.3 </a:t>
            </a:r>
            <a:r>
              <a:rPr lang="zh-TW" altLang="en-US" sz="3600" dirty="0"/>
              <a:t>我的案件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審核記錄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342786109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39B067F3-3DD6-FDCB-31CB-4791FBDC0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69" y="1031585"/>
            <a:ext cx="11343046" cy="5107687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2" name="矩形: 圓角 1">
            <a:extLst>
              <a:ext uri="{FF2B5EF4-FFF2-40B4-BE49-F238E27FC236}">
                <a16:creationId xmlns:a16="http://schemas.microsoft.com/office/drawing/2014/main" id="{67A1EF06-87A7-7405-14AB-F2BA335B342E}"/>
              </a:ext>
            </a:extLst>
          </p:cNvPr>
          <p:cNvSpPr/>
          <p:nvPr/>
        </p:nvSpPr>
        <p:spPr>
          <a:xfrm>
            <a:off x="698090" y="5163671"/>
            <a:ext cx="10990841" cy="97560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899ABD28-18E4-603B-21C6-677DD1CED711}"/>
              </a:ext>
            </a:extLst>
          </p:cNvPr>
          <p:cNvSpPr/>
          <p:nvPr/>
        </p:nvSpPr>
        <p:spPr bwMode="gray">
          <a:xfrm>
            <a:off x="5934900" y="2853483"/>
            <a:ext cx="5911215" cy="1756591"/>
          </a:xfrm>
          <a:prstGeom prst="wedgeRoundRectCallout">
            <a:avLst>
              <a:gd name="adj1" fmla="val -20730"/>
              <a:gd name="adj2" fmla="val 8034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列表顯示「自己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」曾經審核過的申請單：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合約審閱申請單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紙本合約借閱申請單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合約電子檔閱覽申請單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F26286F-9982-C5C5-7618-DE7989F3A6DA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審核紀錄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】(1/2)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92000052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E9F6944-FE7D-013E-9C92-0E4247EEF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86" y="820423"/>
            <a:ext cx="11343046" cy="5107687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00BFAC7-9023-5C08-0AF6-DC11A4D98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671" y="2151206"/>
            <a:ext cx="8623261" cy="441308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795228-2D28-ACB1-F1C3-40345167B3F3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審核紀錄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85EA0A2-DD4B-1D04-C977-A864FE405978}"/>
              </a:ext>
            </a:extLst>
          </p:cNvPr>
          <p:cNvSpPr/>
          <p:nvPr/>
        </p:nvSpPr>
        <p:spPr>
          <a:xfrm>
            <a:off x="911924" y="4904785"/>
            <a:ext cx="421408" cy="42295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65D7866E-3813-55EB-DB2D-99115BE2A69F}"/>
              </a:ext>
            </a:extLst>
          </p:cNvPr>
          <p:cNvSpPr/>
          <p:nvPr/>
        </p:nvSpPr>
        <p:spPr bwMode="gray">
          <a:xfrm>
            <a:off x="1730551" y="4139680"/>
            <a:ext cx="917743" cy="792000"/>
          </a:xfrm>
          <a:prstGeom prst="wedgeRoundRectCallout">
            <a:avLst>
              <a:gd name="adj1" fmla="val -93461"/>
              <a:gd name="adj2" fmla="val 5149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明細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E4A825D-6DEC-8EB5-26EC-FC759B436DC3}"/>
              </a:ext>
            </a:extLst>
          </p:cNvPr>
          <p:cNvSpPr/>
          <p:nvPr/>
        </p:nvSpPr>
        <p:spPr>
          <a:xfrm>
            <a:off x="3198902" y="2574432"/>
            <a:ext cx="8364448" cy="47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5F226DFB-3E47-B45F-1F7A-B49DBFFAF40C}"/>
              </a:ext>
            </a:extLst>
          </p:cNvPr>
          <p:cNvSpPr/>
          <p:nvPr/>
        </p:nvSpPr>
        <p:spPr bwMode="gray">
          <a:xfrm>
            <a:off x="7362143" y="1204181"/>
            <a:ext cx="4044938" cy="975600"/>
          </a:xfrm>
          <a:prstGeom prst="wedgeRoundRectCallout">
            <a:avLst>
              <a:gd name="adj1" fmla="val -20200"/>
              <a:gd name="adj2" fmla="val 8732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基本資料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】~【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提醒項目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請參考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送審清單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</a:p>
        </p:txBody>
      </p:sp>
    </p:spTree>
    <p:extLst>
      <p:ext uri="{BB962C8B-B14F-4D97-AF65-F5344CB8AC3E}">
        <p14:creationId xmlns:p14="http://schemas.microsoft.com/office/powerpoint/2010/main" val="654719326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C1BDA-EBFF-1092-CBA3-ED7BB849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3CA7AE-35C4-ADA1-8941-BAF7E587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4.1 </a:t>
            </a:r>
            <a:r>
              <a:rPr lang="zh-TW" altLang="en-US" sz="3600" dirty="0"/>
              <a:t>合約查詢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合約審閱進度查詢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743878517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F138FC5B-1A2D-5AF9-7637-D0307913EC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290"/>
          <a:stretch>
            <a:fillRect/>
          </a:stretch>
        </p:blipFill>
        <p:spPr>
          <a:xfrm>
            <a:off x="956361" y="928645"/>
            <a:ext cx="10279277" cy="556202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合約審閱進度查詢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 (1/4)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FBD3562-A122-EB65-F8AB-3261C4096F6E}"/>
              </a:ext>
            </a:extLst>
          </p:cNvPr>
          <p:cNvSpPr/>
          <p:nvPr/>
        </p:nvSpPr>
        <p:spPr>
          <a:xfrm>
            <a:off x="1054202" y="5788235"/>
            <a:ext cx="10181436" cy="70243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語音泡泡: 圓角矩形 1">
            <a:extLst>
              <a:ext uri="{FF2B5EF4-FFF2-40B4-BE49-F238E27FC236}">
                <a16:creationId xmlns:a16="http://schemas.microsoft.com/office/drawing/2014/main" id="{13D86B22-4124-9D30-A19B-D496A5982E6D}"/>
              </a:ext>
            </a:extLst>
          </p:cNvPr>
          <p:cNvSpPr/>
          <p:nvPr/>
        </p:nvSpPr>
        <p:spPr bwMode="gray">
          <a:xfrm>
            <a:off x="7933199" y="3914360"/>
            <a:ext cx="3950509" cy="748940"/>
          </a:xfrm>
          <a:prstGeom prst="wedgeRoundRectCallout">
            <a:avLst>
              <a:gd name="adj1" fmla="val 8553"/>
              <a:gd name="adj2" fmla="val 19699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列表顯示「審核中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」的合約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9FF688F9-C5E5-5DA2-7216-597256CCD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299" y="4721698"/>
            <a:ext cx="8447973" cy="2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60710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4A6321F-97ED-CAD7-AE72-B3D00DA85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30" y="893679"/>
            <a:ext cx="9544595" cy="570506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BCB438A-32D6-891A-FF1F-FEB3A8B8E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910" y="4806378"/>
            <a:ext cx="8590848" cy="20419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E3576F4-1E47-6A01-6C02-D155D341B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2250" y="2452032"/>
            <a:ext cx="9182055" cy="412771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合約審閱進度查詢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明細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FBD3562-A122-EB65-F8AB-3261C4096F6E}"/>
              </a:ext>
            </a:extLst>
          </p:cNvPr>
          <p:cNvSpPr/>
          <p:nvPr/>
        </p:nvSpPr>
        <p:spPr>
          <a:xfrm>
            <a:off x="2958386" y="2920645"/>
            <a:ext cx="8748383" cy="47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0333CF1C-2216-34A1-D69C-34EB006D869C}"/>
              </a:ext>
            </a:extLst>
          </p:cNvPr>
          <p:cNvSpPr/>
          <p:nvPr/>
        </p:nvSpPr>
        <p:spPr bwMode="gray">
          <a:xfrm>
            <a:off x="7482414" y="1634575"/>
            <a:ext cx="4044938" cy="975600"/>
          </a:xfrm>
          <a:prstGeom prst="wedgeRoundRectCallout">
            <a:avLst>
              <a:gd name="adj1" fmla="val -20421"/>
              <a:gd name="adj2" fmla="val 7905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基本資料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】~【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提醒項目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請參考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送審清單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2FAB8D27-A7BB-31B5-AF0C-C98A736C3D9C}"/>
              </a:ext>
            </a:extLst>
          </p:cNvPr>
          <p:cNvSpPr/>
          <p:nvPr/>
        </p:nvSpPr>
        <p:spPr>
          <a:xfrm>
            <a:off x="1101271" y="5904489"/>
            <a:ext cx="384629" cy="38201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語音泡泡: 圓角矩形 20">
            <a:extLst>
              <a:ext uri="{FF2B5EF4-FFF2-40B4-BE49-F238E27FC236}">
                <a16:creationId xmlns:a16="http://schemas.microsoft.com/office/drawing/2014/main" id="{73885D6C-5945-F5F3-2C05-A66E0B337256}"/>
              </a:ext>
            </a:extLst>
          </p:cNvPr>
          <p:cNvSpPr/>
          <p:nvPr/>
        </p:nvSpPr>
        <p:spPr bwMode="gray">
          <a:xfrm>
            <a:off x="247695" y="4997906"/>
            <a:ext cx="917743" cy="792000"/>
          </a:xfrm>
          <a:prstGeom prst="wedgeRoundRectCallout">
            <a:avLst>
              <a:gd name="adj1" fmla="val 70646"/>
              <a:gd name="adj2" fmla="val 6508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明細</a:t>
            </a:r>
          </a:p>
        </p:txBody>
      </p:sp>
    </p:spTree>
    <p:extLst>
      <p:ext uri="{BB962C8B-B14F-4D97-AF65-F5344CB8AC3E}">
        <p14:creationId xmlns:p14="http://schemas.microsoft.com/office/powerpoint/2010/main" val="3328969033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835DB4A-C741-D638-D56A-AD1ABBA4F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30" y="893679"/>
            <a:ext cx="9544595" cy="570506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AE3C556-3B72-3859-33E0-37F8967277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9631" b="-10240"/>
          <a:stretch>
            <a:fillRect/>
          </a:stretch>
        </p:blipFill>
        <p:spPr>
          <a:xfrm>
            <a:off x="1223690" y="4802435"/>
            <a:ext cx="8806135" cy="25534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1A1D262-7361-20C5-1311-2E09E190A6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26"/>
          <a:stretch>
            <a:fillRect/>
          </a:stretch>
        </p:blipFill>
        <p:spPr>
          <a:xfrm>
            <a:off x="3657601" y="922083"/>
            <a:ext cx="8018133" cy="405531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合約審閱進度查詢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複製合約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(3/4)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E2BE654-2AC2-5EB4-7FA6-8E6ACFAE0FE1}"/>
              </a:ext>
            </a:extLst>
          </p:cNvPr>
          <p:cNvSpPr/>
          <p:nvPr/>
        </p:nvSpPr>
        <p:spPr>
          <a:xfrm>
            <a:off x="1392316" y="5869245"/>
            <a:ext cx="404579" cy="38529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5ABE8992-7F36-2F9A-7C74-A4B8CE514802}"/>
              </a:ext>
            </a:extLst>
          </p:cNvPr>
          <p:cNvSpPr/>
          <p:nvPr/>
        </p:nvSpPr>
        <p:spPr bwMode="gray">
          <a:xfrm>
            <a:off x="1863570" y="4991520"/>
            <a:ext cx="1523170" cy="792000"/>
          </a:xfrm>
          <a:prstGeom prst="wedgeRoundRectCallout">
            <a:avLst>
              <a:gd name="adj1" fmla="val -53290"/>
              <a:gd name="adj2" fmla="val 7833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複製合約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F597907-F439-2024-E4BA-5D637D796D29}"/>
              </a:ext>
            </a:extLst>
          </p:cNvPr>
          <p:cNvSpPr/>
          <p:nvPr/>
        </p:nvSpPr>
        <p:spPr>
          <a:xfrm>
            <a:off x="3691574" y="937211"/>
            <a:ext cx="3052126" cy="386764"/>
          </a:xfrm>
          <a:prstGeom prst="roundRect">
            <a:avLst>
              <a:gd name="adj" fmla="val 250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44B6D322-25B9-9776-AFBF-BCC5F97EE949}"/>
              </a:ext>
            </a:extLst>
          </p:cNvPr>
          <p:cNvSpPr/>
          <p:nvPr/>
        </p:nvSpPr>
        <p:spPr bwMode="gray">
          <a:xfrm>
            <a:off x="7307755" y="740736"/>
            <a:ext cx="3715317" cy="982949"/>
          </a:xfrm>
          <a:prstGeom prst="wedgeRoundRectCallout">
            <a:avLst>
              <a:gd name="adj1" fmla="val -64771"/>
              <a:gd name="adj2" fmla="val -917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複製該合約的起單方式及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合約基本資料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語音泡泡: 圓角矩形 17">
            <a:extLst>
              <a:ext uri="{FF2B5EF4-FFF2-40B4-BE49-F238E27FC236}">
                <a16:creationId xmlns:a16="http://schemas.microsoft.com/office/drawing/2014/main" id="{8F7BDA31-DE7F-CC1B-A43A-8D083D95AE16}"/>
              </a:ext>
            </a:extLst>
          </p:cNvPr>
          <p:cNvSpPr/>
          <p:nvPr/>
        </p:nvSpPr>
        <p:spPr bwMode="gray">
          <a:xfrm>
            <a:off x="8534400" y="3492202"/>
            <a:ext cx="3141334" cy="1666538"/>
          </a:xfrm>
          <a:prstGeom prst="wedgeRoundRectCallout">
            <a:avLst>
              <a:gd name="adj1" fmla="val -47748"/>
              <a:gd name="adj2" fmla="val -2150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不會被複製的欄位：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合約檔案</a:t>
            </a: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合約金額</a:t>
            </a: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附件清單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6782032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385DA44-90F0-DA15-0275-44B1C10D9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9" y="1986833"/>
            <a:ext cx="10740887" cy="3818784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3D2BA5A-6342-5615-A129-B8A701E4B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039" y="3401679"/>
            <a:ext cx="9615042" cy="22854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F89D9A9-D92F-A379-557B-8A139EE81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597" y="779932"/>
            <a:ext cx="6209524" cy="292380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合約審閱進度查詢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合約作廢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(4/4)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B14E79D-DF27-F499-E029-687232CE7152}"/>
              </a:ext>
            </a:extLst>
          </p:cNvPr>
          <p:cNvSpPr/>
          <p:nvPr/>
        </p:nvSpPr>
        <p:spPr>
          <a:xfrm>
            <a:off x="2008094" y="4672291"/>
            <a:ext cx="413903" cy="4107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C6FAD149-FF3C-70CF-5A0A-DA0AF5EA23F4}"/>
              </a:ext>
            </a:extLst>
          </p:cNvPr>
          <p:cNvSpPr/>
          <p:nvPr/>
        </p:nvSpPr>
        <p:spPr bwMode="gray">
          <a:xfrm>
            <a:off x="791025" y="3611659"/>
            <a:ext cx="1523170" cy="792000"/>
          </a:xfrm>
          <a:prstGeom prst="wedgeRoundRectCallout">
            <a:avLst>
              <a:gd name="adj1" fmla="val 37972"/>
              <a:gd name="adj2" fmla="val 8104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合約作廢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DDBD0575-5B92-B1B4-A94C-42D588F44D20}"/>
              </a:ext>
            </a:extLst>
          </p:cNvPr>
          <p:cNvSpPr/>
          <p:nvPr/>
        </p:nvSpPr>
        <p:spPr bwMode="gray">
          <a:xfrm>
            <a:off x="2421997" y="5383879"/>
            <a:ext cx="4674128" cy="826421"/>
          </a:xfrm>
          <a:prstGeom prst="wedgeRoundRectCallout">
            <a:avLst>
              <a:gd name="adj1" fmla="val -49824"/>
              <a:gd name="adj2" fmla="val -10272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法務人員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法務主管可執行此功能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72813D0-E1FF-6FB9-8574-72B958190BBA}"/>
              </a:ext>
            </a:extLst>
          </p:cNvPr>
          <p:cNvSpPr/>
          <p:nvPr/>
        </p:nvSpPr>
        <p:spPr>
          <a:xfrm>
            <a:off x="5568063" y="1931055"/>
            <a:ext cx="5808149" cy="90179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EEADA6DB-6D70-E31F-09BE-304263862DD2}"/>
              </a:ext>
            </a:extLst>
          </p:cNvPr>
          <p:cNvSpPr/>
          <p:nvPr/>
        </p:nvSpPr>
        <p:spPr bwMode="gray">
          <a:xfrm>
            <a:off x="8254854" y="3902069"/>
            <a:ext cx="3025764" cy="975600"/>
          </a:xfrm>
          <a:prstGeom prst="wedgeRoundRectCallout">
            <a:avLst>
              <a:gd name="adj1" fmla="val -22566"/>
              <a:gd name="adj2" fmla="val -8024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輸入資料後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此單的狀態變為作廢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EA40B47-50DF-DFCC-0B33-663D5BEBE8A4}"/>
              </a:ext>
            </a:extLst>
          </p:cNvPr>
          <p:cNvSpPr/>
          <p:nvPr/>
        </p:nvSpPr>
        <p:spPr>
          <a:xfrm>
            <a:off x="8518219" y="3031176"/>
            <a:ext cx="957076" cy="58048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85613B10-9031-2D62-3870-CCC3A50DD8B4}"/>
              </a:ext>
            </a:extLst>
          </p:cNvPr>
          <p:cNvSpPr/>
          <p:nvPr/>
        </p:nvSpPr>
        <p:spPr bwMode="gray">
          <a:xfrm>
            <a:off x="7554866" y="5791509"/>
            <a:ext cx="4236539" cy="1067071"/>
          </a:xfrm>
          <a:prstGeom prst="roundRect">
            <a:avLst>
              <a:gd name="adj" fmla="val 5422"/>
            </a:avLst>
          </a:prstGeom>
          <a:solidFill>
            <a:schemeClr val="bg1">
              <a:lumMod val="6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/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補充說明：</a:t>
            </a:r>
            <a:endParaRPr lang="en-US" altLang="zh-TW" sz="1800" b="1" dirty="0">
              <a:solidFill>
                <a:schemeClr val="bg1"/>
              </a:solidFill>
            </a:endParaRPr>
          </a:p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針對已產生合約編號的合約審閱申請單，才會提供</a:t>
            </a:r>
            <a:r>
              <a:rPr lang="en-US" altLang="zh-TW" sz="1800" b="1" dirty="0">
                <a:solidFill>
                  <a:schemeClr val="bg1"/>
                </a:solidFill>
              </a:rPr>
              <a:t>&lt;</a:t>
            </a:r>
            <a:r>
              <a:rPr lang="zh-TW" altLang="en-US" sz="1800" b="1" dirty="0">
                <a:solidFill>
                  <a:schemeClr val="bg1"/>
                </a:solidFill>
              </a:rPr>
              <a:t>作廢</a:t>
            </a:r>
            <a:r>
              <a:rPr lang="en-US" altLang="zh-TW" sz="1800" b="1" dirty="0">
                <a:solidFill>
                  <a:schemeClr val="bg1"/>
                </a:solidFill>
              </a:rPr>
              <a:t>&gt;</a:t>
            </a:r>
            <a:r>
              <a:rPr lang="zh-TW" altLang="en-US" sz="1800" b="1" dirty="0">
                <a:solidFill>
                  <a:schemeClr val="bg1"/>
                </a:solidFill>
              </a:rPr>
              <a:t>功能</a:t>
            </a:r>
            <a:endParaRPr lang="en-US" altLang="zh-TW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597325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13A5-E203-8BF1-039A-4FE6C2130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D157EB06-A83D-2787-EC9F-99398D3A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11734143" cy="675970"/>
          </a:xfrm>
        </p:spPr>
        <p:txBody>
          <a:bodyPr/>
          <a:lstStyle/>
          <a:p>
            <a:r>
              <a:rPr lang="en-US" altLang="zh-TW" sz="3600" dirty="0"/>
              <a:t>4.2 </a:t>
            </a:r>
            <a:r>
              <a:rPr lang="zh-TW" altLang="en-US" sz="3600" dirty="0"/>
              <a:t>合約查詢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已歸檔合約查詢</a:t>
            </a:r>
            <a:r>
              <a:rPr lang="en-US" altLang="zh-TW" sz="4400" dirty="0"/>
              <a:t>(</a:t>
            </a:r>
            <a:r>
              <a:rPr lang="zh-TW" altLang="en-US" sz="4400" dirty="0"/>
              <a:t>含撤回</a:t>
            </a:r>
            <a:r>
              <a:rPr lang="en-US" altLang="zh-TW" sz="4400" dirty="0"/>
              <a:t>/</a:t>
            </a:r>
            <a:r>
              <a:rPr lang="zh-TW" altLang="en-US" sz="4400" dirty="0"/>
              <a:t>作廢</a:t>
            </a:r>
            <a:r>
              <a:rPr lang="en-US" altLang="zh-TW" sz="4400" dirty="0"/>
              <a:t>)】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62425861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F18F71F-2281-E36F-3B49-0CC897595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33" y="1495368"/>
            <a:ext cx="11073735" cy="3867265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BEE8858-64E8-BE74-BE3B-45C638E24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4" y="2740498"/>
            <a:ext cx="8447973" cy="20080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 (1/12)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44E911D-1384-5649-C2B5-9416A3041BD2}"/>
              </a:ext>
            </a:extLst>
          </p:cNvPr>
          <p:cNvSpPr/>
          <p:nvPr/>
        </p:nvSpPr>
        <p:spPr>
          <a:xfrm>
            <a:off x="704850" y="3667125"/>
            <a:ext cx="10928017" cy="169550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4D7C2358-C217-677F-96C3-081670B5CBA0}"/>
              </a:ext>
            </a:extLst>
          </p:cNvPr>
          <p:cNvSpPr/>
          <p:nvPr/>
        </p:nvSpPr>
        <p:spPr bwMode="gray">
          <a:xfrm>
            <a:off x="6096000" y="2358716"/>
            <a:ext cx="5188074" cy="832159"/>
          </a:xfrm>
          <a:prstGeom prst="wedgeRoundRectCallout">
            <a:avLst>
              <a:gd name="adj1" fmla="val -21435"/>
              <a:gd name="adj2" fmla="val 10665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列表顯示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歸檔、撤回、作廢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的合約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9BA8316-2272-9F0F-6E9D-E724430DAF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162" t="71655" r="81036" b="22922"/>
          <a:stretch/>
        </p:blipFill>
        <p:spPr>
          <a:xfrm>
            <a:off x="2371031" y="4455493"/>
            <a:ext cx="206187" cy="197190"/>
          </a:xfrm>
          <a:prstGeom prst="rect">
            <a:avLst/>
          </a:prstGeom>
        </p:spPr>
      </p:pic>
      <p:sp>
        <p:nvSpPr>
          <p:cNvPr id="3" name="圓角矩形圖說文字 11">
            <a:extLst>
              <a:ext uri="{FF2B5EF4-FFF2-40B4-BE49-F238E27FC236}">
                <a16:creationId xmlns:a16="http://schemas.microsoft.com/office/drawing/2014/main" id="{24CA1519-0F10-959E-7829-B3AF8079A187}"/>
              </a:ext>
            </a:extLst>
          </p:cNvPr>
          <p:cNvSpPr/>
          <p:nvPr/>
        </p:nvSpPr>
        <p:spPr>
          <a:xfrm>
            <a:off x="816194" y="5650042"/>
            <a:ext cx="4544187" cy="698147"/>
          </a:xfrm>
          <a:prstGeom prst="wedgeRoundRectCallout">
            <a:avLst>
              <a:gd name="adj1" fmla="val -21148"/>
              <a:gd name="adj2" fmla="val -9449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依使用者權限顯示不同功能按鈕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2788D02-FA25-C0F6-F5C0-53B6041404B1}"/>
              </a:ext>
            </a:extLst>
          </p:cNvPr>
          <p:cNvSpPr/>
          <p:nvPr/>
        </p:nvSpPr>
        <p:spPr>
          <a:xfrm>
            <a:off x="1225769" y="4704381"/>
            <a:ext cx="1260256" cy="606552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7261215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F18F71F-2281-E36F-3B49-0CC897595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89" y="1100478"/>
            <a:ext cx="11073735" cy="3867265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A500D3E-C6A3-E922-30B2-667BDAE54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99" y="2349973"/>
            <a:ext cx="8447973" cy="20080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569B853-4558-64C4-03EB-90A48E973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7245" y="2669345"/>
            <a:ext cx="9217965" cy="3656287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344E911D-1384-5649-C2B5-9416A3041BD2}"/>
              </a:ext>
            </a:extLst>
          </p:cNvPr>
          <p:cNvSpPr/>
          <p:nvPr/>
        </p:nvSpPr>
        <p:spPr>
          <a:xfrm>
            <a:off x="974219" y="3299230"/>
            <a:ext cx="329151" cy="35393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527FC043-437E-9E9C-1394-9E6538A581E5}"/>
              </a:ext>
            </a:extLst>
          </p:cNvPr>
          <p:cNvSpPr/>
          <p:nvPr/>
        </p:nvSpPr>
        <p:spPr bwMode="gray">
          <a:xfrm>
            <a:off x="1561691" y="2464765"/>
            <a:ext cx="916844" cy="792000"/>
          </a:xfrm>
          <a:prstGeom prst="wedgeRoundRectCallout">
            <a:avLst>
              <a:gd name="adj1" fmla="val -82209"/>
              <a:gd name="adj2" fmla="val 5496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明細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ABA006D-CA05-A85C-DB31-81608278C3C8}"/>
              </a:ext>
            </a:extLst>
          </p:cNvPr>
          <p:cNvSpPr/>
          <p:nvPr/>
        </p:nvSpPr>
        <p:spPr>
          <a:xfrm>
            <a:off x="2789119" y="3163858"/>
            <a:ext cx="8783755" cy="47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5F74EAAB-F3BE-ECC0-CEA0-A3FD11CE5C55}"/>
              </a:ext>
            </a:extLst>
          </p:cNvPr>
          <p:cNvSpPr/>
          <p:nvPr/>
        </p:nvSpPr>
        <p:spPr bwMode="gray">
          <a:xfrm>
            <a:off x="6674897" y="1839065"/>
            <a:ext cx="4044938" cy="975600"/>
          </a:xfrm>
          <a:prstGeom prst="wedgeRoundRectCallout">
            <a:avLst>
              <a:gd name="adj1" fmla="val -20421"/>
              <a:gd name="adj2" fmla="val 8365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基本資料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】~【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提醒項目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請參考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送審清單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347E8-ECF3-F36D-C67C-0995D175674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基本資料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(2/12)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DF208EA0-6D6A-1A6C-4DFF-38E5952A650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162" t="71655" r="81036" b="22922"/>
          <a:stretch/>
        </p:blipFill>
        <p:spPr>
          <a:xfrm>
            <a:off x="2351375" y="4057997"/>
            <a:ext cx="206187" cy="19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02263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F0C250-65D5-48D7-24A2-904368297429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授權紀錄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(3/12)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455A4BC-872A-BF0A-0B73-4FCEAF40C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57" y="738761"/>
            <a:ext cx="10165977" cy="308623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37694B1-09B7-3BDB-A841-AABEFFF18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124" y="1937882"/>
            <a:ext cx="4232947" cy="299210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F2A1E8D-F164-B9D9-4781-19D9A1426399}"/>
              </a:ext>
            </a:extLst>
          </p:cNvPr>
          <p:cNvSpPr/>
          <p:nvPr/>
        </p:nvSpPr>
        <p:spPr>
          <a:xfrm>
            <a:off x="8492644" y="2658226"/>
            <a:ext cx="1035864" cy="47951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75F0BCD4-3A0F-4667-550A-0F37DFC50301}"/>
              </a:ext>
            </a:extLst>
          </p:cNvPr>
          <p:cNvSpPr/>
          <p:nvPr/>
        </p:nvSpPr>
        <p:spPr bwMode="gray">
          <a:xfrm>
            <a:off x="9696268" y="3088430"/>
            <a:ext cx="1784593" cy="792000"/>
          </a:xfrm>
          <a:prstGeom prst="wedgeRoundRectCallout">
            <a:avLst>
              <a:gd name="adj1" fmla="val -60374"/>
              <a:gd name="adj2" fmla="val -8539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可取消授權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53FC3E8F-D020-CFBF-CC76-93878ACD7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286" y="3281083"/>
            <a:ext cx="4386290" cy="333492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1C973E9-B03D-1F80-28F5-7DEF3F070AF7}"/>
              </a:ext>
            </a:extLst>
          </p:cNvPr>
          <p:cNvSpPr/>
          <p:nvPr/>
        </p:nvSpPr>
        <p:spPr>
          <a:xfrm>
            <a:off x="749731" y="1869067"/>
            <a:ext cx="1035864" cy="47951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DF800AFC-8803-78C3-A1D7-728FA804911E}"/>
              </a:ext>
            </a:extLst>
          </p:cNvPr>
          <p:cNvSpPr/>
          <p:nvPr/>
        </p:nvSpPr>
        <p:spPr bwMode="gray">
          <a:xfrm>
            <a:off x="675461" y="3456269"/>
            <a:ext cx="3203136" cy="792000"/>
          </a:xfrm>
          <a:prstGeom prst="wedgeRoundRectCallout">
            <a:avLst>
              <a:gd name="adj1" fmla="val -27535"/>
              <a:gd name="adj2" fmla="val -19056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可將該筆合約授權給某位人員檢視明細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6B73B9F-D203-4922-B06C-E417F686EC85}"/>
              </a:ext>
            </a:extLst>
          </p:cNvPr>
          <p:cNvCxnSpPr>
            <a:cxnSpLocks/>
          </p:cNvCxnSpPr>
          <p:nvPr/>
        </p:nvCxnSpPr>
        <p:spPr>
          <a:xfrm>
            <a:off x="1762124" y="2348577"/>
            <a:ext cx="2862162" cy="9673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628965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4FF68845-F5A2-4F90-84AB-BFEDC67A5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68" y="1609795"/>
            <a:ext cx="10817995" cy="291473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D84A90B2-D46F-9B52-1C48-FBEA67A4FA69}"/>
              </a:ext>
            </a:extLst>
          </p:cNvPr>
          <p:cNvSpPr/>
          <p:nvPr/>
        </p:nvSpPr>
        <p:spPr bwMode="gray">
          <a:xfrm>
            <a:off x="6267392" y="4465535"/>
            <a:ext cx="5350301" cy="981595"/>
          </a:xfrm>
          <a:prstGeom prst="wedgeRoundRectCallout">
            <a:avLst>
              <a:gd name="adj1" fmla="val -21375"/>
              <a:gd name="adj2" fmla="val -11785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顯示此合約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/>
              <a:t>履約管理 </a:t>
            </a:r>
            <a:r>
              <a:rPr lang="en-US" altLang="zh-TW" b="1" dirty="0"/>
              <a:t>&gt; </a:t>
            </a:r>
            <a:r>
              <a:rPr lang="zh-TW" altLang="en-US" b="1" dirty="0"/>
              <a:t>履約紀錄</a:t>
            </a:r>
            <a:r>
              <a:rPr lang="en-US" altLang="zh-TW" b="1" dirty="0"/>
              <a:t>】</a:t>
            </a:r>
            <a:r>
              <a:rPr lang="zh-TW" altLang="en-US" b="1" dirty="0"/>
              <a:t>所新增的履約紀錄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3579FE4-A31B-7899-504F-AB1985EFF964}"/>
              </a:ext>
            </a:extLst>
          </p:cNvPr>
          <p:cNvSpPr/>
          <p:nvPr/>
        </p:nvSpPr>
        <p:spPr>
          <a:xfrm>
            <a:off x="1025088" y="2819440"/>
            <a:ext cx="10082183" cy="98159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B1520D-18A7-3D62-4166-E5E604BF3870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關聯合約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(4/12)</a:t>
            </a:r>
          </a:p>
        </p:txBody>
      </p:sp>
    </p:spTree>
    <p:extLst>
      <p:ext uri="{BB962C8B-B14F-4D97-AF65-F5344CB8AC3E}">
        <p14:creationId xmlns:p14="http://schemas.microsoft.com/office/powerpoint/2010/main" val="3513516985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6FEEB45-B38A-D8B0-6B6D-D0A323105F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4"/>
          <a:stretch/>
        </p:blipFill>
        <p:spPr>
          <a:xfrm>
            <a:off x="770468" y="1609795"/>
            <a:ext cx="10651064" cy="291414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D84A90B2-D46F-9B52-1C48-FBEA67A4FA69}"/>
              </a:ext>
            </a:extLst>
          </p:cNvPr>
          <p:cNvSpPr/>
          <p:nvPr/>
        </p:nvSpPr>
        <p:spPr bwMode="gray">
          <a:xfrm>
            <a:off x="6277017" y="4345221"/>
            <a:ext cx="5144515" cy="792000"/>
          </a:xfrm>
          <a:prstGeom prst="wedgeRoundRectCallout">
            <a:avLst>
              <a:gd name="adj1" fmla="val -21375"/>
              <a:gd name="adj2" fmla="val -11785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顯示此合約所關聯以及被關聯的合約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3579FE4-A31B-7899-504F-AB1985EFF964}"/>
              </a:ext>
            </a:extLst>
          </p:cNvPr>
          <p:cNvSpPr/>
          <p:nvPr/>
        </p:nvSpPr>
        <p:spPr>
          <a:xfrm>
            <a:off x="1025088" y="2819440"/>
            <a:ext cx="10082183" cy="98159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B1520D-18A7-3D62-4166-E5E604BF3870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關聯合約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(5/12)</a:t>
            </a:r>
          </a:p>
        </p:txBody>
      </p:sp>
    </p:spTree>
    <p:extLst>
      <p:ext uri="{BB962C8B-B14F-4D97-AF65-F5344CB8AC3E}">
        <p14:creationId xmlns:p14="http://schemas.microsoft.com/office/powerpoint/2010/main" val="2146697001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3584BAD-A23F-02E6-2BF0-0A32742C6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13" y="1093775"/>
            <a:ext cx="10236147" cy="3921387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D84A90B2-D46F-9B52-1C48-FBEA67A4FA69}"/>
              </a:ext>
            </a:extLst>
          </p:cNvPr>
          <p:cNvSpPr/>
          <p:nvPr/>
        </p:nvSpPr>
        <p:spPr bwMode="gray">
          <a:xfrm>
            <a:off x="6096000" y="4769304"/>
            <a:ext cx="5792423" cy="1728521"/>
          </a:xfrm>
          <a:prstGeom prst="wedgeRoundRectCallout">
            <a:avLst>
              <a:gd name="adj1" fmla="val -21515"/>
              <a:gd name="adj2" fmla="val -7369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顯示以下情境資料：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審核時該合約被重新指派審核者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批次移轉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合約擁有者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移轉人員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批次移轉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審核者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移轉人員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3579FE4-A31B-7899-504F-AB1985EFF964}"/>
              </a:ext>
            </a:extLst>
          </p:cNvPr>
          <p:cNvSpPr/>
          <p:nvPr/>
        </p:nvSpPr>
        <p:spPr>
          <a:xfrm>
            <a:off x="989676" y="2903613"/>
            <a:ext cx="9651430" cy="146219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89541C-0C4C-8B5A-9754-96F64B833C73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移轉紀錄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(6/12)</a:t>
            </a:r>
          </a:p>
        </p:txBody>
      </p:sp>
    </p:spTree>
    <p:extLst>
      <p:ext uri="{BB962C8B-B14F-4D97-AF65-F5344CB8AC3E}">
        <p14:creationId xmlns:p14="http://schemas.microsoft.com/office/powerpoint/2010/main" val="1824093555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D88F7CFC-0FE9-D79B-44D6-66800B112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48" y="859542"/>
            <a:ext cx="11210925" cy="360673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BD55C45F-70DD-3F22-2016-963262DBF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4" y="2435698"/>
            <a:ext cx="8447973" cy="20080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B183523-8CB0-AF21-4B5B-86EA932DAB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26"/>
          <a:stretch>
            <a:fillRect/>
          </a:stretch>
        </p:blipFill>
        <p:spPr>
          <a:xfrm>
            <a:off x="3704902" y="2491477"/>
            <a:ext cx="8018133" cy="405531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296E032-6A06-B55C-FFAD-62E185BCB44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162" t="71655" r="81036" b="22922"/>
          <a:stretch/>
        </p:blipFill>
        <p:spPr>
          <a:xfrm>
            <a:off x="2351375" y="4057997"/>
            <a:ext cx="206187" cy="19719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複製合約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(7/12)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44E911D-1384-5649-C2B5-9416A3041BD2}"/>
              </a:ext>
            </a:extLst>
          </p:cNvPr>
          <p:cNvSpPr/>
          <p:nvPr/>
        </p:nvSpPr>
        <p:spPr>
          <a:xfrm>
            <a:off x="1249136" y="3361659"/>
            <a:ext cx="417739" cy="39660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527FC043-437E-9E9C-1394-9E6538A581E5}"/>
              </a:ext>
            </a:extLst>
          </p:cNvPr>
          <p:cNvSpPr/>
          <p:nvPr/>
        </p:nvSpPr>
        <p:spPr bwMode="gray">
          <a:xfrm>
            <a:off x="313348" y="2276311"/>
            <a:ext cx="1476000" cy="792000"/>
          </a:xfrm>
          <a:prstGeom prst="wedgeRoundRectCallout">
            <a:avLst>
              <a:gd name="adj1" fmla="val 31227"/>
              <a:gd name="adj2" fmla="val 8774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複製合約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68C53DF-69A7-8CDD-9551-3036DA2E6C76}"/>
              </a:ext>
            </a:extLst>
          </p:cNvPr>
          <p:cNvSpPr/>
          <p:nvPr/>
        </p:nvSpPr>
        <p:spPr>
          <a:xfrm>
            <a:off x="3704902" y="2501002"/>
            <a:ext cx="3134048" cy="375548"/>
          </a:xfrm>
          <a:prstGeom prst="roundRect">
            <a:avLst>
              <a:gd name="adj" fmla="val 250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D69A6BF0-716E-3CCA-881F-78491429C856}"/>
              </a:ext>
            </a:extLst>
          </p:cNvPr>
          <p:cNvSpPr/>
          <p:nvPr/>
        </p:nvSpPr>
        <p:spPr bwMode="gray">
          <a:xfrm>
            <a:off x="7603592" y="2276311"/>
            <a:ext cx="3810512" cy="1270800"/>
          </a:xfrm>
          <a:prstGeom prst="wedgeRoundRectCallout">
            <a:avLst>
              <a:gd name="adj1" fmla="val -69247"/>
              <a:gd name="adj2" fmla="val -1982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複製該合約的起單方式及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合約基本資料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9FCA1A44-EDB3-34E4-0230-F13E7F61151F}"/>
              </a:ext>
            </a:extLst>
          </p:cNvPr>
          <p:cNvSpPr/>
          <p:nvPr/>
        </p:nvSpPr>
        <p:spPr bwMode="gray">
          <a:xfrm>
            <a:off x="8737318" y="4328051"/>
            <a:ext cx="3141334" cy="1869611"/>
          </a:xfrm>
          <a:prstGeom prst="wedgeRoundRectCallout">
            <a:avLst>
              <a:gd name="adj1" fmla="val -47748"/>
              <a:gd name="adj2" fmla="val -2150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不會被複製的欄位：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合約檔案</a:t>
            </a: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合約金額</a:t>
            </a: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附件清單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544470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70C2B21D-6617-F27C-D119-61DBEA845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36" y="962893"/>
            <a:ext cx="11229975" cy="392409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B1CD2CC-7C15-06C1-1B25-8DAC19A6A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6" y="2520517"/>
            <a:ext cx="8486072" cy="201707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A7DF847F-7523-D883-A8B3-616DB5F3C2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716" y="3489706"/>
            <a:ext cx="6017177" cy="279455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合約作廢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(8/12)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44E911D-1384-5649-C2B5-9416A3041BD2}"/>
              </a:ext>
            </a:extLst>
          </p:cNvPr>
          <p:cNvSpPr/>
          <p:nvPr/>
        </p:nvSpPr>
        <p:spPr>
          <a:xfrm>
            <a:off x="2062339" y="3499231"/>
            <a:ext cx="329151" cy="35393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語音泡泡: 圓角矩形 1">
            <a:extLst>
              <a:ext uri="{FF2B5EF4-FFF2-40B4-BE49-F238E27FC236}">
                <a16:creationId xmlns:a16="http://schemas.microsoft.com/office/drawing/2014/main" id="{4AFF8A17-284E-D939-F74F-7FD7A6FE29B5}"/>
              </a:ext>
            </a:extLst>
          </p:cNvPr>
          <p:cNvSpPr/>
          <p:nvPr/>
        </p:nvSpPr>
        <p:spPr bwMode="gray">
          <a:xfrm>
            <a:off x="793953" y="4215892"/>
            <a:ext cx="1476000" cy="792000"/>
          </a:xfrm>
          <a:prstGeom prst="wedgeRoundRectCallout">
            <a:avLst>
              <a:gd name="adj1" fmla="val 46088"/>
              <a:gd name="adj2" fmla="val -9132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合約作廢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7B7E160-281E-5C4D-C9D4-65BE9EA41D63}"/>
              </a:ext>
            </a:extLst>
          </p:cNvPr>
          <p:cNvSpPr/>
          <p:nvPr/>
        </p:nvSpPr>
        <p:spPr>
          <a:xfrm>
            <a:off x="5949823" y="4452261"/>
            <a:ext cx="5489142" cy="94110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D9FAFA6-3B37-8BB7-3159-B48C92945252}"/>
              </a:ext>
            </a:extLst>
          </p:cNvPr>
          <p:cNvSpPr/>
          <p:nvPr/>
        </p:nvSpPr>
        <p:spPr>
          <a:xfrm>
            <a:off x="8852930" y="5581563"/>
            <a:ext cx="976768" cy="52791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346EBE4B-5ADD-D446-0165-1B5692731DFD}"/>
              </a:ext>
            </a:extLst>
          </p:cNvPr>
          <p:cNvSpPr/>
          <p:nvPr/>
        </p:nvSpPr>
        <p:spPr bwMode="gray">
          <a:xfrm>
            <a:off x="4725681" y="5575490"/>
            <a:ext cx="3061907" cy="975600"/>
          </a:xfrm>
          <a:prstGeom prst="wedgeRoundRectCallout">
            <a:avLst>
              <a:gd name="adj1" fmla="val 86372"/>
              <a:gd name="adj2" fmla="val 262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輸入資料後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此單的狀態變為作廢</a:t>
            </a:r>
          </a:p>
        </p:txBody>
      </p:sp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A46ABC87-CB9E-C445-2E50-CE67AB654E40}"/>
              </a:ext>
            </a:extLst>
          </p:cNvPr>
          <p:cNvSpPr/>
          <p:nvPr/>
        </p:nvSpPr>
        <p:spPr bwMode="gray">
          <a:xfrm>
            <a:off x="2062339" y="2268635"/>
            <a:ext cx="3758037" cy="759690"/>
          </a:xfrm>
          <a:prstGeom prst="wedgeRoundRectCallout">
            <a:avLst>
              <a:gd name="adj1" fmla="val -41141"/>
              <a:gd name="adj2" fmla="val 109336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法務人員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法務主管可執行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310547C-65C5-2CB3-4C17-34C2B857FBDE}"/>
              </a:ext>
            </a:extLst>
          </p:cNvPr>
          <p:cNvSpPr/>
          <p:nvPr/>
        </p:nvSpPr>
        <p:spPr bwMode="gray">
          <a:xfrm>
            <a:off x="244032" y="5424964"/>
            <a:ext cx="4000709" cy="1067071"/>
          </a:xfrm>
          <a:prstGeom prst="roundRect">
            <a:avLst>
              <a:gd name="adj" fmla="val 5422"/>
            </a:avLst>
          </a:prstGeom>
          <a:solidFill>
            <a:schemeClr val="bg1">
              <a:lumMod val="6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/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補充說明：</a:t>
            </a:r>
            <a:endParaRPr lang="en-US" altLang="zh-TW" sz="1800" b="1" dirty="0">
              <a:solidFill>
                <a:schemeClr val="bg1"/>
              </a:solidFill>
            </a:endParaRPr>
          </a:p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作廢後系統會寄發通知信給法務主管</a:t>
            </a:r>
            <a:r>
              <a:rPr lang="en-US" altLang="zh-TW" sz="1800" b="1" dirty="0">
                <a:solidFill>
                  <a:schemeClr val="bg1"/>
                </a:solidFill>
              </a:rPr>
              <a:t>/</a:t>
            </a:r>
            <a:r>
              <a:rPr lang="zh-TW" altLang="en-US" sz="1800" b="1" dirty="0">
                <a:solidFill>
                  <a:schemeClr val="bg1"/>
                </a:solidFill>
              </a:rPr>
              <a:t>法務</a:t>
            </a:r>
            <a:r>
              <a:rPr lang="en-US" altLang="zh-TW" sz="1800" b="1" dirty="0">
                <a:solidFill>
                  <a:schemeClr val="bg1"/>
                </a:solidFill>
              </a:rPr>
              <a:t>/</a:t>
            </a:r>
            <a:r>
              <a:rPr lang="zh-TW" altLang="en-US" sz="1800" b="1" dirty="0">
                <a:solidFill>
                  <a:schemeClr val="bg1"/>
                </a:solidFill>
              </a:rPr>
              <a:t>合約擁有者</a:t>
            </a:r>
            <a:endParaRPr lang="en-US" altLang="zh-TW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684449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79EBD3E-AF65-4CCF-2FF5-EAE81C6CE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36" y="962893"/>
            <a:ext cx="11229975" cy="392409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423F09F-8CC9-369E-1323-5679E0BF9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2541605"/>
            <a:ext cx="8400347" cy="199669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8B62ED1-D8C3-034D-C7BB-AF3759ADF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04" y="2892374"/>
            <a:ext cx="6001645" cy="358307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終止合約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(9/12)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FC45BF10-107D-1788-95D3-1D8D886EECF7}"/>
              </a:ext>
            </a:extLst>
          </p:cNvPr>
          <p:cNvSpPr/>
          <p:nvPr/>
        </p:nvSpPr>
        <p:spPr>
          <a:xfrm>
            <a:off x="2360272" y="3490342"/>
            <a:ext cx="408754" cy="38330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B754FFA8-C80E-A564-AA9A-9140B3BE223E}"/>
              </a:ext>
            </a:extLst>
          </p:cNvPr>
          <p:cNvSpPr/>
          <p:nvPr/>
        </p:nvSpPr>
        <p:spPr bwMode="gray">
          <a:xfrm>
            <a:off x="938370" y="4205649"/>
            <a:ext cx="1476000" cy="792000"/>
          </a:xfrm>
          <a:prstGeom prst="wedgeRoundRectCallout">
            <a:avLst>
              <a:gd name="adj1" fmla="val 52162"/>
              <a:gd name="adj2" fmla="val -9246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終止合約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5BD454E5-B309-8039-0D6B-CAAB8FD29B89}"/>
              </a:ext>
            </a:extLst>
          </p:cNvPr>
          <p:cNvSpPr/>
          <p:nvPr/>
        </p:nvSpPr>
        <p:spPr bwMode="gray">
          <a:xfrm>
            <a:off x="2376635" y="2297487"/>
            <a:ext cx="3345556" cy="792000"/>
          </a:xfrm>
          <a:prstGeom prst="wedgeRoundRectCallout">
            <a:avLst>
              <a:gd name="adj1" fmla="val -41543"/>
              <a:gd name="adj2" fmla="val 9732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「效期中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」合約可執行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FBDDDEC-286E-AC0F-0852-A706FBB09382}"/>
              </a:ext>
            </a:extLst>
          </p:cNvPr>
          <p:cNvSpPr/>
          <p:nvPr/>
        </p:nvSpPr>
        <p:spPr>
          <a:xfrm>
            <a:off x="5982995" y="3980239"/>
            <a:ext cx="5689052" cy="159133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5DB62A8-3516-9D8B-88A5-5607DD08E55B}"/>
              </a:ext>
            </a:extLst>
          </p:cNvPr>
          <p:cNvSpPr/>
          <p:nvPr/>
        </p:nvSpPr>
        <p:spPr>
          <a:xfrm>
            <a:off x="8848040" y="5779741"/>
            <a:ext cx="976768" cy="52791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9BD1CFF8-CA45-219F-9053-D08590608DA1}"/>
              </a:ext>
            </a:extLst>
          </p:cNvPr>
          <p:cNvSpPr/>
          <p:nvPr/>
        </p:nvSpPr>
        <p:spPr bwMode="gray">
          <a:xfrm>
            <a:off x="2564649" y="5677956"/>
            <a:ext cx="5093235" cy="963488"/>
          </a:xfrm>
          <a:prstGeom prst="wedgeRoundRectCallout">
            <a:avLst>
              <a:gd name="adj1" fmla="val 72899"/>
              <a:gd name="adj2" fmla="val 716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輸入資料後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，當到達終止合約日期後，此單的狀態變為終止</a:t>
            </a:r>
          </a:p>
        </p:txBody>
      </p:sp>
    </p:spTree>
    <p:extLst>
      <p:ext uri="{BB962C8B-B14F-4D97-AF65-F5344CB8AC3E}">
        <p14:creationId xmlns:p14="http://schemas.microsoft.com/office/powerpoint/2010/main" val="2033334088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BEF1E83-F7E5-2329-736A-0707E4591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76" y="854508"/>
            <a:ext cx="11448451" cy="392408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50C73A0-3869-C403-0347-764556F1F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925" y="3446021"/>
            <a:ext cx="6200000" cy="288571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停止續約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(10/12)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CBB2672-8398-EBC7-DEAF-E1EDBEF9DCC3}"/>
              </a:ext>
            </a:extLst>
          </p:cNvPr>
          <p:cNvSpPr/>
          <p:nvPr/>
        </p:nvSpPr>
        <p:spPr>
          <a:xfrm>
            <a:off x="1120849" y="4441145"/>
            <a:ext cx="365051" cy="33744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E083B398-F44E-158E-74ED-3B8318B8660B}"/>
              </a:ext>
            </a:extLst>
          </p:cNvPr>
          <p:cNvSpPr/>
          <p:nvPr/>
        </p:nvSpPr>
        <p:spPr bwMode="gray">
          <a:xfrm>
            <a:off x="310925" y="3351189"/>
            <a:ext cx="1476000" cy="792000"/>
          </a:xfrm>
          <a:prstGeom prst="wedgeRoundRectCallout">
            <a:avLst>
              <a:gd name="adj1" fmla="val 18604"/>
              <a:gd name="adj2" fmla="val 8793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停止續約</a:t>
            </a:r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32B6C2DA-D7D4-A46F-AB1F-618A7D3B1F02}"/>
              </a:ext>
            </a:extLst>
          </p:cNvPr>
          <p:cNvSpPr/>
          <p:nvPr/>
        </p:nvSpPr>
        <p:spPr bwMode="gray">
          <a:xfrm>
            <a:off x="2421886" y="3624642"/>
            <a:ext cx="2868102" cy="1270800"/>
          </a:xfrm>
          <a:prstGeom prst="wedgeRoundRectCallout">
            <a:avLst>
              <a:gd name="adj1" fmla="val -82285"/>
              <a:gd name="adj2" fmla="val 2717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自動續約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為「是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」時，因為有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續約期限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，所以可執行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B29BB00-13EE-E6B6-2027-C9A3F08E471B}"/>
              </a:ext>
            </a:extLst>
          </p:cNvPr>
          <p:cNvSpPr/>
          <p:nvPr/>
        </p:nvSpPr>
        <p:spPr>
          <a:xfrm>
            <a:off x="5777800" y="4441145"/>
            <a:ext cx="5858388" cy="97559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96F2C55-37C0-5EA1-51DA-05106EFAEB5D}"/>
              </a:ext>
            </a:extLst>
          </p:cNvPr>
          <p:cNvSpPr/>
          <p:nvPr/>
        </p:nvSpPr>
        <p:spPr>
          <a:xfrm>
            <a:off x="8759355" y="5616491"/>
            <a:ext cx="976768" cy="52791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EC04749-A83F-7666-A699-03FF3D672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449" y="2391597"/>
            <a:ext cx="9101173" cy="216327"/>
          </a:xfrm>
          <a:prstGeom prst="rect">
            <a:avLst/>
          </a:prstGeom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97231D42-B6D7-16C6-012F-C66DF81CF456}"/>
              </a:ext>
            </a:extLst>
          </p:cNvPr>
          <p:cNvSpPr/>
          <p:nvPr/>
        </p:nvSpPr>
        <p:spPr bwMode="gray">
          <a:xfrm>
            <a:off x="230738" y="5321289"/>
            <a:ext cx="7368408" cy="1270801"/>
          </a:xfrm>
          <a:prstGeom prst="wedgeRoundRectCallout">
            <a:avLst>
              <a:gd name="adj1" fmla="val 65257"/>
              <a:gd name="adj2" fmla="val -1963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輸入資料後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，此單的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狀態變為「停止續約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合約尚在效期中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」；當已到期後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則會變更為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「停止續約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合約已到期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</a:p>
        </p:txBody>
      </p:sp>
    </p:spTree>
    <p:extLst>
      <p:ext uri="{BB962C8B-B14F-4D97-AF65-F5344CB8AC3E}">
        <p14:creationId xmlns:p14="http://schemas.microsoft.com/office/powerpoint/2010/main" val="3852165711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1A5C-D338-8B11-BF59-7B473623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F756DD9-3FD3-126D-E1C6-5F71C04D2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34" y="829660"/>
            <a:ext cx="11323780" cy="363813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6F27210-F67E-ED56-2071-30EF487C4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348" y="2076209"/>
            <a:ext cx="7576512" cy="444029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803E3F2-6A05-54D7-6570-1DC506BC505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162" t="71655" r="81036" b="22922"/>
          <a:stretch/>
        </p:blipFill>
        <p:spPr>
          <a:xfrm>
            <a:off x="2351375" y="4057997"/>
            <a:ext cx="206187" cy="19719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8F62AD6-053D-47DF-6A18-90D6FBB723D8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紙本合約借閱申請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(11/12)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327568E-1235-B1E9-D5FE-592D9F6986B0}"/>
              </a:ext>
            </a:extLst>
          </p:cNvPr>
          <p:cNvSpPr/>
          <p:nvPr/>
        </p:nvSpPr>
        <p:spPr>
          <a:xfrm>
            <a:off x="1542764" y="3353396"/>
            <a:ext cx="447419" cy="39660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AAE4E966-ABBF-0890-7838-337DC7FA79B6}"/>
              </a:ext>
            </a:extLst>
          </p:cNvPr>
          <p:cNvSpPr/>
          <p:nvPr/>
        </p:nvSpPr>
        <p:spPr bwMode="gray">
          <a:xfrm>
            <a:off x="293934" y="1900093"/>
            <a:ext cx="2827991" cy="792000"/>
          </a:xfrm>
          <a:prstGeom prst="wedgeRoundRectCallout">
            <a:avLst>
              <a:gd name="adj1" fmla="val -2117"/>
              <a:gd name="adj2" fmla="val 13103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紙本合約借閱申請 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23E3B38-3051-4E8B-1494-9CFFF04C5360}"/>
              </a:ext>
            </a:extLst>
          </p:cNvPr>
          <p:cNvSpPr/>
          <p:nvPr/>
        </p:nvSpPr>
        <p:spPr>
          <a:xfrm>
            <a:off x="4495800" y="4154951"/>
            <a:ext cx="6934200" cy="170462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1022018A-BAEF-A68C-26DD-5F07DB5A1303}"/>
              </a:ext>
            </a:extLst>
          </p:cNvPr>
          <p:cNvSpPr/>
          <p:nvPr/>
        </p:nvSpPr>
        <p:spPr bwMode="gray">
          <a:xfrm>
            <a:off x="762000" y="5610722"/>
            <a:ext cx="5718879" cy="1012087"/>
          </a:xfrm>
          <a:prstGeom prst="wedgeRoundRectCallout">
            <a:avLst>
              <a:gd name="adj1" fmla="val 75465"/>
              <a:gd name="adj2" fmla="val 1532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借閱起迄日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後點擊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即建立申請單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87D15ED-F68A-EA8E-C761-C426EBCEAD55}"/>
              </a:ext>
            </a:extLst>
          </p:cNvPr>
          <p:cNvSpPr/>
          <p:nvPr/>
        </p:nvSpPr>
        <p:spPr>
          <a:xfrm>
            <a:off x="7962179" y="5931240"/>
            <a:ext cx="800821" cy="48976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6025611"/>
      </p:ext>
    </p:extLst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43547-C709-26AC-E5BE-7473403B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961B390-EC07-DEC9-A72C-CF8095C9E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34" y="829660"/>
            <a:ext cx="11323780" cy="363813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CA59741-9F6E-DDD9-5E54-FDBE033E8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160" y="2365018"/>
            <a:ext cx="9384187" cy="22305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FF10612-74AD-5C70-3B2B-F4EA42BA4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4697" y="1968681"/>
            <a:ext cx="7627130" cy="457301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534368D-AFF5-498D-F699-097A2CBD736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162" t="71655" r="81036" b="22922"/>
          <a:stretch/>
        </p:blipFill>
        <p:spPr>
          <a:xfrm>
            <a:off x="2351375" y="4057997"/>
            <a:ext cx="206187" cy="19719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928A3FDD-A852-451A-0D23-E5C37CEDEDF7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已歸檔合約查詢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含撤回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作廢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合約電子檔閱覽申請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(12/12)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B305235-E0BF-3067-F466-42FED4DAF7AB}"/>
              </a:ext>
            </a:extLst>
          </p:cNvPr>
          <p:cNvSpPr/>
          <p:nvPr/>
        </p:nvSpPr>
        <p:spPr>
          <a:xfrm>
            <a:off x="1260510" y="3711945"/>
            <a:ext cx="447419" cy="39660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C6571427-8C2D-024C-F49C-37F92085B112}"/>
              </a:ext>
            </a:extLst>
          </p:cNvPr>
          <p:cNvSpPr/>
          <p:nvPr/>
        </p:nvSpPr>
        <p:spPr bwMode="gray">
          <a:xfrm>
            <a:off x="325719" y="2466365"/>
            <a:ext cx="3065181" cy="792000"/>
          </a:xfrm>
          <a:prstGeom prst="wedgeRoundRectCallout">
            <a:avLst>
              <a:gd name="adj1" fmla="val -11885"/>
              <a:gd name="adj2" fmla="val 10818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合約電子檔閱覽申請 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CB7D228-BB98-046F-A11D-D5D3EBBF4878}"/>
              </a:ext>
            </a:extLst>
          </p:cNvPr>
          <p:cNvSpPr/>
          <p:nvPr/>
        </p:nvSpPr>
        <p:spPr>
          <a:xfrm>
            <a:off x="4246708" y="4057997"/>
            <a:ext cx="7164242" cy="173129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A671043A-D230-E084-F3AB-4FEE75F89FF4}"/>
              </a:ext>
            </a:extLst>
          </p:cNvPr>
          <p:cNvSpPr/>
          <p:nvPr/>
        </p:nvSpPr>
        <p:spPr bwMode="gray">
          <a:xfrm>
            <a:off x="659165" y="5566092"/>
            <a:ext cx="5675435" cy="975600"/>
          </a:xfrm>
          <a:prstGeom prst="wedgeRoundRectCallout">
            <a:avLst>
              <a:gd name="adj1" fmla="val 75957"/>
              <a:gd name="adj2" fmla="val 22156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借閱起迄日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後點擊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即建立申請單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5F46964-9D89-EBA4-DDE4-718525F37E3D}"/>
              </a:ext>
            </a:extLst>
          </p:cNvPr>
          <p:cNvSpPr/>
          <p:nvPr/>
        </p:nvSpPr>
        <p:spPr>
          <a:xfrm>
            <a:off x="7816472" y="5887614"/>
            <a:ext cx="800821" cy="48976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2630280"/>
      </p:ext>
    </p:extLst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2F2C-47BA-E5FD-15D3-9DD3D532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8C23B96-3543-1E91-81E7-7D7A2B405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399071"/>
            <a:ext cx="12019894" cy="1367914"/>
          </a:xfrm>
        </p:spPr>
        <p:txBody>
          <a:bodyPr/>
          <a:lstStyle/>
          <a:p>
            <a:r>
              <a:rPr lang="en-US" altLang="zh-TW" sz="3600" dirty="0"/>
              <a:t>4.3 </a:t>
            </a:r>
            <a:r>
              <a:rPr lang="zh-TW" altLang="en-US" sz="3600" dirty="0"/>
              <a:t>合約查詢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br>
              <a:rPr lang="en-US" altLang="zh-TW" sz="3600" dirty="0"/>
            </a:br>
            <a:r>
              <a:rPr lang="en-US" altLang="zh-TW" sz="3600" dirty="0"/>
              <a:t>【</a:t>
            </a:r>
            <a:r>
              <a:rPr lang="zh-TW" altLang="en-US" sz="3600" dirty="0"/>
              <a:t>紙本借閱暨電子閱覽申請進度查詢</a:t>
            </a:r>
            <a:r>
              <a:rPr lang="en-US" altLang="zh-TW" sz="3600" dirty="0"/>
              <a:t>(</a:t>
            </a:r>
            <a:r>
              <a:rPr lang="zh-TW" altLang="en-US" sz="3600" dirty="0"/>
              <a:t>含審核通過和退件</a:t>
            </a:r>
            <a:r>
              <a:rPr lang="en-US" altLang="zh-TW" sz="3600" dirty="0"/>
              <a:t>)】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767504638"/>
      </p:ext>
    </p:ext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D0BC-6FE8-2D8C-8799-777CAEC8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9482086-31BB-43F3-7CCA-D517EA9B01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014"/>
          <a:stretch>
            <a:fillRect/>
          </a:stretch>
        </p:blipFill>
        <p:spPr>
          <a:xfrm>
            <a:off x="493322" y="1049126"/>
            <a:ext cx="11205355" cy="3339644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88D52AB-6813-4D55-A8A0-DF5C930FDD6E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紙本借閱暨電子閱覽申請進度查詢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(1/4)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BD6D030-88AE-8406-449C-C7ECAD160FFC}"/>
              </a:ext>
            </a:extLst>
          </p:cNvPr>
          <p:cNvSpPr/>
          <p:nvPr/>
        </p:nvSpPr>
        <p:spPr>
          <a:xfrm>
            <a:off x="619125" y="2637927"/>
            <a:ext cx="10925176" cy="1750844"/>
          </a:xfrm>
          <a:prstGeom prst="roundRect">
            <a:avLst>
              <a:gd name="adj" fmla="val 3983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B941F639-CB8C-36F3-35A5-AC4C6683E413}"/>
              </a:ext>
            </a:extLst>
          </p:cNvPr>
          <p:cNvSpPr/>
          <p:nvPr/>
        </p:nvSpPr>
        <p:spPr bwMode="gray">
          <a:xfrm>
            <a:off x="5461248" y="1017959"/>
            <a:ext cx="6370779" cy="1134864"/>
          </a:xfrm>
          <a:prstGeom prst="wedgeRoundRectCallout">
            <a:avLst>
              <a:gd name="adj1" fmla="val -20032"/>
              <a:gd name="adj2" fmla="val 9060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列表顯示「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審核中、審核通過、退件」的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紙本合約借閱申請單、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合約電子檔閱覽申請單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C01DBF-9420-DFD2-6E4E-BB34668A84C3}"/>
              </a:ext>
            </a:extLst>
          </p:cNvPr>
          <p:cNvSpPr/>
          <p:nvPr/>
        </p:nvSpPr>
        <p:spPr bwMode="gray">
          <a:xfrm>
            <a:off x="493322" y="4635301"/>
            <a:ext cx="10673324" cy="1750844"/>
          </a:xfrm>
          <a:prstGeom prst="rect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zh-TW" altLang="en-US" sz="1900" b="1" dirty="0">
                <a:latin typeface="+mn-ea"/>
              </a:rPr>
              <a:t>於</a:t>
            </a:r>
            <a:r>
              <a:rPr lang="en-US" altLang="zh-TW" sz="1900" b="1" dirty="0">
                <a:latin typeface="+mn-ea"/>
              </a:rPr>
              <a:t>【</a:t>
            </a:r>
            <a:r>
              <a:rPr lang="zh-TW" altLang="en-US" sz="1900" b="1" dirty="0">
                <a:latin typeface="+mn-ea"/>
              </a:rPr>
              <a:t>已歸檔合約查詢</a:t>
            </a:r>
            <a:r>
              <a:rPr lang="en-US" altLang="zh-TW" sz="1900" b="1" dirty="0">
                <a:latin typeface="+mn-ea"/>
              </a:rPr>
              <a:t>】</a:t>
            </a:r>
            <a:r>
              <a:rPr lang="zh-TW" altLang="en-US" sz="1900" b="1" dirty="0">
                <a:latin typeface="+mn-ea"/>
              </a:rPr>
              <a:t>申請紙本借閱或電子閱覽後，可在此功能查詢申請進度與審核結果。</a:t>
            </a:r>
            <a:endParaRPr lang="en-US" altLang="zh-TW" sz="1900" b="1" dirty="0">
              <a:latin typeface="+mn-ea"/>
            </a:endParaRPr>
          </a:p>
          <a:p>
            <a:pPr>
              <a:lnSpc>
                <a:spcPct val="106000"/>
              </a:lnSpc>
            </a:pPr>
            <a:endParaRPr lang="en-US" altLang="zh-TW" sz="1900" b="1" dirty="0">
              <a:latin typeface="+mn-ea"/>
            </a:endParaRPr>
          </a:p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sz="1900" b="1" dirty="0">
                <a:latin typeface="+mn-ea"/>
              </a:rPr>
              <a:t>高階決策主管</a:t>
            </a:r>
            <a:r>
              <a:rPr lang="en-US" altLang="zh-TW" sz="1900" b="1" dirty="0">
                <a:latin typeface="+mn-ea"/>
              </a:rPr>
              <a:t>/</a:t>
            </a:r>
            <a:r>
              <a:rPr lang="zh-TW" altLang="en-US" sz="1900" b="1" dirty="0">
                <a:latin typeface="+mn-ea"/>
              </a:rPr>
              <a:t>法務主管</a:t>
            </a:r>
            <a:r>
              <a:rPr lang="en-US" altLang="zh-TW" sz="1900" b="1" dirty="0">
                <a:latin typeface="+mn-ea"/>
              </a:rPr>
              <a:t>/</a:t>
            </a:r>
            <a:r>
              <a:rPr lang="zh-TW" altLang="en-US" sz="1900" b="1" dirty="0">
                <a:latin typeface="+mn-ea"/>
              </a:rPr>
              <a:t>法務：可查詢所屬公司所有紙本借閱及電子閱覽申請進度與結果。</a:t>
            </a:r>
            <a:endParaRPr lang="en-US" altLang="zh-TW" sz="1900" b="1" dirty="0">
              <a:latin typeface="+mn-ea"/>
            </a:endParaRPr>
          </a:p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sz="1900" b="1" dirty="0">
                <a:latin typeface="+mn-ea"/>
              </a:rPr>
              <a:t>部門主管：可查詢部門成員提出的借閱申請，以及本部門合約被他人申請借閱的進度與結果。</a:t>
            </a:r>
            <a:endParaRPr lang="en-US" altLang="zh-TW" sz="1900" b="1" dirty="0">
              <a:latin typeface="+mn-ea"/>
            </a:endParaRPr>
          </a:p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sz="1900" b="1" dirty="0">
                <a:latin typeface="+mn-ea"/>
              </a:rPr>
              <a:t>一般使用者：可查詢自己提出的借閱申請，以及自己擁有的合約被他人申請借閱的進度與結果。</a:t>
            </a:r>
          </a:p>
        </p:txBody>
      </p:sp>
    </p:spTree>
    <p:extLst>
      <p:ext uri="{BB962C8B-B14F-4D97-AF65-F5344CB8AC3E}">
        <p14:creationId xmlns:p14="http://schemas.microsoft.com/office/powerpoint/2010/main" val="665291634"/>
      </p:ext>
    </p:extLst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6E3B1-DC0E-EAEC-3A81-1DD3C64E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2F59B0B-84CA-B1D9-248E-7C3F47A343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014"/>
          <a:stretch>
            <a:fillRect/>
          </a:stretch>
        </p:blipFill>
        <p:spPr>
          <a:xfrm>
            <a:off x="426647" y="733914"/>
            <a:ext cx="11205355" cy="3339644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968F471-820C-2C81-B81A-D03AFB983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472" y="3074891"/>
            <a:ext cx="9553881" cy="3442314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5761D8E-B4A8-BBB0-66B1-024E2E6E050A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紙本借閱暨電子閱覽申請進度查詢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申請資料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(2/4)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BCCF289-A664-A0E3-7340-C67278B8891E}"/>
              </a:ext>
            </a:extLst>
          </p:cNvPr>
          <p:cNvSpPr/>
          <p:nvPr/>
        </p:nvSpPr>
        <p:spPr>
          <a:xfrm>
            <a:off x="1008412" y="2780686"/>
            <a:ext cx="410271" cy="40526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0B628492-F33B-D8E2-2231-71B2F8BC9A42}"/>
              </a:ext>
            </a:extLst>
          </p:cNvPr>
          <p:cNvSpPr/>
          <p:nvPr/>
        </p:nvSpPr>
        <p:spPr bwMode="gray">
          <a:xfrm>
            <a:off x="1782926" y="1988686"/>
            <a:ext cx="917631" cy="792000"/>
          </a:xfrm>
          <a:prstGeom prst="wedgeRoundRectCallout">
            <a:avLst>
              <a:gd name="adj1" fmla="val -87786"/>
              <a:gd name="adj2" fmla="val 4972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明細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7567313-A558-71F3-4EC7-8072491E2395}"/>
              </a:ext>
            </a:extLst>
          </p:cNvPr>
          <p:cNvSpPr/>
          <p:nvPr/>
        </p:nvSpPr>
        <p:spPr>
          <a:xfrm>
            <a:off x="2371725" y="3579506"/>
            <a:ext cx="1254774" cy="47025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9021464"/>
      </p:ext>
    </p:extLst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A376A-725B-F7A1-2087-5559DC54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DC29BBC-DB06-C59A-24BA-FF4888956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88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DC2085E-1922-4254-A7D3-53672C21F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7" r="894"/>
          <a:stretch>
            <a:fillRect/>
          </a:stretch>
        </p:blipFill>
        <p:spPr>
          <a:xfrm>
            <a:off x="523594" y="818185"/>
            <a:ext cx="11186160" cy="3300600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5CEC4DC-2543-F51F-267A-059BB8962C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"/>
          <a:stretch>
            <a:fillRect/>
          </a:stretch>
        </p:blipFill>
        <p:spPr>
          <a:xfrm>
            <a:off x="3934637" y="3357363"/>
            <a:ext cx="5679440" cy="3236742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7C4A35C9-004A-2EC9-E81F-E193A0561F17}"/>
              </a:ext>
            </a:extLst>
          </p:cNvPr>
          <p:cNvSpPr/>
          <p:nvPr/>
        </p:nvSpPr>
        <p:spPr>
          <a:xfrm>
            <a:off x="1223928" y="2894568"/>
            <a:ext cx="384816" cy="42752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圖說文字 51">
            <a:extLst>
              <a:ext uri="{FF2B5EF4-FFF2-40B4-BE49-F238E27FC236}">
                <a16:creationId xmlns:a16="http://schemas.microsoft.com/office/drawing/2014/main" id="{5696E070-1EC0-1C0C-0B54-CBAE714C5079}"/>
              </a:ext>
            </a:extLst>
          </p:cNvPr>
          <p:cNvSpPr/>
          <p:nvPr/>
        </p:nvSpPr>
        <p:spPr bwMode="gray">
          <a:xfrm>
            <a:off x="2574754" y="1327011"/>
            <a:ext cx="3063196" cy="677057"/>
          </a:xfrm>
          <a:prstGeom prst="wedgeRoundRectCallout">
            <a:avLst>
              <a:gd name="adj1" fmla="val -81656"/>
              <a:gd name="adj2" fmla="val 18114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歸還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9AC30E8-BB67-B212-2468-D3C5B28C872A}"/>
              </a:ext>
            </a:extLst>
          </p:cNvPr>
          <p:cNvSpPr/>
          <p:nvPr/>
        </p:nvSpPr>
        <p:spPr>
          <a:xfrm>
            <a:off x="10139680" y="2894567"/>
            <a:ext cx="558800" cy="92559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A5DAA1EE-8E25-4EF4-6512-34BAABFDDF30}"/>
              </a:ext>
            </a:extLst>
          </p:cNvPr>
          <p:cNvSpPr/>
          <p:nvPr/>
        </p:nvSpPr>
        <p:spPr bwMode="gray">
          <a:xfrm>
            <a:off x="5803539" y="882043"/>
            <a:ext cx="5202996" cy="1002098"/>
          </a:xfrm>
          <a:prstGeom prst="wedgeRoundRectCallout">
            <a:avLst>
              <a:gd name="adj1" fmla="val 33526"/>
              <a:gd name="adj2" fmla="val 15017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紙本合約歸還狀態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顯示為「未歸還」的申請單，會顯示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歸還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按鈕</a:t>
            </a:r>
          </a:p>
        </p:txBody>
      </p:sp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A57A5177-8704-E116-E21F-86F9E518A73D}"/>
              </a:ext>
            </a:extLst>
          </p:cNvPr>
          <p:cNvSpPr/>
          <p:nvPr/>
        </p:nvSpPr>
        <p:spPr bwMode="gray">
          <a:xfrm>
            <a:off x="637533" y="3905810"/>
            <a:ext cx="2710541" cy="882568"/>
          </a:xfrm>
          <a:prstGeom prst="wedgeRoundRectCallout">
            <a:avLst>
              <a:gd name="adj1" fmla="val -21574"/>
              <a:gd name="adj2" fmla="val -11454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只有法務才能執行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歸還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B64FD29-F019-0A4B-9FEE-265F36563C3F}"/>
              </a:ext>
            </a:extLst>
          </p:cNvPr>
          <p:cNvSpPr/>
          <p:nvPr/>
        </p:nvSpPr>
        <p:spPr>
          <a:xfrm>
            <a:off x="4106352" y="4291654"/>
            <a:ext cx="5047808" cy="145890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C51E390-0A06-66D2-583C-9854958A2449}"/>
              </a:ext>
            </a:extLst>
          </p:cNvPr>
          <p:cNvSpPr/>
          <p:nvPr/>
        </p:nvSpPr>
        <p:spPr>
          <a:xfrm>
            <a:off x="6823541" y="5999175"/>
            <a:ext cx="857420" cy="44226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圓角矩形圖說文字 51">
            <a:extLst>
              <a:ext uri="{FF2B5EF4-FFF2-40B4-BE49-F238E27FC236}">
                <a16:creationId xmlns:a16="http://schemas.microsoft.com/office/drawing/2014/main" id="{60BB2D6A-1769-EA91-B09A-5E56EE28B535}"/>
              </a:ext>
            </a:extLst>
          </p:cNvPr>
          <p:cNvSpPr/>
          <p:nvPr/>
        </p:nvSpPr>
        <p:spPr bwMode="gray">
          <a:xfrm>
            <a:off x="219883" y="5814132"/>
            <a:ext cx="3545840" cy="667718"/>
          </a:xfrm>
          <a:prstGeom prst="wedgeRoundRectCallout">
            <a:avLst>
              <a:gd name="adj1" fmla="val 58716"/>
              <a:gd name="adj2" fmla="val -11114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輸入日期與備註</a:t>
            </a:r>
          </a:p>
        </p:txBody>
      </p:sp>
      <p:sp>
        <p:nvSpPr>
          <p:cNvPr id="19" name="圓角矩形圖說文字 51">
            <a:extLst>
              <a:ext uri="{FF2B5EF4-FFF2-40B4-BE49-F238E27FC236}">
                <a16:creationId xmlns:a16="http://schemas.microsoft.com/office/drawing/2014/main" id="{7AA86C33-2982-C17C-5FBD-0EF83311BE19}"/>
              </a:ext>
            </a:extLst>
          </p:cNvPr>
          <p:cNvSpPr/>
          <p:nvPr/>
        </p:nvSpPr>
        <p:spPr bwMode="gray">
          <a:xfrm>
            <a:off x="8405037" y="5943068"/>
            <a:ext cx="3047823" cy="667718"/>
          </a:xfrm>
          <a:prstGeom prst="wedgeRoundRectCallout">
            <a:avLst>
              <a:gd name="adj1" fmla="val -73292"/>
              <a:gd name="adj2" fmla="val -1680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30C0EC-0486-D402-8D31-265B0EED1379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紙本借閱暨電子閱覽申請進度查詢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歸還紙本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(3/4)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52793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FC8C-B2F6-43D8-A6E7-1BC536C0A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1DA3E93-14AB-6B21-937E-80046C74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89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1FE23F-9D3B-1FCA-57A8-63480F27B8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9"/>
          <a:stretch>
            <a:fillRect/>
          </a:stretch>
        </p:blipFill>
        <p:spPr>
          <a:xfrm>
            <a:off x="523594" y="892597"/>
            <a:ext cx="9524646" cy="4641198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702F839-A3B2-13C3-4150-9180FFAEE0FB}"/>
              </a:ext>
            </a:extLst>
          </p:cNvPr>
          <p:cNvSpPr/>
          <p:nvPr/>
        </p:nvSpPr>
        <p:spPr>
          <a:xfrm>
            <a:off x="711492" y="3743499"/>
            <a:ext cx="6827228" cy="111298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146EF087-1786-A554-003B-604EE687861A}"/>
              </a:ext>
            </a:extLst>
          </p:cNvPr>
          <p:cNvSpPr/>
          <p:nvPr/>
        </p:nvSpPr>
        <p:spPr bwMode="gray">
          <a:xfrm>
            <a:off x="7006759" y="5098999"/>
            <a:ext cx="4661647" cy="1546906"/>
          </a:xfrm>
          <a:prstGeom prst="wedgeRoundRectCallout">
            <a:avLst>
              <a:gd name="adj1" fmla="val -70788"/>
              <a:gd name="adj2" fmla="val -6473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000" b="1" dirty="0">
                <a:latin typeface="+mn-ea"/>
              </a:rPr>
              <a:t>當紙本合約完成歸還後，申請單明細的</a:t>
            </a:r>
            <a:r>
              <a:rPr lang="en-US" altLang="zh-TW" sz="2000" b="1" dirty="0">
                <a:latin typeface="+mn-ea"/>
              </a:rPr>
              <a:t>[</a:t>
            </a:r>
            <a:r>
              <a:rPr lang="zh-TW" altLang="en-US" sz="2000" b="1" dirty="0">
                <a:latin typeface="+mn-ea"/>
              </a:rPr>
              <a:t>申請資料</a:t>
            </a:r>
            <a:r>
              <a:rPr lang="en-US" altLang="zh-TW" sz="2000" b="1" dirty="0">
                <a:latin typeface="+mn-ea"/>
              </a:rPr>
              <a:t>]</a:t>
            </a:r>
            <a:r>
              <a:rPr lang="zh-TW" altLang="en-US" sz="2000" b="1" dirty="0">
                <a:latin typeface="+mn-ea"/>
              </a:rPr>
              <a:t>將顯示新增的四個欄位：</a:t>
            </a:r>
            <a:endParaRPr lang="en-US" altLang="zh-TW" sz="2000" b="1" dirty="0">
              <a:latin typeface="+mn-ea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+mn-ea"/>
              </a:rPr>
              <a:t>實際歸還日          </a:t>
            </a:r>
            <a:r>
              <a:rPr lang="zh-TW" altLang="en-US" sz="2000" b="1" dirty="0">
                <a:latin typeface="+mn-ea"/>
                <a:sym typeface="Wingdings" panose="05000000000000000000" pitchFamily="2" charset="2"/>
              </a:rPr>
              <a:t>   </a:t>
            </a:r>
            <a:r>
              <a:rPr lang="zh-TW" altLang="en-US" sz="2000" b="1" dirty="0">
                <a:latin typeface="+mn-ea"/>
              </a:rPr>
              <a:t>歸還執行者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+mn-ea"/>
              </a:rPr>
              <a:t>歸還執行時間      </a:t>
            </a:r>
            <a:r>
              <a:rPr lang="zh-TW" altLang="en-US" sz="2000" b="1" dirty="0">
                <a:latin typeface="+mn-ea"/>
                <a:sym typeface="Wingdings" panose="05000000000000000000" pitchFamily="2" charset="2"/>
              </a:rPr>
              <a:t> </a:t>
            </a:r>
            <a:r>
              <a:rPr lang="zh-TW" altLang="en-US" sz="2000" b="1" dirty="0">
                <a:latin typeface="+mn-ea"/>
              </a:rPr>
              <a:t>  歸還備註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170A5-F543-E0DF-73EC-C1B5F2CB0B04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紙本借閱暨電子閱覽申請進度查詢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歸還紙本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(4/4)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81907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EC00-64C1-1E94-83DA-97A06EE77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D06A41B-C6D8-2FD6-3417-36CCECB3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5.1 </a:t>
            </a:r>
            <a:r>
              <a:rPr lang="zh-TW" altLang="en-US" sz="3600" dirty="0"/>
              <a:t>比對模組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合約比對</a:t>
            </a:r>
            <a:r>
              <a:rPr lang="en-US" altLang="zh-TW" sz="4400" dirty="0"/>
              <a:t>(</a:t>
            </a:r>
            <a:r>
              <a:rPr lang="zh-TW" altLang="en-US" sz="4400" dirty="0"/>
              <a:t>檔案</a:t>
            </a:r>
            <a:r>
              <a:rPr lang="en-US" altLang="zh-TW" sz="4400" dirty="0"/>
              <a:t>)】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012858283"/>
      </p:ext>
    </p:extLst>
  </p:cSld>
  <p:clrMapOvr>
    <a:masterClrMapping/>
  </p:clrMapOvr>
  <p:transition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0DCCEB5-6652-7017-00E0-A8ECB6374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06" y="746636"/>
            <a:ext cx="8754732" cy="561830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0DCE9D53-0169-40A5-8060-2CA5786ED1E4}"/>
              </a:ext>
            </a:extLst>
          </p:cNvPr>
          <p:cNvSpPr/>
          <p:nvPr/>
        </p:nvSpPr>
        <p:spPr>
          <a:xfrm>
            <a:off x="725654" y="1592475"/>
            <a:ext cx="4886251" cy="2531289"/>
          </a:xfrm>
          <a:prstGeom prst="roundRect">
            <a:avLst>
              <a:gd name="adj" fmla="val 2954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21F94-38AE-FAFA-B8A6-A19CD4031FE2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檔案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)】(1/6)</a:t>
            </a:r>
          </a:p>
        </p:txBody>
      </p:sp>
      <p:sp>
        <p:nvSpPr>
          <p:cNvPr id="4" name="圓角矩形圖說文字 51">
            <a:extLst>
              <a:ext uri="{FF2B5EF4-FFF2-40B4-BE49-F238E27FC236}">
                <a16:creationId xmlns:a16="http://schemas.microsoft.com/office/drawing/2014/main" id="{84927E96-2368-9ABE-70AF-C48A53BDA7BC}"/>
              </a:ext>
            </a:extLst>
          </p:cNvPr>
          <p:cNvSpPr/>
          <p:nvPr/>
        </p:nvSpPr>
        <p:spPr bwMode="gray">
          <a:xfrm>
            <a:off x="6096000" y="1753396"/>
            <a:ext cx="5358107" cy="1002101"/>
          </a:xfrm>
          <a:prstGeom prst="wedgeRoundRectCallout">
            <a:avLst>
              <a:gd name="adj1" fmla="val -59293"/>
              <a:gd name="adj2" fmla="val 4031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瀏覽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或拖曳上傳檔案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限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docx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格式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355B55D-39AC-1A56-691A-F2FB093DCA11}"/>
              </a:ext>
            </a:extLst>
          </p:cNvPr>
          <p:cNvSpPr/>
          <p:nvPr/>
        </p:nvSpPr>
        <p:spPr>
          <a:xfrm>
            <a:off x="848649" y="5023628"/>
            <a:ext cx="4675851" cy="529172"/>
          </a:xfrm>
          <a:prstGeom prst="roundRect">
            <a:avLst>
              <a:gd name="adj" fmla="val 420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63008EFE-00E0-48FB-9C5B-4D7D3E930C0E}"/>
              </a:ext>
            </a:extLst>
          </p:cNvPr>
          <p:cNvSpPr/>
          <p:nvPr/>
        </p:nvSpPr>
        <p:spPr bwMode="gray">
          <a:xfrm>
            <a:off x="5954838" y="4776500"/>
            <a:ext cx="2463991" cy="1023428"/>
          </a:xfrm>
          <a:prstGeom prst="wedgeRoundRectCallout">
            <a:avLst>
              <a:gd name="adj1" fmla="val -67307"/>
              <a:gd name="adj2" fmla="val -568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的檔案為差異比對基準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0857602"/>
      </p:ext>
    </p:extLst>
  </p:cSld>
  <p:clrMapOvr>
    <a:masterClrMapping/>
  </p:clrMapOvr>
  <p:transition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D7AAECE-F734-CC94-6BAC-ED45DF9205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889" r="630"/>
          <a:stretch/>
        </p:blipFill>
        <p:spPr>
          <a:xfrm>
            <a:off x="524837" y="756063"/>
            <a:ext cx="10529888" cy="590912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0DCE9D53-0169-40A5-8060-2CA5786ED1E4}"/>
              </a:ext>
            </a:extLst>
          </p:cNvPr>
          <p:cNvSpPr/>
          <p:nvPr/>
        </p:nvSpPr>
        <p:spPr>
          <a:xfrm>
            <a:off x="645459" y="1070393"/>
            <a:ext cx="10363200" cy="4325588"/>
          </a:xfrm>
          <a:prstGeom prst="roundRect">
            <a:avLst>
              <a:gd name="adj" fmla="val 2954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FADA19C-2A8B-4BD0-9669-A794808452DD}"/>
              </a:ext>
            </a:extLst>
          </p:cNvPr>
          <p:cNvSpPr/>
          <p:nvPr/>
        </p:nvSpPr>
        <p:spPr>
          <a:xfrm>
            <a:off x="630128" y="5588022"/>
            <a:ext cx="1381328" cy="51391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圓角矩形圖說文字 51">
            <a:extLst>
              <a:ext uri="{FF2B5EF4-FFF2-40B4-BE49-F238E27FC236}">
                <a16:creationId xmlns:a16="http://schemas.microsoft.com/office/drawing/2014/main" id="{6290760B-C60E-4329-AF91-8386ACAB6983}"/>
              </a:ext>
            </a:extLst>
          </p:cNvPr>
          <p:cNvSpPr/>
          <p:nvPr/>
        </p:nvSpPr>
        <p:spPr bwMode="gray">
          <a:xfrm>
            <a:off x="2273263" y="6069530"/>
            <a:ext cx="3627442" cy="590822"/>
          </a:xfrm>
          <a:prstGeom prst="wedgeRoundRectCallout">
            <a:avLst>
              <a:gd name="adj1" fmla="val -66945"/>
              <a:gd name="adj2" fmla="val -1293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開始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比對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677C19D8-69BC-4F1D-9986-736984AB76C4}"/>
              </a:ext>
            </a:extLst>
          </p:cNvPr>
          <p:cNvSpPr/>
          <p:nvPr/>
        </p:nvSpPr>
        <p:spPr>
          <a:xfrm>
            <a:off x="627385" y="6185647"/>
            <a:ext cx="1024545" cy="35858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21F94-38AE-FAFA-B8A6-A19CD4031FE2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檔案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)】(2/6)</a:t>
            </a:r>
            <a:endParaRPr lang="en-US" altLang="zh-TW" sz="3200" b="1" dirty="0">
              <a:solidFill>
                <a:srgbClr val="FF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圓角矩形圖說文字 51">
            <a:extLst>
              <a:ext uri="{FF2B5EF4-FFF2-40B4-BE49-F238E27FC236}">
                <a16:creationId xmlns:a16="http://schemas.microsoft.com/office/drawing/2014/main" id="{1561C0B7-B4C5-E9CB-4EC7-77C5BF47A3F2}"/>
              </a:ext>
            </a:extLst>
          </p:cNvPr>
          <p:cNvSpPr/>
          <p:nvPr/>
        </p:nvSpPr>
        <p:spPr bwMode="gray">
          <a:xfrm>
            <a:off x="2506833" y="5178248"/>
            <a:ext cx="3160303" cy="590822"/>
          </a:xfrm>
          <a:prstGeom prst="wedgeRoundRectCallout">
            <a:avLst>
              <a:gd name="adj1" fmla="val -65050"/>
              <a:gd name="adj2" fmla="val 3364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選擇比對方式</a:t>
            </a:r>
          </a:p>
        </p:txBody>
      </p:sp>
      <p:sp>
        <p:nvSpPr>
          <p:cNvPr id="7" name="圓角矩形圖說文字 51">
            <a:extLst>
              <a:ext uri="{FF2B5EF4-FFF2-40B4-BE49-F238E27FC236}">
                <a16:creationId xmlns:a16="http://schemas.microsoft.com/office/drawing/2014/main" id="{93ACDEE6-1E8A-9A55-CED2-B9C38CB27243}"/>
              </a:ext>
            </a:extLst>
          </p:cNvPr>
          <p:cNvSpPr/>
          <p:nvPr/>
        </p:nvSpPr>
        <p:spPr bwMode="gray">
          <a:xfrm>
            <a:off x="7355602" y="3633538"/>
            <a:ext cx="3352337" cy="859941"/>
          </a:xfrm>
          <a:prstGeom prst="wedgeRoundRectCallout">
            <a:avLst>
              <a:gd name="adj1" fmla="val 58756"/>
              <a:gd name="adj2" fmla="val -5590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 </a:t>
            </a: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選擇差異內容呈現方式</a:t>
            </a:r>
          </a:p>
        </p:txBody>
      </p:sp>
    </p:spTree>
    <p:extLst>
      <p:ext uri="{BB962C8B-B14F-4D97-AF65-F5344CB8AC3E}">
        <p14:creationId xmlns:p14="http://schemas.microsoft.com/office/powerpoint/2010/main" val="2656118921"/>
      </p:ext>
    </p:extLst>
  </p:cSld>
  <p:clrMapOvr>
    <a:masterClrMapping/>
  </p:clrMapOvr>
  <p:transition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8DD0-1E2A-742E-A79A-6FEADBE468D5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檔案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只比對條文內容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 (3/6)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8447188-AA8C-B1F8-9CA3-E1343C153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0" y="614012"/>
            <a:ext cx="7453036" cy="593716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FACACE1C-87F1-FE0B-96A4-733A75A1A056}"/>
              </a:ext>
            </a:extLst>
          </p:cNvPr>
          <p:cNvSpPr/>
          <p:nvPr/>
        </p:nvSpPr>
        <p:spPr>
          <a:xfrm>
            <a:off x="829234" y="3854824"/>
            <a:ext cx="6996954" cy="2683653"/>
          </a:xfrm>
          <a:prstGeom prst="roundRect">
            <a:avLst>
              <a:gd name="adj" fmla="val 247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AAEE5478-8893-B9A0-DD2A-51A3C936F3E4}"/>
              </a:ext>
            </a:extLst>
          </p:cNvPr>
          <p:cNvSpPr/>
          <p:nvPr/>
        </p:nvSpPr>
        <p:spPr bwMode="gray">
          <a:xfrm>
            <a:off x="6332199" y="2472456"/>
            <a:ext cx="4308907" cy="1025580"/>
          </a:xfrm>
          <a:prstGeom prst="wedgeRoundRectCallout">
            <a:avLst>
              <a:gd name="adj1" fmla="val -45593"/>
              <a:gd name="adj2" fmla="val 8568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所有條文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進行比對且顯示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的結果</a:t>
            </a:r>
          </a:p>
        </p:txBody>
      </p:sp>
    </p:spTree>
    <p:extLst>
      <p:ext uri="{BB962C8B-B14F-4D97-AF65-F5344CB8AC3E}">
        <p14:creationId xmlns:p14="http://schemas.microsoft.com/office/powerpoint/2010/main" val="3452777361"/>
      </p:ext>
    </p:extLst>
  </p:cSld>
  <p:clrMapOvr>
    <a:masterClrMapping/>
  </p:clrMapOvr>
  <p:transition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A823-4EF8-1082-8AD3-64B3A3A9D9E2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檔案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只顯示不同的條文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 (4/6)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F2E7A84-9688-AF39-AFCB-5DBB47C21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95" y="653353"/>
            <a:ext cx="7408950" cy="598053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65F43ED7-FF5F-BDE9-1646-5B340FFB0A65}"/>
              </a:ext>
            </a:extLst>
          </p:cNvPr>
          <p:cNvSpPr/>
          <p:nvPr/>
        </p:nvSpPr>
        <p:spPr bwMode="gray">
          <a:xfrm>
            <a:off x="6033704" y="2368637"/>
            <a:ext cx="4453787" cy="1033468"/>
          </a:xfrm>
          <a:prstGeom prst="wedgeRoundRectCallout">
            <a:avLst>
              <a:gd name="adj1" fmla="val -45593"/>
              <a:gd name="adj2" fmla="val 8568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整份合約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進行比對且顯示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的結果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C989393-B430-E8BB-F6E2-BFCE67DEDB17}"/>
              </a:ext>
            </a:extLst>
          </p:cNvPr>
          <p:cNvSpPr/>
          <p:nvPr/>
        </p:nvSpPr>
        <p:spPr>
          <a:xfrm>
            <a:off x="833718" y="3899647"/>
            <a:ext cx="6910309" cy="2734236"/>
          </a:xfrm>
          <a:prstGeom prst="roundRect">
            <a:avLst>
              <a:gd name="adj" fmla="val 247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287445"/>
      </p:ext>
    </p:extLst>
  </p:cSld>
  <p:clrMapOvr>
    <a:masterClrMapping/>
  </p:clrMapOvr>
  <p:transition>
    <p:fad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CC5F3-10C8-E4A4-8A1D-9E2937835799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檔案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只比對條文內容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+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只顯示不同的條文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 (5/6)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7ECFECB-FFEC-6908-57DE-AF56DE02E8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767"/>
          <a:stretch/>
        </p:blipFill>
        <p:spPr>
          <a:xfrm>
            <a:off x="665693" y="637407"/>
            <a:ext cx="7755349" cy="596958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2467C9E3-7B7F-B42B-0FCB-C47E6A416C45}"/>
              </a:ext>
            </a:extLst>
          </p:cNvPr>
          <p:cNvSpPr/>
          <p:nvPr/>
        </p:nvSpPr>
        <p:spPr bwMode="gray">
          <a:xfrm>
            <a:off x="6069480" y="2534878"/>
            <a:ext cx="4257862" cy="1087319"/>
          </a:xfrm>
          <a:prstGeom prst="wedgeRoundRectCallout">
            <a:avLst>
              <a:gd name="adj1" fmla="val -43452"/>
              <a:gd name="adj2" fmla="val 9002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所有條文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進行比對且顯示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的結果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156DA1C-5A1B-4C90-6A94-058A7561EFB0}"/>
              </a:ext>
            </a:extLst>
          </p:cNvPr>
          <p:cNvSpPr/>
          <p:nvPr/>
        </p:nvSpPr>
        <p:spPr>
          <a:xfrm>
            <a:off x="874059" y="4043082"/>
            <a:ext cx="7310717" cy="2563906"/>
          </a:xfrm>
          <a:prstGeom prst="roundRect">
            <a:avLst>
              <a:gd name="adj" fmla="val 247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142065"/>
      </p:ext>
    </p:extLst>
  </p:cSld>
  <p:clrMapOvr>
    <a:masterClrMapping/>
  </p:clrMapOvr>
  <p:transition>
    <p:fad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2A032-2EB2-15A3-1863-14E1B8F07D8F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檔案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皆不勾選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 (6/6)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3E218B4-5E8B-C228-A689-11C085C7EA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98"/>
          <a:stretch/>
        </p:blipFill>
        <p:spPr>
          <a:xfrm>
            <a:off x="633707" y="628554"/>
            <a:ext cx="7799918" cy="599636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4613770D-CBF8-2E10-E470-45DF2EA2D95F}"/>
              </a:ext>
            </a:extLst>
          </p:cNvPr>
          <p:cNvSpPr/>
          <p:nvPr/>
        </p:nvSpPr>
        <p:spPr>
          <a:xfrm>
            <a:off x="896471" y="4078941"/>
            <a:ext cx="7324164" cy="2545976"/>
          </a:xfrm>
          <a:prstGeom prst="roundRect">
            <a:avLst>
              <a:gd name="adj" fmla="val 247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EB80F026-EDFF-306F-E03B-B04546C24404}"/>
              </a:ext>
            </a:extLst>
          </p:cNvPr>
          <p:cNvSpPr/>
          <p:nvPr/>
        </p:nvSpPr>
        <p:spPr bwMode="gray">
          <a:xfrm>
            <a:off x="6102478" y="2569299"/>
            <a:ext cx="4278651" cy="1057436"/>
          </a:xfrm>
          <a:prstGeom prst="wedgeRoundRectCallout">
            <a:avLst>
              <a:gd name="adj1" fmla="val -46058"/>
              <a:gd name="adj2" fmla="val 9190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整份合約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進行比對且顯示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的結果</a:t>
            </a:r>
          </a:p>
        </p:txBody>
      </p:sp>
    </p:spTree>
    <p:extLst>
      <p:ext uri="{BB962C8B-B14F-4D97-AF65-F5344CB8AC3E}">
        <p14:creationId xmlns:p14="http://schemas.microsoft.com/office/powerpoint/2010/main" val="3379930248"/>
      </p:ext>
    </p:extLst>
  </p:cSld>
  <p:clrMapOvr>
    <a:masterClrMapping/>
  </p:clrMapOvr>
  <p:transition>
    <p:fad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ACE0-0C6E-B087-40C8-CEA64D1C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795041DA-D23A-8521-6E92-B56969E7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5.2 </a:t>
            </a:r>
            <a:r>
              <a:rPr lang="zh-TW" altLang="en-US" sz="3600" dirty="0"/>
              <a:t>比對模組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合約比對</a:t>
            </a:r>
            <a:r>
              <a:rPr lang="en-US" altLang="zh-TW" sz="4400" dirty="0"/>
              <a:t>(</a:t>
            </a:r>
            <a:r>
              <a:rPr lang="zh-TW" altLang="en-US" sz="4400" dirty="0"/>
              <a:t>文字</a:t>
            </a:r>
            <a:r>
              <a:rPr lang="en-US" altLang="zh-TW" sz="4400" dirty="0"/>
              <a:t>)】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091695831"/>
      </p:ext>
    </p:extLst>
  </p:cSld>
  <p:clrMapOvr>
    <a:masterClrMapping/>
  </p:clrMapOvr>
  <p:transition>
    <p:fade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D8F2-4D6C-BBEE-0BD0-AF0230FE677A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文字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(1/6)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2B5FD68-2FE2-1FA6-6B12-CFE69D042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76" y="1124410"/>
            <a:ext cx="10219048" cy="456190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FA38AF84-61F4-B8F8-D4C3-09F773CF90B9}"/>
              </a:ext>
            </a:extLst>
          </p:cNvPr>
          <p:cNvSpPr/>
          <p:nvPr/>
        </p:nvSpPr>
        <p:spPr>
          <a:xfrm>
            <a:off x="1095939" y="2082900"/>
            <a:ext cx="10000121" cy="3516658"/>
          </a:xfrm>
          <a:prstGeom prst="roundRect">
            <a:avLst>
              <a:gd name="adj" fmla="val 304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圖說文字 51">
            <a:extLst>
              <a:ext uri="{FF2B5EF4-FFF2-40B4-BE49-F238E27FC236}">
                <a16:creationId xmlns:a16="http://schemas.microsoft.com/office/drawing/2014/main" id="{464DD2B4-3A7A-3BBD-F4FE-E176B8D67C34}"/>
              </a:ext>
            </a:extLst>
          </p:cNvPr>
          <p:cNvSpPr/>
          <p:nvPr/>
        </p:nvSpPr>
        <p:spPr bwMode="gray">
          <a:xfrm>
            <a:off x="6666654" y="1124410"/>
            <a:ext cx="4429406" cy="706845"/>
          </a:xfrm>
          <a:prstGeom prst="wedgeRoundRectCallout">
            <a:avLst>
              <a:gd name="adj1" fmla="val -19533"/>
              <a:gd name="adj2" fmla="val 8381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貼上要比對的合約內容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F088A93E-84BA-03BA-86F9-C03DC83C8BC8}"/>
              </a:ext>
            </a:extLst>
          </p:cNvPr>
          <p:cNvSpPr/>
          <p:nvPr/>
        </p:nvSpPr>
        <p:spPr bwMode="gray">
          <a:xfrm>
            <a:off x="1610289" y="5897552"/>
            <a:ext cx="3627120" cy="698301"/>
          </a:xfrm>
          <a:prstGeom prst="wedgeRoundRectCallout">
            <a:avLst>
              <a:gd name="adj1" fmla="val -21462"/>
              <a:gd name="adj2" fmla="val -9074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左方合約為差異比對基準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4107059"/>
      </p:ext>
    </p:extLst>
  </p:cSld>
  <p:clrMapOvr>
    <a:masterClrMapping/>
  </p:clrMapOvr>
  <p:transition>
    <p:fad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AA7117C-EF32-B600-0428-BCD8B82F46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21"/>
          <a:stretch/>
        </p:blipFill>
        <p:spPr>
          <a:xfrm>
            <a:off x="590550" y="714185"/>
            <a:ext cx="10295106" cy="585806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BFD8C7-5155-13A3-E2D0-6F8691AB4E4C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文字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)】(2/6)</a:t>
            </a:r>
            <a:endParaRPr lang="en-US" altLang="zh-TW" sz="3200" b="1" dirty="0">
              <a:solidFill>
                <a:srgbClr val="FF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1EE437D-6C69-3744-4258-126149FE4D7D}"/>
              </a:ext>
            </a:extLst>
          </p:cNvPr>
          <p:cNvSpPr/>
          <p:nvPr/>
        </p:nvSpPr>
        <p:spPr>
          <a:xfrm>
            <a:off x="735680" y="1070393"/>
            <a:ext cx="10149976" cy="4210734"/>
          </a:xfrm>
          <a:prstGeom prst="roundRect">
            <a:avLst>
              <a:gd name="adj" fmla="val 2954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7932B323-9D76-A784-0627-38AFA20E04A2}"/>
              </a:ext>
            </a:extLst>
          </p:cNvPr>
          <p:cNvSpPr/>
          <p:nvPr/>
        </p:nvSpPr>
        <p:spPr>
          <a:xfrm>
            <a:off x="681890" y="5540188"/>
            <a:ext cx="1317238" cy="45312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4323BFEB-A3B3-DA71-C3EA-367F0EB6C0D3}"/>
              </a:ext>
            </a:extLst>
          </p:cNvPr>
          <p:cNvSpPr/>
          <p:nvPr/>
        </p:nvSpPr>
        <p:spPr>
          <a:xfrm>
            <a:off x="681889" y="6088597"/>
            <a:ext cx="1083927" cy="37097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圓角矩形圖說文字 51">
            <a:extLst>
              <a:ext uri="{FF2B5EF4-FFF2-40B4-BE49-F238E27FC236}">
                <a16:creationId xmlns:a16="http://schemas.microsoft.com/office/drawing/2014/main" id="{29A0BA2A-4007-1BC3-2569-2A7EAD617514}"/>
              </a:ext>
            </a:extLst>
          </p:cNvPr>
          <p:cNvSpPr/>
          <p:nvPr/>
        </p:nvSpPr>
        <p:spPr bwMode="gray">
          <a:xfrm>
            <a:off x="2511404" y="5175929"/>
            <a:ext cx="3160303" cy="590822"/>
          </a:xfrm>
          <a:prstGeom prst="wedgeRoundRectCallout">
            <a:avLst>
              <a:gd name="adj1" fmla="val -65334"/>
              <a:gd name="adj2" fmla="val 3120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選擇比對方式</a:t>
            </a:r>
          </a:p>
        </p:txBody>
      </p:sp>
      <p:sp>
        <p:nvSpPr>
          <p:cNvPr id="5" name="圓角矩形圖說文字 51">
            <a:extLst>
              <a:ext uri="{FF2B5EF4-FFF2-40B4-BE49-F238E27FC236}">
                <a16:creationId xmlns:a16="http://schemas.microsoft.com/office/drawing/2014/main" id="{8192DD23-4194-C5B1-CEC5-D26772556ECD}"/>
              </a:ext>
            </a:extLst>
          </p:cNvPr>
          <p:cNvSpPr/>
          <p:nvPr/>
        </p:nvSpPr>
        <p:spPr bwMode="gray">
          <a:xfrm>
            <a:off x="2255633" y="5928828"/>
            <a:ext cx="3671843" cy="590822"/>
          </a:xfrm>
          <a:prstGeom prst="wedgeRoundRectCallout">
            <a:avLst>
              <a:gd name="adj1" fmla="val -62664"/>
              <a:gd name="adj2" fmla="val -666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開始比對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圓角矩形圖說文字 51">
            <a:extLst>
              <a:ext uri="{FF2B5EF4-FFF2-40B4-BE49-F238E27FC236}">
                <a16:creationId xmlns:a16="http://schemas.microsoft.com/office/drawing/2014/main" id="{1AD3FD8A-0EE7-DA95-56E5-E9D56350FEE1}"/>
              </a:ext>
            </a:extLst>
          </p:cNvPr>
          <p:cNvSpPr/>
          <p:nvPr/>
        </p:nvSpPr>
        <p:spPr bwMode="gray">
          <a:xfrm>
            <a:off x="7073153" y="3643217"/>
            <a:ext cx="3345464" cy="924748"/>
          </a:xfrm>
          <a:prstGeom prst="wedgeRoundRectCallout">
            <a:avLst>
              <a:gd name="adj1" fmla="val 63921"/>
              <a:gd name="adj2" fmla="val -4339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 </a:t>
            </a: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選擇差異內容呈現方式</a:t>
            </a:r>
          </a:p>
        </p:txBody>
      </p:sp>
    </p:spTree>
    <p:extLst>
      <p:ext uri="{BB962C8B-B14F-4D97-AF65-F5344CB8AC3E}">
        <p14:creationId xmlns:p14="http://schemas.microsoft.com/office/powerpoint/2010/main" val="3170463754"/>
      </p:ext>
    </p:extLst>
  </p:cSld>
  <p:clrMapOvr>
    <a:masterClrMapping/>
  </p:clrMapOvr>
  <p:transition>
    <p:fade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8DD0-1E2A-742E-A79A-6FEADBE468D5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文字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只比對條文內容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 (3/6)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5A2F506-8F0A-F218-2490-39BF426CA5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467"/>
          <a:stretch/>
        </p:blipFill>
        <p:spPr>
          <a:xfrm>
            <a:off x="523594" y="744071"/>
            <a:ext cx="8832852" cy="571964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26E2A07A-E16C-D151-D5CD-2F62E125409D}"/>
              </a:ext>
            </a:extLst>
          </p:cNvPr>
          <p:cNvSpPr/>
          <p:nvPr/>
        </p:nvSpPr>
        <p:spPr>
          <a:xfrm>
            <a:off x="753532" y="4607859"/>
            <a:ext cx="8057089" cy="1855859"/>
          </a:xfrm>
          <a:prstGeom prst="roundRect">
            <a:avLst>
              <a:gd name="adj" fmla="val 247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8E37CEFA-DFD2-DDCE-7068-28A83C76A575}"/>
              </a:ext>
            </a:extLst>
          </p:cNvPr>
          <p:cNvSpPr/>
          <p:nvPr/>
        </p:nvSpPr>
        <p:spPr bwMode="gray">
          <a:xfrm>
            <a:off x="6804517" y="3139957"/>
            <a:ext cx="4547303" cy="1059947"/>
          </a:xfrm>
          <a:prstGeom prst="wedgeRoundRectCallout">
            <a:avLst>
              <a:gd name="adj1" fmla="val -45593"/>
              <a:gd name="adj2" fmla="val 8568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所有條文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進行比對且顯示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的結果</a:t>
            </a:r>
          </a:p>
        </p:txBody>
      </p:sp>
    </p:spTree>
    <p:extLst>
      <p:ext uri="{BB962C8B-B14F-4D97-AF65-F5344CB8AC3E}">
        <p14:creationId xmlns:p14="http://schemas.microsoft.com/office/powerpoint/2010/main" val="1368805080"/>
      </p:ext>
    </p:extLst>
  </p:cSld>
  <p:clrMapOvr>
    <a:masterClrMapping/>
  </p:clrMapOvr>
  <p:transition>
    <p:fad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8DD0-1E2A-742E-A79A-6FEADBE468D5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文字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只顯示不同的條文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 (4/6)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B3E0A5C-6A45-060F-21FF-2F36B7B94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94" y="744773"/>
            <a:ext cx="7840478" cy="587210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9FBF2CE3-8D47-4600-3393-840F79E6DD5B}"/>
              </a:ext>
            </a:extLst>
          </p:cNvPr>
          <p:cNvSpPr/>
          <p:nvPr/>
        </p:nvSpPr>
        <p:spPr>
          <a:xfrm>
            <a:off x="735542" y="4177553"/>
            <a:ext cx="7386482" cy="2439324"/>
          </a:xfrm>
          <a:prstGeom prst="roundRect">
            <a:avLst>
              <a:gd name="adj" fmla="val 247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2AED5A6B-1E3A-F0B9-9911-CFAF9B53D688}"/>
              </a:ext>
            </a:extLst>
          </p:cNvPr>
          <p:cNvSpPr/>
          <p:nvPr/>
        </p:nvSpPr>
        <p:spPr bwMode="gray">
          <a:xfrm>
            <a:off x="6239436" y="2849545"/>
            <a:ext cx="4413031" cy="985654"/>
          </a:xfrm>
          <a:prstGeom prst="wedgeRoundRectCallout">
            <a:avLst>
              <a:gd name="adj1" fmla="val -45593"/>
              <a:gd name="adj2" fmla="val 8568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整份合約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進行比對且顯示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的結果</a:t>
            </a:r>
          </a:p>
        </p:txBody>
      </p:sp>
    </p:spTree>
    <p:extLst>
      <p:ext uri="{BB962C8B-B14F-4D97-AF65-F5344CB8AC3E}">
        <p14:creationId xmlns:p14="http://schemas.microsoft.com/office/powerpoint/2010/main" val="3354258104"/>
      </p:ext>
    </p:extLst>
  </p:cSld>
  <p:clrMapOvr>
    <a:masterClrMapping/>
  </p:clrMapOvr>
  <p:transition>
    <p:fad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A823-4EF8-1082-8AD3-64B3A3A9D9E2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文字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只比對條文內容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+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只顯示不同的條文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 (5/6)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CCC7E9E-2E5D-9E69-285B-FAD337DE4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06" y="739725"/>
            <a:ext cx="8396288" cy="579591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4B902228-E21F-058B-F190-E0233AD08CB7}"/>
              </a:ext>
            </a:extLst>
          </p:cNvPr>
          <p:cNvSpPr/>
          <p:nvPr/>
        </p:nvSpPr>
        <p:spPr>
          <a:xfrm>
            <a:off x="833718" y="4420541"/>
            <a:ext cx="7906869" cy="1484665"/>
          </a:xfrm>
          <a:prstGeom prst="roundRect">
            <a:avLst>
              <a:gd name="adj" fmla="val 247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78B141A9-9060-7CE2-E56A-F328B35B22D6}"/>
              </a:ext>
            </a:extLst>
          </p:cNvPr>
          <p:cNvSpPr/>
          <p:nvPr/>
        </p:nvSpPr>
        <p:spPr bwMode="gray">
          <a:xfrm>
            <a:off x="6501596" y="3075905"/>
            <a:ext cx="4477982" cy="1015977"/>
          </a:xfrm>
          <a:prstGeom prst="wedgeRoundRectCallout">
            <a:avLst>
              <a:gd name="adj1" fmla="val -44295"/>
              <a:gd name="adj2" fmla="val 8241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所有條文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進行比對且顯示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的結果</a:t>
            </a:r>
          </a:p>
        </p:txBody>
      </p:sp>
    </p:spTree>
    <p:extLst>
      <p:ext uri="{BB962C8B-B14F-4D97-AF65-F5344CB8AC3E}">
        <p14:creationId xmlns:p14="http://schemas.microsoft.com/office/powerpoint/2010/main" val="386764740"/>
      </p:ext>
    </p:extLst>
  </p:cSld>
  <p:clrMapOvr>
    <a:masterClrMapping/>
  </p:clrMapOvr>
  <p:transition>
    <p:fad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CC5F3-10C8-E4A4-8A1D-9E2937835799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合約比對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文字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)】(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皆不勾選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) (6/6)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F038DD1-9A7F-7D39-CB6C-35D16A665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2" y="681318"/>
            <a:ext cx="8200173" cy="590690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EC3DB59D-1175-B63C-355E-2EB51AE9F735}"/>
              </a:ext>
            </a:extLst>
          </p:cNvPr>
          <p:cNvSpPr/>
          <p:nvPr/>
        </p:nvSpPr>
        <p:spPr>
          <a:xfrm>
            <a:off x="780490" y="4306152"/>
            <a:ext cx="7672066" cy="2282069"/>
          </a:xfrm>
          <a:prstGeom prst="roundRect">
            <a:avLst>
              <a:gd name="adj" fmla="val 247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81864416-F543-AA84-ADAF-8F01A7E3EAC5}"/>
              </a:ext>
            </a:extLst>
          </p:cNvPr>
          <p:cNvSpPr/>
          <p:nvPr/>
        </p:nvSpPr>
        <p:spPr bwMode="gray">
          <a:xfrm>
            <a:off x="6244797" y="2837499"/>
            <a:ext cx="4415518" cy="1021638"/>
          </a:xfrm>
          <a:prstGeom prst="wedgeRoundRectCallout">
            <a:avLst>
              <a:gd name="adj1" fmla="val -46058"/>
              <a:gd name="adj2" fmla="val 9190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整份合約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進行比對且顯示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無差異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的結果</a:t>
            </a:r>
          </a:p>
        </p:txBody>
      </p:sp>
    </p:spTree>
    <p:extLst>
      <p:ext uri="{BB962C8B-B14F-4D97-AF65-F5344CB8AC3E}">
        <p14:creationId xmlns:p14="http://schemas.microsoft.com/office/powerpoint/2010/main" val="3443975089"/>
      </p:ext>
    </p:extLst>
  </p:cSld>
  <p:clrMapOvr>
    <a:masterClrMapping/>
  </p:clrMapOvr>
  <p:transition>
    <p:fad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E429D-875F-C750-DACA-7090F492B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80F24B2-E643-9B0F-B428-E7D974A13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6.1 </a:t>
            </a:r>
            <a:r>
              <a:rPr lang="zh-TW" altLang="en-US" sz="3600" dirty="0"/>
              <a:t>履約管理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提醒設定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749177730"/>
      </p:ext>
    </p:extLst>
  </p:cSld>
  <p:clrMapOvr>
    <a:masterClrMapping/>
  </p:clrMapOvr>
  <p:transition>
    <p:fade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E0592-F151-9A4F-4EE1-47F4A9A25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355B-2C9C-F8FD-E99E-9FA5759401CE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提醒設定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新增提醒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(1/2)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83E00D7-54A8-0D5C-D021-D950E01CC9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10"/>
          <a:stretch/>
        </p:blipFill>
        <p:spPr>
          <a:xfrm>
            <a:off x="464408" y="868203"/>
            <a:ext cx="8773002" cy="571145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6" name="矩形: 圓角 23">
            <a:extLst>
              <a:ext uri="{FF2B5EF4-FFF2-40B4-BE49-F238E27FC236}">
                <a16:creationId xmlns:a16="http://schemas.microsoft.com/office/drawing/2014/main" id="{7B23E754-BE5F-413A-9040-9C7A52D2476D}"/>
              </a:ext>
            </a:extLst>
          </p:cNvPr>
          <p:cNvSpPr/>
          <p:nvPr/>
        </p:nvSpPr>
        <p:spPr>
          <a:xfrm>
            <a:off x="464408" y="1324995"/>
            <a:ext cx="5295096" cy="4148605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: 圓角 23">
            <a:extLst>
              <a:ext uri="{FF2B5EF4-FFF2-40B4-BE49-F238E27FC236}">
                <a16:creationId xmlns:a16="http://schemas.microsoft.com/office/drawing/2014/main" id="{D149742E-43E7-28DD-6828-8E28F07DEADB}"/>
              </a:ext>
            </a:extLst>
          </p:cNvPr>
          <p:cNvSpPr/>
          <p:nvPr/>
        </p:nvSpPr>
        <p:spPr>
          <a:xfrm>
            <a:off x="2047813" y="6227361"/>
            <a:ext cx="348485" cy="335068"/>
          </a:xfrm>
          <a:prstGeom prst="roundRect">
            <a:avLst>
              <a:gd name="adj" fmla="val 9465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圓角矩形圖說文字 51">
            <a:extLst>
              <a:ext uri="{FF2B5EF4-FFF2-40B4-BE49-F238E27FC236}">
                <a16:creationId xmlns:a16="http://schemas.microsoft.com/office/drawing/2014/main" id="{AB883C2A-8E74-9D0F-3579-05F59256FB30}"/>
              </a:ext>
            </a:extLst>
          </p:cNvPr>
          <p:cNvSpPr/>
          <p:nvPr/>
        </p:nvSpPr>
        <p:spPr bwMode="gray">
          <a:xfrm>
            <a:off x="2647969" y="5542379"/>
            <a:ext cx="5754139" cy="650070"/>
          </a:xfrm>
          <a:prstGeom prst="wedgeRoundRectCallout">
            <a:avLst>
              <a:gd name="adj1" fmla="val -54802"/>
              <a:gd name="adj2" fmla="val 5429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 點擊一合約資料列的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新增提醒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】</a:t>
            </a:r>
          </a:p>
        </p:txBody>
      </p:sp>
      <p:sp>
        <p:nvSpPr>
          <p:cNvPr id="10" name="矩形: 圓角 23">
            <a:extLst>
              <a:ext uri="{FF2B5EF4-FFF2-40B4-BE49-F238E27FC236}">
                <a16:creationId xmlns:a16="http://schemas.microsoft.com/office/drawing/2014/main" id="{53C29D94-E410-E549-CAF7-B50B4922F92B}"/>
              </a:ext>
            </a:extLst>
          </p:cNvPr>
          <p:cNvSpPr/>
          <p:nvPr/>
        </p:nvSpPr>
        <p:spPr>
          <a:xfrm>
            <a:off x="1907808" y="4944777"/>
            <a:ext cx="877410" cy="445024"/>
          </a:xfrm>
          <a:prstGeom prst="roundRect">
            <a:avLst>
              <a:gd name="adj" fmla="val 9465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圓角矩形圖說文字 51">
            <a:extLst>
              <a:ext uri="{FF2B5EF4-FFF2-40B4-BE49-F238E27FC236}">
                <a16:creationId xmlns:a16="http://schemas.microsoft.com/office/drawing/2014/main" id="{982EDA29-C57C-9339-2E66-93215EED40B6}"/>
              </a:ext>
            </a:extLst>
          </p:cNvPr>
          <p:cNvSpPr/>
          <p:nvPr/>
        </p:nvSpPr>
        <p:spPr bwMode="gray">
          <a:xfrm>
            <a:off x="6164970" y="1820322"/>
            <a:ext cx="5132738" cy="718960"/>
          </a:xfrm>
          <a:prstGeom prst="wedgeRoundRectCallout">
            <a:avLst>
              <a:gd name="adj1" fmla="val -57937"/>
              <a:gd name="adj2" fmla="val 43680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 輸入查詢條件並點擊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查詢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】</a:t>
            </a:r>
          </a:p>
        </p:txBody>
      </p:sp>
      <p:sp>
        <p:nvSpPr>
          <p:cNvPr id="12" name="矩形: 圓角 23">
            <a:extLst>
              <a:ext uri="{FF2B5EF4-FFF2-40B4-BE49-F238E27FC236}">
                <a16:creationId xmlns:a16="http://schemas.microsoft.com/office/drawing/2014/main" id="{6E1F7A48-2565-0D3B-FDD1-522A0A02C95E}"/>
              </a:ext>
            </a:extLst>
          </p:cNvPr>
          <p:cNvSpPr/>
          <p:nvPr/>
        </p:nvSpPr>
        <p:spPr>
          <a:xfrm>
            <a:off x="506544" y="1384400"/>
            <a:ext cx="1128482" cy="317037"/>
          </a:xfrm>
          <a:prstGeom prst="roundRect">
            <a:avLst>
              <a:gd name="adj" fmla="val 18703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: 圓角 23">
            <a:extLst>
              <a:ext uri="{FF2B5EF4-FFF2-40B4-BE49-F238E27FC236}">
                <a16:creationId xmlns:a16="http://schemas.microsoft.com/office/drawing/2014/main" id="{A5C7FB83-322C-01FC-6ADE-1DCC15094916}"/>
              </a:ext>
            </a:extLst>
          </p:cNvPr>
          <p:cNvSpPr/>
          <p:nvPr/>
        </p:nvSpPr>
        <p:spPr>
          <a:xfrm>
            <a:off x="512894" y="3136800"/>
            <a:ext cx="1414791" cy="317037"/>
          </a:xfrm>
          <a:prstGeom prst="roundRect">
            <a:avLst>
              <a:gd name="adj" fmla="val 18703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圓角矩形圖說文字 9">
            <a:extLst>
              <a:ext uri="{FF2B5EF4-FFF2-40B4-BE49-F238E27FC236}">
                <a16:creationId xmlns:a16="http://schemas.microsoft.com/office/drawing/2014/main" id="{2A957FF3-BF6A-E3D8-1222-DC4D46B748E0}"/>
              </a:ext>
            </a:extLst>
          </p:cNvPr>
          <p:cNvSpPr/>
          <p:nvPr/>
        </p:nvSpPr>
        <p:spPr>
          <a:xfrm>
            <a:off x="6164970" y="2801845"/>
            <a:ext cx="5306206" cy="812899"/>
          </a:xfrm>
          <a:prstGeom prst="wedgeRoundRectCallout">
            <a:avLst>
              <a:gd name="adj1" fmla="val -57360"/>
              <a:gd name="adj2" fmla="val -49416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en-US" altLang="zh-TW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合約</a:t>
            </a:r>
            <a:r>
              <a:rPr lang="en-US" altLang="zh-TW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提醒項目</a:t>
            </a:r>
            <a:r>
              <a:rPr lang="en-US" altLang="zh-TW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兩種條件查詢</a:t>
            </a:r>
            <a:endParaRPr lang="en-US" altLang="zh-TW" sz="2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A53E9D-DE6C-66AA-6AE3-E3782A619492}"/>
              </a:ext>
            </a:extLst>
          </p:cNvPr>
          <p:cNvSpPr/>
          <p:nvPr/>
        </p:nvSpPr>
        <p:spPr bwMode="gray">
          <a:xfrm>
            <a:off x="2424873" y="6290973"/>
            <a:ext cx="175452" cy="271456"/>
          </a:xfrm>
          <a:prstGeom prst="rect">
            <a:avLst/>
          </a:prstGeom>
          <a:solidFill>
            <a:srgbClr val="FBFBFB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zh-TW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484735"/>
      </p:ext>
    </p:extLst>
  </p:cSld>
  <p:clrMapOvr>
    <a:masterClrMapping/>
  </p:clrMapOvr>
  <p:transition>
    <p:fad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06F5-34E9-AD62-6C7C-2C08A07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943C2-6B8A-070B-A10C-9DF7B29DE29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6.1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提醒設定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新增提醒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(2/2)</a:t>
            </a:r>
          </a:p>
        </p:txBody>
      </p:sp>
      <p:pic>
        <p:nvPicPr>
          <p:cNvPr id="5" name="圖片 4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2B8D79AE-A807-3D2D-8725-45A124CF8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93" y="595902"/>
            <a:ext cx="8205098" cy="6203748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6" name="矩形: 圓角 27">
            <a:extLst>
              <a:ext uri="{FF2B5EF4-FFF2-40B4-BE49-F238E27FC236}">
                <a16:creationId xmlns:a16="http://schemas.microsoft.com/office/drawing/2014/main" id="{7E02FD6B-55E6-DDB9-3420-66BEB99E6355}"/>
              </a:ext>
            </a:extLst>
          </p:cNvPr>
          <p:cNvSpPr/>
          <p:nvPr/>
        </p:nvSpPr>
        <p:spPr>
          <a:xfrm>
            <a:off x="414699" y="2058999"/>
            <a:ext cx="7793085" cy="2584564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圓角矩形圖說文字 21">
            <a:extLst>
              <a:ext uri="{FF2B5EF4-FFF2-40B4-BE49-F238E27FC236}">
                <a16:creationId xmlns:a16="http://schemas.microsoft.com/office/drawing/2014/main" id="{B490E821-7997-5C5C-4C60-ED56B084E29C}"/>
              </a:ext>
            </a:extLst>
          </p:cNvPr>
          <p:cNvSpPr/>
          <p:nvPr/>
        </p:nvSpPr>
        <p:spPr>
          <a:xfrm>
            <a:off x="7925443" y="931450"/>
            <a:ext cx="2724599" cy="792000"/>
          </a:xfrm>
          <a:prstGeom prst="wedgeRoundRectCallout">
            <a:avLst>
              <a:gd name="adj1" fmla="val -39582"/>
              <a:gd name="adj2" fmla="val 9589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輸入資料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27">
            <a:extLst>
              <a:ext uri="{FF2B5EF4-FFF2-40B4-BE49-F238E27FC236}">
                <a16:creationId xmlns:a16="http://schemas.microsoft.com/office/drawing/2014/main" id="{122ACB85-4631-5F0E-A6BE-DF82C5B30E9F}"/>
              </a:ext>
            </a:extLst>
          </p:cNvPr>
          <p:cNvSpPr/>
          <p:nvPr/>
        </p:nvSpPr>
        <p:spPr>
          <a:xfrm>
            <a:off x="414699" y="4754955"/>
            <a:ext cx="7793085" cy="1656005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圓角矩形圖說文字 21">
            <a:extLst>
              <a:ext uri="{FF2B5EF4-FFF2-40B4-BE49-F238E27FC236}">
                <a16:creationId xmlns:a16="http://schemas.microsoft.com/office/drawing/2014/main" id="{F67AB296-6595-2B52-E57F-7E248B5B43BF}"/>
              </a:ext>
            </a:extLst>
          </p:cNvPr>
          <p:cNvSpPr/>
          <p:nvPr/>
        </p:nvSpPr>
        <p:spPr>
          <a:xfrm>
            <a:off x="8331164" y="4078622"/>
            <a:ext cx="3259021" cy="792000"/>
          </a:xfrm>
          <a:prstGeom prst="wedgeRoundRectCallout">
            <a:avLst>
              <a:gd name="adj1" fmla="val -53177"/>
              <a:gd name="adj2" fmla="val 110010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選擇通知對象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圓角矩形圖說文字 15">
            <a:extLst>
              <a:ext uri="{FF2B5EF4-FFF2-40B4-BE49-F238E27FC236}">
                <a16:creationId xmlns:a16="http://schemas.microsoft.com/office/drawing/2014/main" id="{4FDBDF7D-8804-FEB5-038F-887942BAF654}"/>
              </a:ext>
            </a:extLst>
          </p:cNvPr>
          <p:cNvSpPr/>
          <p:nvPr/>
        </p:nvSpPr>
        <p:spPr>
          <a:xfrm>
            <a:off x="5651229" y="5953228"/>
            <a:ext cx="2945160" cy="717916"/>
          </a:xfrm>
          <a:prstGeom prst="wedgeRoundRectCallout">
            <a:avLst>
              <a:gd name="adj1" fmla="val -79875"/>
              <a:gd name="adj2" fmla="val 3374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19" name="矩形: 圓角 27">
            <a:extLst>
              <a:ext uri="{FF2B5EF4-FFF2-40B4-BE49-F238E27FC236}">
                <a16:creationId xmlns:a16="http://schemas.microsoft.com/office/drawing/2014/main" id="{52622DF2-FC3C-CC8D-7FE9-BD3A1DDBBD9E}"/>
              </a:ext>
            </a:extLst>
          </p:cNvPr>
          <p:cNvSpPr/>
          <p:nvPr/>
        </p:nvSpPr>
        <p:spPr>
          <a:xfrm>
            <a:off x="4311241" y="6470317"/>
            <a:ext cx="439775" cy="200827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矩形: 圓角 27">
            <a:extLst>
              <a:ext uri="{FF2B5EF4-FFF2-40B4-BE49-F238E27FC236}">
                <a16:creationId xmlns:a16="http://schemas.microsoft.com/office/drawing/2014/main" id="{E0959456-71E8-6F2D-B6B2-1F33CD70E7D4}"/>
              </a:ext>
            </a:extLst>
          </p:cNvPr>
          <p:cNvSpPr/>
          <p:nvPr/>
        </p:nvSpPr>
        <p:spPr>
          <a:xfrm>
            <a:off x="487712" y="5662695"/>
            <a:ext cx="439775" cy="200827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15939"/>
      </p:ext>
    </p:extLst>
  </p:cSld>
  <p:clrMapOvr>
    <a:masterClrMapping/>
  </p:clrMapOvr>
  <p:transition>
    <p:fad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146F-BEE8-B6C5-C35A-BBEAF95E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C5CFD6B-E656-425B-7808-D41FCA22B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6.2 </a:t>
            </a:r>
            <a:r>
              <a:rPr lang="zh-TW" altLang="en-US" sz="3600" dirty="0"/>
              <a:t>履約管理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履約紀錄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550480386"/>
      </p:ext>
    </p:extLst>
  </p:cSld>
  <p:clrMapOvr>
    <a:masterClrMapping/>
  </p:clrMapOvr>
  <p:transition>
    <p:fade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605C0-F611-0098-3EAF-2970264E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A2F47-2AAB-2C56-3E39-3872A1B350EB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履約紀錄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(1/2)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B4AD51E-6D23-FA03-1736-32927C204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69" y="798884"/>
            <a:ext cx="8201306" cy="579493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矩形: 圓角 23">
            <a:extLst>
              <a:ext uri="{FF2B5EF4-FFF2-40B4-BE49-F238E27FC236}">
                <a16:creationId xmlns:a16="http://schemas.microsoft.com/office/drawing/2014/main" id="{7FE1BD9C-AF7D-EC18-EA2E-41027FC83E52}"/>
              </a:ext>
            </a:extLst>
          </p:cNvPr>
          <p:cNvSpPr/>
          <p:nvPr/>
        </p:nvSpPr>
        <p:spPr>
          <a:xfrm>
            <a:off x="437870" y="1257300"/>
            <a:ext cx="5310998" cy="3434750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: 圓角 23">
            <a:extLst>
              <a:ext uri="{FF2B5EF4-FFF2-40B4-BE49-F238E27FC236}">
                <a16:creationId xmlns:a16="http://schemas.microsoft.com/office/drawing/2014/main" id="{B5A6FA46-9CE5-0A4D-20B6-1589D744824F}"/>
              </a:ext>
            </a:extLst>
          </p:cNvPr>
          <p:cNvSpPr/>
          <p:nvPr/>
        </p:nvSpPr>
        <p:spPr>
          <a:xfrm>
            <a:off x="2019182" y="6090525"/>
            <a:ext cx="355727" cy="323868"/>
          </a:xfrm>
          <a:prstGeom prst="roundRect">
            <a:avLst>
              <a:gd name="adj" fmla="val 9465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圓角矩形圖說文字 51">
            <a:extLst>
              <a:ext uri="{FF2B5EF4-FFF2-40B4-BE49-F238E27FC236}">
                <a16:creationId xmlns:a16="http://schemas.microsoft.com/office/drawing/2014/main" id="{331A94D3-54EF-4A0A-FBB7-149895CCD321}"/>
              </a:ext>
            </a:extLst>
          </p:cNvPr>
          <p:cNvSpPr/>
          <p:nvPr/>
        </p:nvSpPr>
        <p:spPr bwMode="gray">
          <a:xfrm>
            <a:off x="6147465" y="1568681"/>
            <a:ext cx="5168235" cy="812900"/>
          </a:xfrm>
          <a:prstGeom prst="wedgeRoundRectCallout">
            <a:avLst>
              <a:gd name="adj1" fmla="val -57908"/>
              <a:gd name="adj2" fmla="val 3641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 輸入查詢條件並點擊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查詢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】</a:t>
            </a:r>
          </a:p>
        </p:txBody>
      </p:sp>
      <p:sp>
        <p:nvSpPr>
          <p:cNvPr id="7" name="矩形: 圓角 23">
            <a:extLst>
              <a:ext uri="{FF2B5EF4-FFF2-40B4-BE49-F238E27FC236}">
                <a16:creationId xmlns:a16="http://schemas.microsoft.com/office/drawing/2014/main" id="{D9FC4B8E-A507-732C-E107-A9912C68EB75}"/>
              </a:ext>
            </a:extLst>
          </p:cNvPr>
          <p:cNvSpPr/>
          <p:nvPr/>
        </p:nvSpPr>
        <p:spPr>
          <a:xfrm>
            <a:off x="1892860" y="4858984"/>
            <a:ext cx="808593" cy="388004"/>
          </a:xfrm>
          <a:prstGeom prst="roundRect">
            <a:avLst>
              <a:gd name="adj" fmla="val 9465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圓角矩形圖說文字 51">
            <a:extLst>
              <a:ext uri="{FF2B5EF4-FFF2-40B4-BE49-F238E27FC236}">
                <a16:creationId xmlns:a16="http://schemas.microsoft.com/office/drawing/2014/main" id="{A9840061-815F-F99C-5547-5A025A5F62B6}"/>
              </a:ext>
            </a:extLst>
          </p:cNvPr>
          <p:cNvSpPr/>
          <p:nvPr/>
        </p:nvSpPr>
        <p:spPr bwMode="gray">
          <a:xfrm>
            <a:off x="3033246" y="5429035"/>
            <a:ext cx="6342737" cy="661490"/>
          </a:xfrm>
          <a:prstGeom prst="wedgeRoundRectCallout">
            <a:avLst>
              <a:gd name="adj1" fmla="val -60573"/>
              <a:gd name="adj2" fmla="val 5207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點擊一合約資料列的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新增履約紀錄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】</a:t>
            </a:r>
          </a:p>
        </p:txBody>
      </p:sp>
      <p:sp>
        <p:nvSpPr>
          <p:cNvPr id="9" name="矩形: 圓角 23">
            <a:extLst>
              <a:ext uri="{FF2B5EF4-FFF2-40B4-BE49-F238E27FC236}">
                <a16:creationId xmlns:a16="http://schemas.microsoft.com/office/drawing/2014/main" id="{C6F63E8F-BA49-4387-51D1-2C2395E7BEA2}"/>
              </a:ext>
            </a:extLst>
          </p:cNvPr>
          <p:cNvSpPr/>
          <p:nvPr/>
        </p:nvSpPr>
        <p:spPr>
          <a:xfrm>
            <a:off x="490768" y="1340513"/>
            <a:ext cx="1128482" cy="317037"/>
          </a:xfrm>
          <a:prstGeom prst="roundRect">
            <a:avLst>
              <a:gd name="adj" fmla="val 18703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: 圓角 23">
            <a:extLst>
              <a:ext uri="{FF2B5EF4-FFF2-40B4-BE49-F238E27FC236}">
                <a16:creationId xmlns:a16="http://schemas.microsoft.com/office/drawing/2014/main" id="{DE544E9C-DFF4-DBF5-D428-27BBAD134D1C}"/>
              </a:ext>
            </a:extLst>
          </p:cNvPr>
          <p:cNvSpPr/>
          <p:nvPr/>
        </p:nvSpPr>
        <p:spPr>
          <a:xfrm>
            <a:off x="487593" y="3073863"/>
            <a:ext cx="1414791" cy="317037"/>
          </a:xfrm>
          <a:prstGeom prst="roundRect">
            <a:avLst>
              <a:gd name="adj" fmla="val 18703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圓角矩形圖說文字 9">
            <a:extLst>
              <a:ext uri="{FF2B5EF4-FFF2-40B4-BE49-F238E27FC236}">
                <a16:creationId xmlns:a16="http://schemas.microsoft.com/office/drawing/2014/main" id="{652678DD-1CA2-3BFF-EF33-CD292F2B5E7C}"/>
              </a:ext>
            </a:extLst>
          </p:cNvPr>
          <p:cNvSpPr/>
          <p:nvPr/>
        </p:nvSpPr>
        <p:spPr>
          <a:xfrm>
            <a:off x="6149194" y="2595742"/>
            <a:ext cx="5306206" cy="812899"/>
          </a:xfrm>
          <a:prstGeom prst="wedgeRoundRectCallout">
            <a:avLst>
              <a:gd name="adj1" fmla="val -57360"/>
              <a:gd name="adj2" fmla="val -49416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en-US" altLang="zh-TW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合約</a:t>
            </a:r>
            <a:r>
              <a:rPr lang="en-US" altLang="zh-TW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履約紀錄</a:t>
            </a:r>
            <a:r>
              <a:rPr lang="en-US" altLang="zh-TW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兩種條件查詢</a:t>
            </a:r>
            <a:endParaRPr lang="en-US" altLang="zh-TW" sz="2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3938460"/>
      </p:ext>
    </p:extLst>
  </p:cSld>
  <p:clrMapOvr>
    <a:masterClrMapping/>
  </p:clrMapOvr>
  <p:transition>
    <p:fade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D24A-6CF3-69FD-1378-C849B09A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A9CE-434F-6EB8-5C8C-84BE7C324A6E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履約紀錄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】(2/2)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B83796A-E565-292B-839D-ED101E4AC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669222"/>
            <a:ext cx="6300411" cy="5986157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圓角矩形圖說文字 8">
            <a:extLst>
              <a:ext uri="{FF2B5EF4-FFF2-40B4-BE49-F238E27FC236}">
                <a16:creationId xmlns:a16="http://schemas.microsoft.com/office/drawing/2014/main" id="{9A7278A3-9E76-7230-1A8A-29824E9C6608}"/>
              </a:ext>
            </a:extLst>
          </p:cNvPr>
          <p:cNvSpPr/>
          <p:nvPr/>
        </p:nvSpPr>
        <p:spPr>
          <a:xfrm>
            <a:off x="5308359" y="2591921"/>
            <a:ext cx="2623030" cy="792000"/>
          </a:xfrm>
          <a:prstGeom prst="wedgeRoundRectCallout">
            <a:avLst>
              <a:gd name="adj1" fmla="val -43452"/>
              <a:gd name="adj2" fmla="val 7922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輸入資料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: 圓角 27">
            <a:extLst>
              <a:ext uri="{FF2B5EF4-FFF2-40B4-BE49-F238E27FC236}">
                <a16:creationId xmlns:a16="http://schemas.microsoft.com/office/drawing/2014/main" id="{03573C23-3763-A803-3004-4C98F72B70E1}"/>
              </a:ext>
            </a:extLst>
          </p:cNvPr>
          <p:cNvSpPr/>
          <p:nvPr/>
        </p:nvSpPr>
        <p:spPr>
          <a:xfrm>
            <a:off x="657225" y="3641925"/>
            <a:ext cx="5962649" cy="2413818"/>
          </a:xfrm>
          <a:prstGeom prst="roundRect">
            <a:avLst>
              <a:gd name="adj" fmla="val 218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矩形: 圓角 27">
            <a:extLst>
              <a:ext uri="{FF2B5EF4-FFF2-40B4-BE49-F238E27FC236}">
                <a16:creationId xmlns:a16="http://schemas.microsoft.com/office/drawing/2014/main" id="{2D130998-5044-616D-322A-C2DBC354695E}"/>
              </a:ext>
            </a:extLst>
          </p:cNvPr>
          <p:cNvSpPr/>
          <p:nvPr/>
        </p:nvSpPr>
        <p:spPr>
          <a:xfrm>
            <a:off x="3635980" y="6182444"/>
            <a:ext cx="860157" cy="388787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圓角矩形圖說文字 9">
            <a:extLst>
              <a:ext uri="{FF2B5EF4-FFF2-40B4-BE49-F238E27FC236}">
                <a16:creationId xmlns:a16="http://schemas.microsoft.com/office/drawing/2014/main" id="{9D432A4D-0E25-95A8-86C7-89C94BBDAF29}"/>
              </a:ext>
            </a:extLst>
          </p:cNvPr>
          <p:cNvSpPr/>
          <p:nvPr/>
        </p:nvSpPr>
        <p:spPr>
          <a:xfrm>
            <a:off x="7193672" y="3915632"/>
            <a:ext cx="4836403" cy="822014"/>
          </a:xfrm>
          <a:prstGeom prst="wedgeRoundRectCallout">
            <a:avLst>
              <a:gd name="adj1" fmla="val -62936"/>
              <a:gd name="adj2" fmla="val 112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勾選後，系統不繼續發送提醒通知</a:t>
            </a:r>
            <a:endParaRPr lang="en-US" altLang="zh-TW" sz="2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: 圓角 27">
            <a:extLst>
              <a:ext uri="{FF2B5EF4-FFF2-40B4-BE49-F238E27FC236}">
                <a16:creationId xmlns:a16="http://schemas.microsoft.com/office/drawing/2014/main" id="{971D6DA4-99FF-5DAC-685C-A791BCDA184C}"/>
              </a:ext>
            </a:extLst>
          </p:cNvPr>
          <p:cNvSpPr/>
          <p:nvPr/>
        </p:nvSpPr>
        <p:spPr>
          <a:xfrm>
            <a:off x="742950" y="4230486"/>
            <a:ext cx="5791200" cy="322464"/>
          </a:xfrm>
          <a:prstGeom prst="roundRect">
            <a:avLst>
              <a:gd name="adj" fmla="val 10435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圓角矩形圖說文字 9">
            <a:extLst>
              <a:ext uri="{FF2B5EF4-FFF2-40B4-BE49-F238E27FC236}">
                <a16:creationId xmlns:a16="http://schemas.microsoft.com/office/drawing/2014/main" id="{EF129A50-C161-A534-102D-448667A049AD}"/>
              </a:ext>
            </a:extLst>
          </p:cNvPr>
          <p:cNvSpPr/>
          <p:nvPr/>
        </p:nvSpPr>
        <p:spPr>
          <a:xfrm>
            <a:off x="5046655" y="5833365"/>
            <a:ext cx="3070237" cy="822014"/>
          </a:xfrm>
          <a:prstGeom prst="wedgeRoundRectCallout">
            <a:avLst>
              <a:gd name="adj1" fmla="val -67598"/>
              <a:gd name="adj2" fmla="val 841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230351"/>
      </p:ext>
    </p:extLst>
  </p:cSld>
  <p:clrMapOvr>
    <a:masterClrMapping/>
  </p:clrMapOvr>
  <p:transition>
    <p:fade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ABED-EF32-6F11-42A4-B6CD57AFF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8483A14-FC67-D6B3-3175-C8E61EAC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6" y="3010206"/>
            <a:ext cx="10914994" cy="675970"/>
          </a:xfrm>
        </p:spPr>
        <p:txBody>
          <a:bodyPr/>
          <a:lstStyle/>
          <a:p>
            <a:r>
              <a:rPr lang="en-US" altLang="zh-TW" sz="3600" dirty="0"/>
              <a:t>7.1 </a:t>
            </a:r>
            <a:r>
              <a:rPr lang="zh-TW" altLang="en-US" sz="3600" dirty="0"/>
              <a:t>批次移轉</a:t>
            </a:r>
            <a:r>
              <a:rPr lang="en-US" altLang="zh-TW" sz="3600" dirty="0"/>
              <a:t>/</a:t>
            </a:r>
            <a:r>
              <a:rPr lang="zh-TW" altLang="en-US" sz="3600" dirty="0"/>
              <a:t>代理人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批次移轉</a:t>
            </a:r>
            <a:r>
              <a:rPr lang="en-US" altLang="zh-TW" sz="4400" dirty="0"/>
              <a:t>-</a:t>
            </a:r>
            <a:r>
              <a:rPr lang="zh-TW" altLang="en-US" sz="4400" dirty="0"/>
              <a:t>合約擁有者 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471499005"/>
      </p:ext>
    </p:extLst>
  </p:cSld>
  <p:clrMapOvr>
    <a:masterClrMapping/>
  </p:clrMapOvr>
  <p:transition>
    <p:fade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31C9726-709C-54EE-1DEB-E43DD5965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31" y="1174161"/>
            <a:ext cx="10228571" cy="5238095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499D04-3D7A-F6AE-AFA7-BDCABDFC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78DBF50-6B5A-9E95-C578-F15FFBB119FF}"/>
              </a:ext>
            </a:extLst>
          </p:cNvPr>
          <p:cNvSpPr/>
          <p:nvPr/>
        </p:nvSpPr>
        <p:spPr>
          <a:xfrm>
            <a:off x="764635" y="3099852"/>
            <a:ext cx="2884986" cy="606906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11812F6-3223-BDE0-358F-DE007EAEC94D}"/>
              </a:ext>
            </a:extLst>
          </p:cNvPr>
          <p:cNvSpPr/>
          <p:nvPr/>
        </p:nvSpPr>
        <p:spPr>
          <a:xfrm>
            <a:off x="849554" y="3957820"/>
            <a:ext cx="1064327" cy="500363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0605042-9D96-F566-9B83-B89B6AC6FE44}"/>
              </a:ext>
            </a:extLst>
          </p:cNvPr>
          <p:cNvSpPr/>
          <p:nvPr/>
        </p:nvSpPr>
        <p:spPr>
          <a:xfrm>
            <a:off x="849554" y="4941063"/>
            <a:ext cx="9862725" cy="1317497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語音泡泡: 圓角矩形 12">
            <a:extLst>
              <a:ext uri="{FF2B5EF4-FFF2-40B4-BE49-F238E27FC236}">
                <a16:creationId xmlns:a16="http://schemas.microsoft.com/office/drawing/2014/main" id="{B58043C8-EE81-01CF-FC48-C42ED8081EA8}"/>
              </a:ext>
            </a:extLst>
          </p:cNvPr>
          <p:cNvSpPr/>
          <p:nvPr/>
        </p:nvSpPr>
        <p:spPr bwMode="gray">
          <a:xfrm>
            <a:off x="4815743" y="1417948"/>
            <a:ext cx="4745540" cy="728929"/>
          </a:xfrm>
          <a:prstGeom prst="wedgeRoundRectCallout">
            <a:avLst>
              <a:gd name="adj1" fmla="val -74576"/>
              <a:gd name="adj2" fmla="val 18654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選擇要移轉的合約擁有者</a:t>
            </a:r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929DBD51-55BA-B7CD-C40C-AB537880A521}"/>
              </a:ext>
            </a:extLst>
          </p:cNvPr>
          <p:cNvSpPr/>
          <p:nvPr/>
        </p:nvSpPr>
        <p:spPr bwMode="gray">
          <a:xfrm>
            <a:off x="3237732" y="4017798"/>
            <a:ext cx="2966265" cy="728929"/>
          </a:xfrm>
          <a:prstGeom prst="wedgeRoundRectCallout">
            <a:avLst>
              <a:gd name="adj1" fmla="val -94038"/>
              <a:gd name="adj2" fmla="val 418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查詢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C710BEAD-DBEA-CE4E-B683-258494BA14BD}"/>
              </a:ext>
            </a:extLst>
          </p:cNvPr>
          <p:cNvSpPr/>
          <p:nvPr/>
        </p:nvSpPr>
        <p:spPr bwMode="gray">
          <a:xfrm>
            <a:off x="6608260" y="3490081"/>
            <a:ext cx="4745540" cy="1006652"/>
          </a:xfrm>
          <a:prstGeom prst="wedgeRoundRectCallout">
            <a:avLst>
              <a:gd name="adj1" fmla="val -21360"/>
              <a:gd name="adj2" fmla="val 9029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查詢該合約擁有者所擁有的合約，並顯示於列表中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0EC54-23F1-5615-DB50-32ECB2FF5BE2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批次移轉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合約擁有者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(1/2)</a:t>
            </a:r>
          </a:p>
        </p:txBody>
      </p:sp>
    </p:spTree>
    <p:extLst>
      <p:ext uri="{BB962C8B-B14F-4D97-AF65-F5344CB8AC3E}">
        <p14:creationId xmlns:p14="http://schemas.microsoft.com/office/powerpoint/2010/main" val="226255227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2A41106-9601-2493-830D-82D8F86E2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94" y="1538148"/>
            <a:ext cx="9602916" cy="5000764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23CE739-D122-29C2-27E0-F75A50A10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94746"/>
            <a:ext cx="5572406" cy="2467244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499D04-3D7A-F6AE-AFA7-BDCABDFC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112</a:t>
            </a:fld>
            <a:endParaRPr lang="en-US" dirty="0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7378A76-32FA-790F-FD7D-F990C3DF52EF}"/>
              </a:ext>
            </a:extLst>
          </p:cNvPr>
          <p:cNvSpPr/>
          <p:nvPr/>
        </p:nvSpPr>
        <p:spPr>
          <a:xfrm>
            <a:off x="1732609" y="4201476"/>
            <a:ext cx="987962" cy="437738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9737FA0C-ECBD-3926-C674-5CB9AC8C03EB}"/>
              </a:ext>
            </a:extLst>
          </p:cNvPr>
          <p:cNvSpPr/>
          <p:nvPr/>
        </p:nvSpPr>
        <p:spPr>
          <a:xfrm>
            <a:off x="701040" y="5506720"/>
            <a:ext cx="345440" cy="641552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語音泡泡: 圓角矩形 23">
            <a:extLst>
              <a:ext uri="{FF2B5EF4-FFF2-40B4-BE49-F238E27FC236}">
                <a16:creationId xmlns:a16="http://schemas.microsoft.com/office/drawing/2014/main" id="{DA081D87-9F8E-9171-66FF-81825E84FD3F}"/>
              </a:ext>
            </a:extLst>
          </p:cNvPr>
          <p:cNvSpPr/>
          <p:nvPr/>
        </p:nvSpPr>
        <p:spPr bwMode="gray">
          <a:xfrm>
            <a:off x="3221400" y="3416361"/>
            <a:ext cx="3045772" cy="685230"/>
          </a:xfrm>
          <a:prstGeom prst="wedgeRoundRectCallout">
            <a:avLst>
              <a:gd name="adj1" fmla="val -81754"/>
              <a:gd name="adj2" fmla="val 6131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移轉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語音泡泡: 圓角矩形 24">
            <a:extLst>
              <a:ext uri="{FF2B5EF4-FFF2-40B4-BE49-F238E27FC236}">
                <a16:creationId xmlns:a16="http://schemas.microsoft.com/office/drawing/2014/main" id="{E510C7FF-3CEA-9167-0B86-58CED840C7EC}"/>
              </a:ext>
            </a:extLst>
          </p:cNvPr>
          <p:cNvSpPr/>
          <p:nvPr/>
        </p:nvSpPr>
        <p:spPr bwMode="gray">
          <a:xfrm>
            <a:off x="2970059" y="4232716"/>
            <a:ext cx="4430148" cy="752037"/>
          </a:xfrm>
          <a:prstGeom prst="wedgeRoundRectCallout">
            <a:avLst>
              <a:gd name="adj1" fmla="val -93466"/>
              <a:gd name="adj2" fmla="val 11886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勾選要移轉的合約案件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1BDD2B6-2F85-6FE8-B36D-5A3D5E73DE60}"/>
              </a:ext>
            </a:extLst>
          </p:cNvPr>
          <p:cNvSpPr/>
          <p:nvPr/>
        </p:nvSpPr>
        <p:spPr>
          <a:xfrm>
            <a:off x="6413323" y="1758976"/>
            <a:ext cx="2428240" cy="670912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F4090AB-4ED1-5DD2-33E5-65E8A0F4A079}"/>
              </a:ext>
            </a:extLst>
          </p:cNvPr>
          <p:cNvSpPr/>
          <p:nvPr/>
        </p:nvSpPr>
        <p:spPr>
          <a:xfrm>
            <a:off x="8909008" y="2690970"/>
            <a:ext cx="844592" cy="437738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FF6A7B1A-D7BD-9498-6CA7-3A1B28FD08A3}"/>
              </a:ext>
            </a:extLst>
          </p:cNvPr>
          <p:cNvSpPr/>
          <p:nvPr/>
        </p:nvSpPr>
        <p:spPr bwMode="gray">
          <a:xfrm>
            <a:off x="7288447" y="762589"/>
            <a:ext cx="3832357" cy="685230"/>
          </a:xfrm>
          <a:prstGeom prst="wedgeRoundRectCallout">
            <a:avLst>
              <a:gd name="adj1" fmla="val -20926"/>
              <a:gd name="adj2" fmla="val 9096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選擇新合約擁有者</a:t>
            </a:r>
          </a:p>
        </p:txBody>
      </p:sp>
      <p:sp>
        <p:nvSpPr>
          <p:cNvPr id="13" name="語音泡泡: 圓角矩形 12">
            <a:extLst>
              <a:ext uri="{FF2B5EF4-FFF2-40B4-BE49-F238E27FC236}">
                <a16:creationId xmlns:a16="http://schemas.microsoft.com/office/drawing/2014/main" id="{37481101-C22D-20F5-48D0-B7C5871A782B}"/>
              </a:ext>
            </a:extLst>
          </p:cNvPr>
          <p:cNvSpPr/>
          <p:nvPr/>
        </p:nvSpPr>
        <p:spPr bwMode="gray">
          <a:xfrm>
            <a:off x="8362020" y="3495763"/>
            <a:ext cx="3240360" cy="685230"/>
          </a:xfrm>
          <a:prstGeom prst="wedgeRoundRectCallout">
            <a:avLst>
              <a:gd name="adj1" fmla="val -21240"/>
              <a:gd name="adj2" fmla="val -10030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6: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5CDAEC-3D36-DD8D-ED12-8D779D03A42A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7.1【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批次移轉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合約擁有者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】(2/2)</a:t>
            </a:r>
          </a:p>
        </p:txBody>
      </p:sp>
    </p:spTree>
    <p:extLst>
      <p:ext uri="{BB962C8B-B14F-4D97-AF65-F5344CB8AC3E}">
        <p14:creationId xmlns:p14="http://schemas.microsoft.com/office/powerpoint/2010/main" val="193047749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798FC-A381-D406-1A38-E07B67088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C734A81D-144D-27C6-0E58-797DD540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6" y="3010206"/>
            <a:ext cx="10914994" cy="675970"/>
          </a:xfrm>
        </p:spPr>
        <p:txBody>
          <a:bodyPr/>
          <a:lstStyle/>
          <a:p>
            <a:r>
              <a:rPr lang="en-US" altLang="zh-TW" sz="3600" dirty="0"/>
              <a:t>7.2 </a:t>
            </a:r>
            <a:r>
              <a:rPr lang="zh-TW" altLang="en-US" sz="3600" dirty="0"/>
              <a:t>批次移轉</a:t>
            </a:r>
            <a:r>
              <a:rPr lang="en-US" altLang="zh-TW" sz="3600" dirty="0"/>
              <a:t>/</a:t>
            </a:r>
            <a:r>
              <a:rPr lang="zh-TW" altLang="en-US" sz="3600" dirty="0"/>
              <a:t>代理人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批次移轉</a:t>
            </a:r>
            <a:r>
              <a:rPr lang="en-US" altLang="zh-TW" sz="4400" dirty="0"/>
              <a:t>-</a:t>
            </a:r>
            <a:r>
              <a:rPr lang="zh-TW" altLang="en-US" sz="4400" dirty="0"/>
              <a:t>審核者 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061341304"/>
      </p:ext>
    </p:extLst>
  </p:cSld>
  <p:clrMapOvr>
    <a:masterClrMapping/>
  </p:clrMapOvr>
  <p:transition>
    <p:fad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C5304BD-7A44-D6DA-76EE-4619A7B2C8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5"/>
          <a:stretch>
            <a:fillRect/>
          </a:stretch>
        </p:blipFill>
        <p:spPr>
          <a:xfrm>
            <a:off x="561746" y="1631822"/>
            <a:ext cx="11068507" cy="4366254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499D04-3D7A-F6AE-AFA7-BDCABDFC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114</a:t>
            </a:fld>
            <a:endParaRPr 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78DBF50-6B5A-9E95-C578-F15FFBB119FF}"/>
              </a:ext>
            </a:extLst>
          </p:cNvPr>
          <p:cNvSpPr/>
          <p:nvPr/>
        </p:nvSpPr>
        <p:spPr>
          <a:xfrm>
            <a:off x="602387" y="3142993"/>
            <a:ext cx="2455773" cy="616207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11812F6-3223-BDE0-358F-DE007EAEC94D}"/>
              </a:ext>
            </a:extLst>
          </p:cNvPr>
          <p:cNvSpPr/>
          <p:nvPr/>
        </p:nvSpPr>
        <p:spPr>
          <a:xfrm>
            <a:off x="725461" y="3887554"/>
            <a:ext cx="869660" cy="430446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0605042-9D96-F566-9B83-B89B6AC6FE44}"/>
              </a:ext>
            </a:extLst>
          </p:cNvPr>
          <p:cNvSpPr/>
          <p:nvPr/>
        </p:nvSpPr>
        <p:spPr>
          <a:xfrm>
            <a:off x="725460" y="4716875"/>
            <a:ext cx="10785820" cy="1317906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語音泡泡: 圓角矩形 12">
            <a:extLst>
              <a:ext uri="{FF2B5EF4-FFF2-40B4-BE49-F238E27FC236}">
                <a16:creationId xmlns:a16="http://schemas.microsoft.com/office/drawing/2014/main" id="{B58043C8-EE81-01CF-FC48-C42ED8081EA8}"/>
              </a:ext>
            </a:extLst>
          </p:cNvPr>
          <p:cNvSpPr/>
          <p:nvPr/>
        </p:nvSpPr>
        <p:spPr bwMode="gray">
          <a:xfrm>
            <a:off x="4410311" y="1631822"/>
            <a:ext cx="4164177" cy="780941"/>
          </a:xfrm>
          <a:prstGeom prst="wedgeRoundRectCallout">
            <a:avLst>
              <a:gd name="adj1" fmla="val -82344"/>
              <a:gd name="adj2" fmla="val 14793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選擇要移轉的審核者</a:t>
            </a:r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929DBD51-55BA-B7CD-C40C-AB537880A521}"/>
              </a:ext>
            </a:extLst>
          </p:cNvPr>
          <p:cNvSpPr/>
          <p:nvPr/>
        </p:nvSpPr>
        <p:spPr bwMode="gray">
          <a:xfrm>
            <a:off x="2692401" y="3859023"/>
            <a:ext cx="3052680" cy="729497"/>
          </a:xfrm>
          <a:prstGeom prst="wedgeRoundRectCallout">
            <a:avLst>
              <a:gd name="adj1" fmla="val -85849"/>
              <a:gd name="adj2" fmla="val 830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查詢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E145A740-7287-64FC-9AF3-E86FF65057A1}"/>
              </a:ext>
            </a:extLst>
          </p:cNvPr>
          <p:cNvSpPr/>
          <p:nvPr/>
        </p:nvSpPr>
        <p:spPr bwMode="gray">
          <a:xfrm>
            <a:off x="6492399" y="3370438"/>
            <a:ext cx="4371096" cy="979284"/>
          </a:xfrm>
          <a:prstGeom prst="wedgeRoundRectCallout">
            <a:avLst>
              <a:gd name="adj1" fmla="val -22255"/>
              <a:gd name="adj2" fmla="val 8424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查詢該審核者所待審的申請單，並顯示於列表中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194DAB-59CD-6BD2-BA2C-877CA35D482E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批次移轉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審核者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692628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5B933D9-ABDB-149E-5BEF-906DE2F56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94" y="2078329"/>
            <a:ext cx="10990851" cy="4127399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AB339A0-0044-2AE4-22B7-CB2A1B5E9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111" y="935785"/>
            <a:ext cx="5792864" cy="2551965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499D04-3D7A-F6AE-AFA7-BDCABDFC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457200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A3B3F4-540F-4BE5-9E7F-DB4B155A1F58}" type="slidenum">
              <a:rPr lang="en-US" smtClean="0"/>
              <a:pPr/>
              <a:t>115</a:t>
            </a:fld>
            <a:endParaRPr lang="en-US" dirty="0"/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6D5B95D3-B5FF-11ED-8B1F-CB3B03DE2B90}"/>
              </a:ext>
            </a:extLst>
          </p:cNvPr>
          <p:cNvSpPr/>
          <p:nvPr/>
        </p:nvSpPr>
        <p:spPr bwMode="gray">
          <a:xfrm>
            <a:off x="6981502" y="817412"/>
            <a:ext cx="3142679" cy="694237"/>
          </a:xfrm>
          <a:prstGeom prst="wedgeRoundRectCallout">
            <a:avLst>
              <a:gd name="adj1" fmla="val -22166"/>
              <a:gd name="adj2" fmla="val 9505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選擇新審核者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3D6E6B87-E079-42C0-5CDA-B8B8CEC81CC8}"/>
              </a:ext>
            </a:extLst>
          </p:cNvPr>
          <p:cNvSpPr/>
          <p:nvPr/>
        </p:nvSpPr>
        <p:spPr>
          <a:xfrm>
            <a:off x="6143627" y="1829761"/>
            <a:ext cx="2466974" cy="70299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7378A76-32FA-790F-FD7D-F990C3DF52EF}"/>
              </a:ext>
            </a:extLst>
          </p:cNvPr>
          <p:cNvSpPr/>
          <p:nvPr/>
        </p:nvSpPr>
        <p:spPr>
          <a:xfrm>
            <a:off x="1567300" y="4358640"/>
            <a:ext cx="881260" cy="37592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9737FA0C-ECBD-3926-C674-5CB9AC8C03EB}"/>
              </a:ext>
            </a:extLst>
          </p:cNvPr>
          <p:cNvSpPr/>
          <p:nvPr/>
        </p:nvSpPr>
        <p:spPr>
          <a:xfrm>
            <a:off x="675764" y="5457281"/>
            <a:ext cx="319916" cy="550045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語音泡泡: 圓角矩形 23">
            <a:extLst>
              <a:ext uri="{FF2B5EF4-FFF2-40B4-BE49-F238E27FC236}">
                <a16:creationId xmlns:a16="http://schemas.microsoft.com/office/drawing/2014/main" id="{DA081D87-9F8E-9171-66FF-81825E84FD3F}"/>
              </a:ext>
            </a:extLst>
          </p:cNvPr>
          <p:cNvSpPr/>
          <p:nvPr/>
        </p:nvSpPr>
        <p:spPr bwMode="gray">
          <a:xfrm>
            <a:off x="3101862" y="3553490"/>
            <a:ext cx="3041764" cy="694236"/>
          </a:xfrm>
          <a:prstGeom prst="wedgeRoundRectCallout">
            <a:avLst>
              <a:gd name="adj1" fmla="val -87296"/>
              <a:gd name="adj2" fmla="val 6266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移轉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語音泡泡: 圓角矩形 24">
            <a:extLst>
              <a:ext uri="{FF2B5EF4-FFF2-40B4-BE49-F238E27FC236}">
                <a16:creationId xmlns:a16="http://schemas.microsoft.com/office/drawing/2014/main" id="{E510C7FF-3CEA-9167-0B86-58CED840C7EC}"/>
              </a:ext>
            </a:extLst>
          </p:cNvPr>
          <p:cNvSpPr/>
          <p:nvPr/>
        </p:nvSpPr>
        <p:spPr bwMode="gray">
          <a:xfrm>
            <a:off x="2917388" y="4358640"/>
            <a:ext cx="4064114" cy="694237"/>
          </a:xfrm>
          <a:prstGeom prst="wedgeRoundRectCallout">
            <a:avLst>
              <a:gd name="adj1" fmla="val -97515"/>
              <a:gd name="adj2" fmla="val 11571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勾選要移轉的申請單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2D7B7BD-89ED-DCEC-4F73-237D0E2766C2}"/>
              </a:ext>
            </a:extLst>
          </p:cNvPr>
          <p:cNvSpPr/>
          <p:nvPr/>
        </p:nvSpPr>
        <p:spPr>
          <a:xfrm>
            <a:off x="8782008" y="2795833"/>
            <a:ext cx="844592" cy="437738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1B133E22-41A8-7F14-07E4-D7DD75F48F81}"/>
              </a:ext>
            </a:extLst>
          </p:cNvPr>
          <p:cNvSpPr/>
          <p:nvPr/>
        </p:nvSpPr>
        <p:spPr bwMode="gray">
          <a:xfrm>
            <a:off x="8275660" y="3600626"/>
            <a:ext cx="3240360" cy="685230"/>
          </a:xfrm>
          <a:prstGeom prst="wedgeRoundRectCallout">
            <a:avLst>
              <a:gd name="adj1" fmla="val -21240"/>
              <a:gd name="adj2" fmla="val -10030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6: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FD142-B8A4-14DC-654E-301AF6331440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批次移轉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-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審核者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623425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66808-3134-A1F9-99F4-761EA2A61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D6767D8B-A2C2-5212-AF99-A6221E36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6" y="3010206"/>
            <a:ext cx="10914994" cy="675970"/>
          </a:xfrm>
        </p:spPr>
        <p:txBody>
          <a:bodyPr/>
          <a:lstStyle/>
          <a:p>
            <a:r>
              <a:rPr lang="en-US" altLang="zh-TW" sz="3600" dirty="0"/>
              <a:t>7.3 </a:t>
            </a:r>
            <a:r>
              <a:rPr lang="zh-TW" altLang="en-US" sz="3600" dirty="0"/>
              <a:t>批次移轉</a:t>
            </a:r>
            <a:r>
              <a:rPr lang="en-US" altLang="zh-TW" sz="3600" dirty="0"/>
              <a:t>/</a:t>
            </a:r>
            <a:r>
              <a:rPr lang="zh-TW" altLang="en-US" sz="3600" dirty="0"/>
              <a:t>代理人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代理人設定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831764380"/>
      </p:ext>
    </p:extLst>
  </p:cSld>
  <p:clrMapOvr>
    <a:masterClrMapping/>
  </p:clrMapOvr>
  <p:transition>
    <p:fade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C14FA-35D4-E60E-FD70-6563DFE81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E040-255C-2C16-FD34-CA880D157EC3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代理人設定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新增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(1/5)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EB70F86-19DB-B0FE-5040-8DB1CE02E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78" y="1744321"/>
            <a:ext cx="11264594" cy="382318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3483B8EC-B8F9-ED48-CA46-0F6FB980AA42}"/>
              </a:ext>
            </a:extLst>
          </p:cNvPr>
          <p:cNvSpPr/>
          <p:nvPr/>
        </p:nvSpPr>
        <p:spPr bwMode="gray">
          <a:xfrm>
            <a:off x="5666489" y="970621"/>
            <a:ext cx="6030456" cy="611146"/>
          </a:xfrm>
          <a:prstGeom prst="wedgeRoundRectCallout">
            <a:avLst>
              <a:gd name="adj1" fmla="val 48066"/>
              <a:gd name="adj2" fmla="val 3615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代理人設定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只能設定和查詢自己的資料</a:t>
            </a:r>
          </a:p>
        </p:txBody>
      </p:sp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84CFDBBF-4681-7AB3-76D3-608D803B438A}"/>
              </a:ext>
            </a:extLst>
          </p:cNvPr>
          <p:cNvSpPr/>
          <p:nvPr/>
        </p:nvSpPr>
        <p:spPr bwMode="gray">
          <a:xfrm>
            <a:off x="2910185" y="3426592"/>
            <a:ext cx="2970529" cy="793377"/>
          </a:xfrm>
          <a:prstGeom prst="wedgeRoundRectCallout">
            <a:avLst>
              <a:gd name="adj1" fmla="val -64923"/>
              <a:gd name="adj2" fmla="val -1150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: 圓角 27">
            <a:extLst>
              <a:ext uri="{FF2B5EF4-FFF2-40B4-BE49-F238E27FC236}">
                <a16:creationId xmlns:a16="http://schemas.microsoft.com/office/drawing/2014/main" id="{849BDE1D-36BF-892C-E244-B1B3CA352508}"/>
              </a:ext>
            </a:extLst>
          </p:cNvPr>
          <p:cNvSpPr/>
          <p:nvPr/>
        </p:nvSpPr>
        <p:spPr>
          <a:xfrm>
            <a:off x="1519187" y="3567023"/>
            <a:ext cx="939879" cy="512517"/>
          </a:xfrm>
          <a:prstGeom prst="roundRect">
            <a:avLst>
              <a:gd name="adj" fmla="val 2189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5953736"/>
      </p:ext>
    </p:extLst>
  </p:cSld>
  <p:clrMapOvr>
    <a:masterClrMapping/>
  </p:clrMapOvr>
  <p:transition>
    <p:fade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D10D2-99FA-2D34-B90C-30191AC2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3A59-7AA1-11DB-03D6-7A08BF8DA16C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代理人設定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新增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(2/5)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224EE65-3502-6D5F-79E3-5F2822AEF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94" y="1335448"/>
            <a:ext cx="8682086" cy="442921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ADC63DB1-E60D-11B4-DD4A-002CB6C831EE}"/>
              </a:ext>
            </a:extLst>
          </p:cNvPr>
          <p:cNvSpPr/>
          <p:nvPr/>
        </p:nvSpPr>
        <p:spPr bwMode="gray">
          <a:xfrm>
            <a:off x="5874166" y="1756764"/>
            <a:ext cx="2608469" cy="697308"/>
          </a:xfrm>
          <a:prstGeom prst="wedgeRoundRectCallout">
            <a:avLst>
              <a:gd name="adj1" fmla="val -47437"/>
              <a:gd name="adj2" fmla="val 8573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輸入資料</a:t>
            </a:r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17C50FF8-122D-32FA-CA64-DDE989B4745D}"/>
              </a:ext>
            </a:extLst>
          </p:cNvPr>
          <p:cNvSpPr/>
          <p:nvPr/>
        </p:nvSpPr>
        <p:spPr bwMode="gray">
          <a:xfrm>
            <a:off x="6533483" y="5067353"/>
            <a:ext cx="3011235" cy="697308"/>
          </a:xfrm>
          <a:prstGeom prst="wedgeRoundRectCallout">
            <a:avLst>
              <a:gd name="adj1" fmla="val -67827"/>
              <a:gd name="adj2" fmla="val -50140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: 圓角 27">
            <a:extLst>
              <a:ext uri="{FF2B5EF4-FFF2-40B4-BE49-F238E27FC236}">
                <a16:creationId xmlns:a16="http://schemas.microsoft.com/office/drawing/2014/main" id="{B555DB63-142D-524E-50F9-19063694ADDE}"/>
              </a:ext>
            </a:extLst>
          </p:cNvPr>
          <p:cNvSpPr/>
          <p:nvPr/>
        </p:nvSpPr>
        <p:spPr>
          <a:xfrm>
            <a:off x="991960" y="2708113"/>
            <a:ext cx="7796440" cy="1965487"/>
          </a:xfrm>
          <a:prstGeom prst="roundRect">
            <a:avLst>
              <a:gd name="adj" fmla="val 218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: 圓角 27">
            <a:extLst>
              <a:ext uri="{FF2B5EF4-FFF2-40B4-BE49-F238E27FC236}">
                <a16:creationId xmlns:a16="http://schemas.microsoft.com/office/drawing/2014/main" id="{01636F2B-F3E1-4BD8-FF35-902F9766AFB7}"/>
              </a:ext>
            </a:extLst>
          </p:cNvPr>
          <p:cNvSpPr/>
          <p:nvPr/>
        </p:nvSpPr>
        <p:spPr>
          <a:xfrm>
            <a:off x="4951006" y="4910077"/>
            <a:ext cx="1034928" cy="550923"/>
          </a:xfrm>
          <a:prstGeom prst="roundRect">
            <a:avLst>
              <a:gd name="adj" fmla="val 2189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1354470"/>
      </p:ext>
    </p:extLst>
  </p:cSld>
  <p:clrMapOvr>
    <a:masterClrMapping/>
  </p:clrMapOvr>
  <p:transition>
    <p:fade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D374-51EC-CDA8-A0BF-ED050126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D0E9ED2-84B8-4360-5A5C-58AE74813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22" y="1758281"/>
            <a:ext cx="11414224" cy="3533386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3B53E1-C816-76EC-4E24-52E0BF73482C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代理人設定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新增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(3/5)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04D12CBC-8B15-4040-B522-95B86737DF2B}"/>
              </a:ext>
            </a:extLst>
          </p:cNvPr>
          <p:cNvSpPr/>
          <p:nvPr/>
        </p:nvSpPr>
        <p:spPr bwMode="gray">
          <a:xfrm>
            <a:off x="5852082" y="2081321"/>
            <a:ext cx="5908040" cy="1147654"/>
          </a:xfrm>
          <a:prstGeom prst="wedgeRoundRectCallout">
            <a:avLst>
              <a:gd name="adj1" fmla="val 21577"/>
              <a:gd name="adj2" fmla="val 8206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代理資訊生效後，代理人可於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待審清單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看到請假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出差者的待審件</a:t>
            </a:r>
          </a:p>
        </p:txBody>
      </p:sp>
      <p:sp>
        <p:nvSpPr>
          <p:cNvPr id="10" name="矩形: 圓角 27">
            <a:extLst>
              <a:ext uri="{FF2B5EF4-FFF2-40B4-BE49-F238E27FC236}">
                <a16:creationId xmlns:a16="http://schemas.microsoft.com/office/drawing/2014/main" id="{7252707A-4C35-1114-5443-A896F762AD50}"/>
              </a:ext>
            </a:extLst>
          </p:cNvPr>
          <p:cNvSpPr/>
          <p:nvPr/>
        </p:nvSpPr>
        <p:spPr>
          <a:xfrm>
            <a:off x="460455" y="3609975"/>
            <a:ext cx="11271092" cy="1681692"/>
          </a:xfrm>
          <a:prstGeom prst="roundRect">
            <a:avLst>
              <a:gd name="adj" fmla="val 218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4319909"/>
      </p:ext>
    </p:extLst>
  </p:cSld>
  <p:clrMapOvr>
    <a:masterClrMapping/>
  </p:clrMapOvr>
  <p:transition>
    <p:fade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2D4A4-EF06-03CE-3418-CAFE8C9C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317F1EA-B90E-21AB-3BDC-ADE208E34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58" y="1204621"/>
            <a:ext cx="10963483" cy="4601159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B52DD3-ECF7-7589-7D27-B5C1B268268A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代理人設定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新增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(4/5)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6A4F0DA5-44D3-61A8-1462-039899ABB76E}"/>
              </a:ext>
            </a:extLst>
          </p:cNvPr>
          <p:cNvSpPr/>
          <p:nvPr/>
        </p:nvSpPr>
        <p:spPr bwMode="gray">
          <a:xfrm>
            <a:off x="2935817" y="5028956"/>
            <a:ext cx="6005092" cy="1000486"/>
          </a:xfrm>
          <a:prstGeom prst="wedgeRoundRectCallout">
            <a:avLst>
              <a:gd name="adj1" fmla="val 62130"/>
              <a:gd name="adj2" fmla="val -823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當代理人完成審核後，會在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審核紀錄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頁籤顯示代理人資訊</a:t>
            </a:r>
          </a:p>
        </p:txBody>
      </p:sp>
      <p:sp>
        <p:nvSpPr>
          <p:cNvPr id="10" name="矩形: 圓角 27">
            <a:extLst>
              <a:ext uri="{FF2B5EF4-FFF2-40B4-BE49-F238E27FC236}">
                <a16:creationId xmlns:a16="http://schemas.microsoft.com/office/drawing/2014/main" id="{AD0F7C90-6373-6ED2-835C-E5970A6DFB71}"/>
              </a:ext>
            </a:extLst>
          </p:cNvPr>
          <p:cNvSpPr/>
          <p:nvPr/>
        </p:nvSpPr>
        <p:spPr>
          <a:xfrm>
            <a:off x="9695121" y="4544924"/>
            <a:ext cx="733646" cy="1108456"/>
          </a:xfrm>
          <a:prstGeom prst="roundRect">
            <a:avLst>
              <a:gd name="adj" fmla="val 218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7278544"/>
      </p:ext>
    </p:extLst>
  </p:cSld>
  <p:clrMapOvr>
    <a:masterClrMapping/>
  </p:clrMapOvr>
  <p:transition>
    <p:fade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5F32-E92A-486D-5E60-EB1D5783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75BC6-FC78-2523-BB6E-B86DD459219F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代理人設定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註銷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(5/5)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AB162A7-02BD-3767-141F-7ED73CBA1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44" y="2037355"/>
            <a:ext cx="10830206" cy="367875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6744DC61-6ABC-2997-B57E-F9E544C63F14}"/>
              </a:ext>
            </a:extLst>
          </p:cNvPr>
          <p:cNvSpPr/>
          <p:nvPr/>
        </p:nvSpPr>
        <p:spPr>
          <a:xfrm>
            <a:off x="1513155" y="5135057"/>
            <a:ext cx="395437" cy="43242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225AF4D6-AD0D-B3F1-CEE3-57847A500E05}"/>
              </a:ext>
            </a:extLst>
          </p:cNvPr>
          <p:cNvSpPr/>
          <p:nvPr/>
        </p:nvSpPr>
        <p:spPr bwMode="gray">
          <a:xfrm>
            <a:off x="2268167" y="5626106"/>
            <a:ext cx="6589594" cy="919044"/>
          </a:xfrm>
          <a:prstGeom prst="wedgeRoundRectCallout">
            <a:avLst>
              <a:gd name="adj1" fmla="val -56939"/>
              <a:gd name="adj2" fmla="val -5457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註銷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狀態為「待生效」或「代理中」時才可以註銷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FB15DD3-6DDB-D500-B257-38A01DB54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436" y="1020142"/>
            <a:ext cx="6266107" cy="324306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D8B9824D-C1E4-8633-2C2C-E97249A818AB}"/>
              </a:ext>
            </a:extLst>
          </p:cNvPr>
          <p:cNvSpPr/>
          <p:nvPr/>
        </p:nvSpPr>
        <p:spPr>
          <a:xfrm>
            <a:off x="5299902" y="2300398"/>
            <a:ext cx="5916315" cy="96043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A7985D9-EDF1-21F3-B353-8210BC5946CA}"/>
              </a:ext>
            </a:extLst>
          </p:cNvPr>
          <p:cNvSpPr/>
          <p:nvPr/>
        </p:nvSpPr>
        <p:spPr>
          <a:xfrm>
            <a:off x="8284303" y="3498474"/>
            <a:ext cx="967647" cy="48787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EADA22C3-B550-6524-FFC0-D6F20F2F002A}"/>
              </a:ext>
            </a:extLst>
          </p:cNvPr>
          <p:cNvSpPr/>
          <p:nvPr/>
        </p:nvSpPr>
        <p:spPr bwMode="gray">
          <a:xfrm>
            <a:off x="7351635" y="1357686"/>
            <a:ext cx="3368396" cy="699783"/>
          </a:xfrm>
          <a:prstGeom prst="wedgeRoundRectCallout">
            <a:avLst>
              <a:gd name="adj1" fmla="val -38597"/>
              <a:gd name="adj2" fmla="val 8223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填寫註銷原因</a:t>
            </a:r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67A07493-E90D-8BE1-A04F-EADE187B9D33}"/>
              </a:ext>
            </a:extLst>
          </p:cNvPr>
          <p:cNvSpPr/>
          <p:nvPr/>
        </p:nvSpPr>
        <p:spPr bwMode="gray">
          <a:xfrm>
            <a:off x="5205700" y="4073332"/>
            <a:ext cx="3035789" cy="689635"/>
          </a:xfrm>
          <a:prstGeom prst="wedgeRoundRectCallout">
            <a:avLst>
              <a:gd name="adj1" fmla="val 50484"/>
              <a:gd name="adj2" fmla="val -9680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4622380"/>
      </p:ext>
    </p:extLst>
  </p:cSld>
  <p:clrMapOvr>
    <a:masterClrMapping/>
  </p:clrMapOvr>
  <p:transition>
    <p:fade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520F-5460-B035-E1F0-FF9F22D3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9C1E8E46-1920-27E4-C249-E53602FD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6" y="3010206"/>
            <a:ext cx="10914994" cy="675970"/>
          </a:xfrm>
        </p:spPr>
        <p:txBody>
          <a:bodyPr/>
          <a:lstStyle/>
          <a:p>
            <a:r>
              <a:rPr lang="en-US" altLang="zh-TW" sz="3600" dirty="0"/>
              <a:t>7.4 </a:t>
            </a:r>
            <a:r>
              <a:rPr lang="zh-TW" altLang="en-US" sz="3600" dirty="0"/>
              <a:t>批次移轉</a:t>
            </a:r>
            <a:r>
              <a:rPr lang="en-US" altLang="zh-TW" sz="3600" dirty="0"/>
              <a:t>/</a:t>
            </a:r>
            <a:r>
              <a:rPr lang="zh-TW" altLang="en-US" sz="3600" dirty="0"/>
              <a:t>代理人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代理人查詢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36753904"/>
      </p:ext>
    </p:extLst>
  </p:cSld>
  <p:clrMapOvr>
    <a:masterClrMapping/>
  </p:clrMapOvr>
  <p:transition>
    <p:fade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0599D-99C0-0A5C-B1D3-11669C6C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0287D-8F3F-9887-ECD1-58ABFBD22E88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7.4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代理人查詢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8D0A02-FCC3-040A-45E0-25191E2F0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98" y="1796795"/>
            <a:ext cx="11153553" cy="418071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E47D08E6-D1B7-F9D6-A03C-19DF50ED9388}"/>
              </a:ext>
            </a:extLst>
          </p:cNvPr>
          <p:cNvSpPr/>
          <p:nvPr/>
        </p:nvSpPr>
        <p:spPr>
          <a:xfrm>
            <a:off x="585897" y="2349557"/>
            <a:ext cx="8380938" cy="169455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圓角矩形圖說文字 7">
            <a:extLst>
              <a:ext uri="{FF2B5EF4-FFF2-40B4-BE49-F238E27FC236}">
                <a16:creationId xmlns:a16="http://schemas.microsoft.com/office/drawing/2014/main" id="{69B792A2-A918-0362-5E51-31F59FFE5CEE}"/>
              </a:ext>
            </a:extLst>
          </p:cNvPr>
          <p:cNvSpPr/>
          <p:nvPr/>
        </p:nvSpPr>
        <p:spPr>
          <a:xfrm>
            <a:off x="2114877" y="4216013"/>
            <a:ext cx="3043617" cy="761711"/>
          </a:xfrm>
          <a:prstGeom prst="wedgeRoundRectCallout">
            <a:avLst>
              <a:gd name="adj1" fmla="val -65715"/>
              <a:gd name="adj2" fmla="val -1869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查詢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833548F-5882-3118-7B7F-128EBF624518}"/>
              </a:ext>
            </a:extLst>
          </p:cNvPr>
          <p:cNvSpPr/>
          <p:nvPr/>
        </p:nvSpPr>
        <p:spPr>
          <a:xfrm>
            <a:off x="696595" y="4145707"/>
            <a:ext cx="924560" cy="49724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C1F099A1-95EA-2132-B0B0-4AAF8EDDFA85}"/>
              </a:ext>
            </a:extLst>
          </p:cNvPr>
          <p:cNvSpPr/>
          <p:nvPr/>
        </p:nvSpPr>
        <p:spPr bwMode="gray">
          <a:xfrm>
            <a:off x="2808321" y="937716"/>
            <a:ext cx="5473496" cy="699783"/>
          </a:xfrm>
          <a:prstGeom prst="wedgeRoundRectCallout">
            <a:avLst>
              <a:gd name="adj1" fmla="val -46989"/>
              <a:gd name="adj2" fmla="val 10717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只有部門管理者與系統管理者有此功能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6907871-896C-FDB4-F0C5-A45041BCE55E}"/>
              </a:ext>
            </a:extLst>
          </p:cNvPr>
          <p:cNvSpPr/>
          <p:nvPr/>
        </p:nvSpPr>
        <p:spPr>
          <a:xfrm>
            <a:off x="585897" y="1789694"/>
            <a:ext cx="2400478" cy="38516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AA064B47-9956-3B82-B84C-EF1A6D93C9EA}"/>
              </a:ext>
            </a:extLst>
          </p:cNvPr>
          <p:cNvSpPr/>
          <p:nvPr/>
        </p:nvSpPr>
        <p:spPr bwMode="gray">
          <a:xfrm>
            <a:off x="8761715" y="1373393"/>
            <a:ext cx="3145821" cy="699783"/>
          </a:xfrm>
          <a:prstGeom prst="wedgeRoundRectCallout">
            <a:avLst>
              <a:gd name="adj1" fmla="val -47208"/>
              <a:gd name="adj2" fmla="val 8682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輸入查詢條件</a:t>
            </a:r>
          </a:p>
        </p:txBody>
      </p:sp>
    </p:spTree>
    <p:extLst>
      <p:ext uri="{BB962C8B-B14F-4D97-AF65-F5344CB8AC3E}">
        <p14:creationId xmlns:p14="http://schemas.microsoft.com/office/powerpoint/2010/main" val="2573348070"/>
      </p:ext>
    </p:extLst>
  </p:cSld>
  <p:clrMapOvr>
    <a:masterClrMapping/>
  </p:clrMapOvr>
  <p:transition>
    <p:fade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C84A-7DA0-F5BF-85D9-3FF38CBE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9225937C-3EF3-806E-5FF1-1FCCC3F9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6" y="3010206"/>
            <a:ext cx="10914994" cy="675970"/>
          </a:xfrm>
        </p:spPr>
        <p:txBody>
          <a:bodyPr/>
          <a:lstStyle/>
          <a:p>
            <a:r>
              <a:rPr lang="en-US" altLang="zh-TW" sz="3600" dirty="0"/>
              <a:t>8.1 OCR</a:t>
            </a:r>
            <a:r>
              <a:rPr lang="zh-TW" altLang="en-US" sz="3600" dirty="0"/>
              <a:t>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【OCR</a:t>
            </a:r>
            <a:r>
              <a:rPr lang="zh-TW" altLang="en-US" sz="4400" dirty="0"/>
              <a:t>轉檔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173074431"/>
      </p:ext>
    </p:extLst>
  </p:cSld>
  <p:clrMapOvr>
    <a:masterClrMapping/>
  </p:clrMapOvr>
  <p:transition>
    <p:fade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E486AD0-DA2C-4167-5981-A4FA4430F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75" y="889920"/>
            <a:ext cx="7728621" cy="570800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C354931-8B3A-BEB4-E7AA-58F280F961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34" r="2317" b="3815"/>
          <a:stretch/>
        </p:blipFill>
        <p:spPr>
          <a:xfrm>
            <a:off x="5978448" y="746542"/>
            <a:ext cx="5614233" cy="2055298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1BB3986-C524-7606-ACFA-F4E88DF9F692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8.1 【OCR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轉檔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(1/2)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9776075-D46E-B6E8-0767-DB6E06258CD0}"/>
              </a:ext>
            </a:extLst>
          </p:cNvPr>
          <p:cNvSpPr/>
          <p:nvPr/>
        </p:nvSpPr>
        <p:spPr>
          <a:xfrm>
            <a:off x="540917" y="1835191"/>
            <a:ext cx="4324087" cy="228857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圓角矩形圖說文字 51">
            <a:extLst>
              <a:ext uri="{FF2B5EF4-FFF2-40B4-BE49-F238E27FC236}">
                <a16:creationId xmlns:a16="http://schemas.microsoft.com/office/drawing/2014/main" id="{BD50200B-6115-0ADA-EF2D-BCD29D840108}"/>
              </a:ext>
            </a:extLst>
          </p:cNvPr>
          <p:cNvSpPr/>
          <p:nvPr/>
        </p:nvSpPr>
        <p:spPr bwMode="gray">
          <a:xfrm>
            <a:off x="5356389" y="2979478"/>
            <a:ext cx="4594433" cy="1247362"/>
          </a:xfrm>
          <a:prstGeom prst="wedgeRoundRectCallout">
            <a:avLst>
              <a:gd name="adj1" fmla="val -60355"/>
              <a:gd name="adj2" fmla="val -3342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透過拖曳或點擊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瀏覽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的方式選擇要轉換的掃描檔案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7DEF8E1-0F08-7A59-6EDE-63F63A0735E1}"/>
              </a:ext>
            </a:extLst>
          </p:cNvPr>
          <p:cNvSpPr/>
          <p:nvPr/>
        </p:nvSpPr>
        <p:spPr>
          <a:xfrm>
            <a:off x="424247" y="5562060"/>
            <a:ext cx="1807965" cy="41842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圓角矩形圖說文字 51">
            <a:extLst>
              <a:ext uri="{FF2B5EF4-FFF2-40B4-BE49-F238E27FC236}">
                <a16:creationId xmlns:a16="http://schemas.microsoft.com/office/drawing/2014/main" id="{0B135E09-285A-3E0F-2194-E0926253F17C}"/>
              </a:ext>
            </a:extLst>
          </p:cNvPr>
          <p:cNvSpPr/>
          <p:nvPr/>
        </p:nvSpPr>
        <p:spPr bwMode="gray">
          <a:xfrm>
            <a:off x="2232212" y="6007650"/>
            <a:ext cx="2963174" cy="792000"/>
          </a:xfrm>
          <a:prstGeom prst="wedgeRoundRectCallout">
            <a:avLst>
              <a:gd name="adj1" fmla="val -77086"/>
              <a:gd name="adj2" fmla="val -738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轉換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7E9A9CE-4A08-3FAF-92A7-7A091A103E9F}"/>
              </a:ext>
            </a:extLst>
          </p:cNvPr>
          <p:cNvSpPr/>
          <p:nvPr/>
        </p:nvSpPr>
        <p:spPr>
          <a:xfrm>
            <a:off x="486032" y="6118840"/>
            <a:ext cx="912461" cy="47908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圓角矩形圖說文字 51">
            <a:extLst>
              <a:ext uri="{FF2B5EF4-FFF2-40B4-BE49-F238E27FC236}">
                <a16:creationId xmlns:a16="http://schemas.microsoft.com/office/drawing/2014/main" id="{F25BE106-3847-868C-DB6C-181F44D5EE11}"/>
              </a:ext>
            </a:extLst>
          </p:cNvPr>
          <p:cNvSpPr/>
          <p:nvPr/>
        </p:nvSpPr>
        <p:spPr bwMode="gray">
          <a:xfrm>
            <a:off x="2692714" y="5099773"/>
            <a:ext cx="3823988" cy="792000"/>
          </a:xfrm>
          <a:prstGeom prst="wedgeRoundRectCallout">
            <a:avLst>
              <a:gd name="adj1" fmla="val -61455"/>
              <a:gd name="adj2" fmla="val 2479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選擇合約中的語言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圓角矩形圖說文字 51">
            <a:extLst>
              <a:ext uri="{FF2B5EF4-FFF2-40B4-BE49-F238E27FC236}">
                <a16:creationId xmlns:a16="http://schemas.microsoft.com/office/drawing/2014/main" id="{52E7A784-55F6-7089-9DAB-873DB74682B8}"/>
              </a:ext>
            </a:extLst>
          </p:cNvPr>
          <p:cNvSpPr/>
          <p:nvPr/>
        </p:nvSpPr>
        <p:spPr bwMode="gray">
          <a:xfrm>
            <a:off x="7056892" y="1957695"/>
            <a:ext cx="2963174" cy="792000"/>
          </a:xfrm>
          <a:prstGeom prst="wedgeRoundRectCallout">
            <a:avLst>
              <a:gd name="adj1" fmla="val 66243"/>
              <a:gd name="adj2" fmla="val -3582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確定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E0ADB764-8812-E119-CD33-0B1316903B72}"/>
              </a:ext>
            </a:extLst>
          </p:cNvPr>
          <p:cNvSpPr/>
          <p:nvPr/>
        </p:nvSpPr>
        <p:spPr>
          <a:xfrm>
            <a:off x="10499851" y="1957695"/>
            <a:ext cx="1107169" cy="72720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713858"/>
      </p:ext>
    </p:extLst>
  </p:cSld>
  <p:clrMapOvr>
    <a:masterClrMapping/>
  </p:clrMapOvr>
  <p:transition>
    <p:fade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3EDE7C7-13DA-77A7-ED88-4F2F893974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55" t="9529" b="6074"/>
          <a:stretch/>
        </p:blipFill>
        <p:spPr>
          <a:xfrm>
            <a:off x="649101" y="764182"/>
            <a:ext cx="9496554" cy="551475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AA82C161-E40B-3F5D-0774-7B112DA6FAC5}"/>
              </a:ext>
            </a:extLst>
          </p:cNvPr>
          <p:cNvSpPr/>
          <p:nvPr/>
        </p:nvSpPr>
        <p:spPr>
          <a:xfrm>
            <a:off x="1532326" y="5227928"/>
            <a:ext cx="1920581" cy="28636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BB3986-C524-7606-ACFA-F4E88DF9F692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8.1 【OCR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轉檔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(2/2)</a:t>
            </a:r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1240BDCA-DDF1-6E0B-A58F-2F1A5451066B}"/>
              </a:ext>
            </a:extLst>
          </p:cNvPr>
          <p:cNvSpPr/>
          <p:nvPr/>
        </p:nvSpPr>
        <p:spPr bwMode="gray">
          <a:xfrm>
            <a:off x="4408959" y="4223961"/>
            <a:ext cx="5613583" cy="1425799"/>
          </a:xfrm>
          <a:prstGeom prst="wedgeRoundRectCallout">
            <a:avLst>
              <a:gd name="adj1" fmla="val -66984"/>
              <a:gd name="adj2" fmla="val 28126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收到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OCR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通知信後，可以點擊檔名進入系統，以查看轉檔結果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轉檔紀錄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1918506"/>
      </p:ext>
    </p:extLst>
  </p:cSld>
  <p:clrMapOvr>
    <a:masterClrMapping/>
  </p:clrMapOvr>
  <p:transition>
    <p:fade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003BA-5CE4-C032-C084-261DCE1E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B48618A-D601-2A55-5740-45CAA71C3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6" y="3010206"/>
            <a:ext cx="10914994" cy="675970"/>
          </a:xfrm>
        </p:spPr>
        <p:txBody>
          <a:bodyPr/>
          <a:lstStyle/>
          <a:p>
            <a:r>
              <a:rPr lang="en-US" altLang="zh-TW" sz="3600" dirty="0"/>
              <a:t>8.2 OCR</a:t>
            </a:r>
            <a:r>
              <a:rPr lang="zh-TW" altLang="en-US" sz="3600" dirty="0"/>
              <a:t>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文字校正設定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283817442"/>
      </p:ext>
    </p:extLst>
  </p:cSld>
  <p:clrMapOvr>
    <a:masterClrMapping/>
  </p:clrMapOvr>
  <p:transition>
    <p:fade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BB3986-C524-7606-ACFA-F4E88DF9F692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8.2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文字校正設定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FB82E77-CE0E-30E3-A823-FDE280213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43" y="983347"/>
            <a:ext cx="8924545" cy="550993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25D5E72-C6D8-A1EF-0BFB-7791BE0FA27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79" r="1575"/>
          <a:stretch/>
        </p:blipFill>
        <p:spPr>
          <a:xfrm>
            <a:off x="5567294" y="690584"/>
            <a:ext cx="6086612" cy="3103358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9BF8CDA6-D252-8E63-66FD-36ACD77353AE}"/>
              </a:ext>
            </a:extLst>
          </p:cNvPr>
          <p:cNvSpPr/>
          <p:nvPr/>
        </p:nvSpPr>
        <p:spPr>
          <a:xfrm>
            <a:off x="2021585" y="3197250"/>
            <a:ext cx="1195898" cy="64900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88B422B-7831-FBFC-979B-35550F5EE5C0}"/>
              </a:ext>
            </a:extLst>
          </p:cNvPr>
          <p:cNvSpPr/>
          <p:nvPr/>
        </p:nvSpPr>
        <p:spPr>
          <a:xfrm>
            <a:off x="2462106" y="4610869"/>
            <a:ext cx="3143036" cy="1882414"/>
          </a:xfrm>
          <a:prstGeom prst="roundRect">
            <a:avLst>
              <a:gd name="adj" fmla="val 2760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6779E4D8-0C35-7BB9-6E6A-BAD151B2F89B}"/>
              </a:ext>
            </a:extLst>
          </p:cNvPr>
          <p:cNvSpPr/>
          <p:nvPr/>
        </p:nvSpPr>
        <p:spPr bwMode="gray">
          <a:xfrm>
            <a:off x="5814499" y="5601884"/>
            <a:ext cx="4574314" cy="975600"/>
          </a:xfrm>
          <a:prstGeom prst="wedgeRoundRectCallout">
            <a:avLst>
              <a:gd name="adj1" fmla="val -55051"/>
              <a:gd name="adj2" fmla="val -8911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轉檔紀錄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的校正文字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以提升圖檔合約中的文字辨識率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740DB4A-604E-3EA7-422F-59D3D78C2C79}"/>
              </a:ext>
            </a:extLst>
          </p:cNvPr>
          <p:cNvSpPr/>
          <p:nvPr/>
        </p:nvSpPr>
        <p:spPr>
          <a:xfrm>
            <a:off x="5745555" y="1953687"/>
            <a:ext cx="5730089" cy="75627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D14E956-F41A-566C-BEB7-CF1043F8440D}"/>
              </a:ext>
            </a:extLst>
          </p:cNvPr>
          <p:cNvSpPr/>
          <p:nvPr/>
        </p:nvSpPr>
        <p:spPr>
          <a:xfrm>
            <a:off x="8623910" y="3116305"/>
            <a:ext cx="1009607" cy="59431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圓角矩形圖說文字 51">
            <a:extLst>
              <a:ext uri="{FF2B5EF4-FFF2-40B4-BE49-F238E27FC236}">
                <a16:creationId xmlns:a16="http://schemas.microsoft.com/office/drawing/2014/main" id="{BAB6BD3E-460B-844F-785F-9D313DC87339}"/>
              </a:ext>
            </a:extLst>
          </p:cNvPr>
          <p:cNvSpPr/>
          <p:nvPr/>
        </p:nvSpPr>
        <p:spPr bwMode="gray">
          <a:xfrm>
            <a:off x="8136245" y="846049"/>
            <a:ext cx="3159968" cy="792000"/>
          </a:xfrm>
          <a:prstGeom prst="wedgeRoundRectCallout">
            <a:avLst>
              <a:gd name="adj1" fmla="val -47810"/>
              <a:gd name="adj2" fmla="val 8774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輸入校正文字</a:t>
            </a:r>
          </a:p>
        </p:txBody>
      </p:sp>
      <p:sp>
        <p:nvSpPr>
          <p:cNvPr id="14" name="圓角矩形圖說文字 51">
            <a:extLst>
              <a:ext uri="{FF2B5EF4-FFF2-40B4-BE49-F238E27FC236}">
                <a16:creationId xmlns:a16="http://schemas.microsoft.com/office/drawing/2014/main" id="{63827E43-CB7C-9877-ADFA-DFCBF9E058D7}"/>
              </a:ext>
            </a:extLst>
          </p:cNvPr>
          <p:cNvSpPr/>
          <p:nvPr/>
        </p:nvSpPr>
        <p:spPr bwMode="gray">
          <a:xfrm>
            <a:off x="8842575" y="4010603"/>
            <a:ext cx="3060440" cy="792000"/>
          </a:xfrm>
          <a:prstGeom prst="wedgeRoundRectCallout">
            <a:avLst>
              <a:gd name="adj1" fmla="val -42211"/>
              <a:gd name="adj2" fmla="val -8481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圓角矩形圖說文字 51">
            <a:extLst>
              <a:ext uri="{FF2B5EF4-FFF2-40B4-BE49-F238E27FC236}">
                <a16:creationId xmlns:a16="http://schemas.microsoft.com/office/drawing/2014/main" id="{C0EDF489-4C75-7504-C416-59287C20B52F}"/>
              </a:ext>
            </a:extLst>
          </p:cNvPr>
          <p:cNvSpPr/>
          <p:nvPr/>
        </p:nvSpPr>
        <p:spPr bwMode="gray">
          <a:xfrm>
            <a:off x="3519293" y="3367864"/>
            <a:ext cx="3060440" cy="792000"/>
          </a:xfrm>
          <a:prstGeom prst="wedgeRoundRectCallout">
            <a:avLst>
              <a:gd name="adj1" fmla="val -59635"/>
              <a:gd name="adj2" fmla="val -38972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2576428"/>
      </p:ext>
    </p:extLst>
  </p:cSld>
  <p:clrMapOvr>
    <a:masterClrMapping/>
  </p:clrMapOvr>
  <p:transition>
    <p:fade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BC5B7-EB0F-4FD1-9EBD-DE338B4F2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9D2DE76F-2F4C-18C6-137D-62E51CDF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6" y="3010206"/>
            <a:ext cx="10914994" cy="675970"/>
          </a:xfrm>
        </p:spPr>
        <p:txBody>
          <a:bodyPr/>
          <a:lstStyle/>
          <a:p>
            <a:r>
              <a:rPr lang="en-US" altLang="zh-TW" sz="3600" dirty="0"/>
              <a:t>8.3 OCR</a:t>
            </a:r>
            <a:r>
              <a:rPr lang="zh-TW" altLang="en-US" sz="3600" dirty="0"/>
              <a:t>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轉檔紀錄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821623866"/>
      </p:ext>
    </p:extLst>
  </p:cSld>
  <p:clrMapOvr>
    <a:masterClrMapping/>
  </p:clrMapOvr>
  <p:transition>
    <p:fade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8.3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轉檔紀錄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(1/3)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5D942747-849F-29CA-F088-5170385F2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5" y="1199221"/>
            <a:ext cx="11544331" cy="434839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C2BAD609-36AB-58BB-5459-CA691DB815C1}"/>
              </a:ext>
            </a:extLst>
          </p:cNvPr>
          <p:cNvSpPr/>
          <p:nvPr/>
        </p:nvSpPr>
        <p:spPr>
          <a:xfrm>
            <a:off x="830821" y="4769683"/>
            <a:ext cx="353105" cy="32277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F32F4E6-0D41-AF46-15C7-D4CFCA457CCB}"/>
              </a:ext>
            </a:extLst>
          </p:cNvPr>
          <p:cNvSpPr/>
          <p:nvPr/>
        </p:nvSpPr>
        <p:spPr>
          <a:xfrm>
            <a:off x="1554554" y="4762933"/>
            <a:ext cx="353106" cy="32277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41A54F1A-08EA-3027-D3D8-B0E472082A44}"/>
              </a:ext>
            </a:extLst>
          </p:cNvPr>
          <p:cNvSpPr/>
          <p:nvPr/>
        </p:nvSpPr>
        <p:spPr bwMode="gray">
          <a:xfrm>
            <a:off x="2333611" y="4115735"/>
            <a:ext cx="883298" cy="727201"/>
          </a:xfrm>
          <a:prstGeom prst="wedgeRoundRectCallout">
            <a:avLst>
              <a:gd name="adj1" fmla="val -95492"/>
              <a:gd name="adj2" fmla="val 5674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明細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14">
            <a:extLst>
              <a:ext uri="{FF2B5EF4-FFF2-40B4-BE49-F238E27FC236}">
                <a16:creationId xmlns:a16="http://schemas.microsoft.com/office/drawing/2014/main" id="{F198E8E1-3CF3-E3E9-0EF0-4308C820FC66}"/>
              </a:ext>
            </a:extLst>
          </p:cNvPr>
          <p:cNvSpPr/>
          <p:nvPr/>
        </p:nvSpPr>
        <p:spPr>
          <a:xfrm>
            <a:off x="1205915" y="4758167"/>
            <a:ext cx="348639" cy="32486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語音泡泡: 圓角矩形 24">
            <a:extLst>
              <a:ext uri="{FF2B5EF4-FFF2-40B4-BE49-F238E27FC236}">
                <a16:creationId xmlns:a16="http://schemas.microsoft.com/office/drawing/2014/main" id="{7BF2638C-9F39-7399-E0FD-9E64D1597784}"/>
              </a:ext>
            </a:extLst>
          </p:cNvPr>
          <p:cNvSpPr/>
          <p:nvPr/>
        </p:nvSpPr>
        <p:spPr bwMode="gray">
          <a:xfrm>
            <a:off x="1112905" y="3543873"/>
            <a:ext cx="883298" cy="727201"/>
          </a:xfrm>
          <a:prstGeom prst="wedgeRoundRectCallout">
            <a:avLst>
              <a:gd name="adj1" fmla="val -14327"/>
              <a:gd name="adj2" fmla="val 11454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5BDC3362-8F56-4A15-7787-A2C48912FE32}"/>
              </a:ext>
            </a:extLst>
          </p:cNvPr>
          <p:cNvSpPr/>
          <p:nvPr/>
        </p:nvSpPr>
        <p:spPr bwMode="gray">
          <a:xfrm>
            <a:off x="124075" y="3772464"/>
            <a:ext cx="883298" cy="727201"/>
          </a:xfrm>
          <a:prstGeom prst="wedgeRoundRectCallout">
            <a:avLst>
              <a:gd name="adj1" fmla="val 47611"/>
              <a:gd name="adj2" fmla="val 83866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54946790"/>
      </p:ext>
    </p:extLst>
  </p:cSld>
  <p:clrMapOvr>
    <a:masterClrMapping/>
  </p:clrMapOvr>
  <p:transition>
    <p:fade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431CEA54-12C3-C801-E36D-DA31084F0B07}"/>
              </a:ext>
            </a:extLst>
          </p:cNvPr>
          <p:cNvGrpSpPr/>
          <p:nvPr/>
        </p:nvGrpSpPr>
        <p:grpSpPr>
          <a:xfrm>
            <a:off x="4458369" y="175425"/>
            <a:ext cx="7538408" cy="6507150"/>
            <a:chOff x="-641646" y="-961354"/>
            <a:chExt cx="8410296" cy="7069224"/>
          </a:xfr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39B54887-0E54-E3F6-04AE-6BD0DEFE3A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164" r="937"/>
            <a:stretch/>
          </p:blipFill>
          <p:spPr>
            <a:xfrm>
              <a:off x="-641646" y="-961354"/>
              <a:ext cx="8410296" cy="4995828"/>
            </a:xfrm>
            <a:prstGeom prst="rect">
              <a:avLst/>
            </a:prstGeom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CABC1E24-CA4D-ADA0-F579-FCE942AE44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164" r="937"/>
            <a:stretch/>
          </p:blipFill>
          <p:spPr>
            <a:xfrm>
              <a:off x="-641646" y="4009831"/>
              <a:ext cx="8410296" cy="2098039"/>
            </a:xfrm>
            <a:prstGeom prst="rect">
              <a:avLst/>
            </a:prstGeom>
          </p:spPr>
        </p:pic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8.3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轉檔紀錄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修改 </a:t>
            </a:r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         (2/3)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9B9EA25-1803-20D1-8C2C-99D2222D17EF}"/>
              </a:ext>
            </a:extLst>
          </p:cNvPr>
          <p:cNvSpPr/>
          <p:nvPr/>
        </p:nvSpPr>
        <p:spPr>
          <a:xfrm>
            <a:off x="8337176" y="1329339"/>
            <a:ext cx="3478306" cy="197242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語音泡泡: 圓角矩形 3">
            <a:extLst>
              <a:ext uri="{FF2B5EF4-FFF2-40B4-BE49-F238E27FC236}">
                <a16:creationId xmlns:a16="http://schemas.microsoft.com/office/drawing/2014/main" id="{8B395C98-BBCA-908E-77D6-DC164EA63480}"/>
              </a:ext>
            </a:extLst>
          </p:cNvPr>
          <p:cNvSpPr/>
          <p:nvPr/>
        </p:nvSpPr>
        <p:spPr bwMode="gray">
          <a:xfrm>
            <a:off x="4904312" y="1682730"/>
            <a:ext cx="3037698" cy="792000"/>
          </a:xfrm>
          <a:prstGeom prst="wedgeRoundRectCallout">
            <a:avLst>
              <a:gd name="adj1" fmla="val 62110"/>
              <a:gd name="adj2" fmla="val 4921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可編輯校正後的內容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F8598FD-5889-9A42-486C-6C029DFB5CD1}"/>
              </a:ext>
            </a:extLst>
          </p:cNvPr>
          <p:cNvSpPr/>
          <p:nvPr/>
        </p:nvSpPr>
        <p:spPr>
          <a:xfrm>
            <a:off x="4421541" y="3451639"/>
            <a:ext cx="7547403" cy="129892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08C9B3A-6614-D6E7-4CDA-5634F7288710}"/>
              </a:ext>
            </a:extLst>
          </p:cNvPr>
          <p:cNvSpPr/>
          <p:nvPr/>
        </p:nvSpPr>
        <p:spPr>
          <a:xfrm>
            <a:off x="4421540" y="5024033"/>
            <a:ext cx="7547403" cy="62985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940CA5B7-321E-1984-F709-0CD63A215FBE}"/>
              </a:ext>
            </a:extLst>
          </p:cNvPr>
          <p:cNvSpPr/>
          <p:nvPr/>
        </p:nvSpPr>
        <p:spPr bwMode="gray">
          <a:xfrm>
            <a:off x="2077326" y="3219061"/>
            <a:ext cx="2102498" cy="792000"/>
          </a:xfrm>
          <a:prstGeom prst="wedgeRoundRectCallout">
            <a:avLst>
              <a:gd name="adj1" fmla="val 62110"/>
              <a:gd name="adj2" fmla="val 4921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自動校正詞彙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43D21381-7BCB-91C1-8EA8-A8DDB04615C2}"/>
              </a:ext>
            </a:extLst>
          </p:cNvPr>
          <p:cNvSpPr/>
          <p:nvPr/>
        </p:nvSpPr>
        <p:spPr bwMode="gray">
          <a:xfrm>
            <a:off x="2073342" y="4895832"/>
            <a:ext cx="2025522" cy="792000"/>
          </a:xfrm>
          <a:prstGeom prst="wedgeRoundRectCallout">
            <a:avLst>
              <a:gd name="adj1" fmla="val 64874"/>
              <a:gd name="adj2" fmla="val -2500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可編輯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備註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4E2D1E2-1697-00C3-6E16-14793EAE683D}"/>
              </a:ext>
            </a:extLst>
          </p:cNvPr>
          <p:cNvSpPr/>
          <p:nvPr/>
        </p:nvSpPr>
        <p:spPr>
          <a:xfrm>
            <a:off x="7156044" y="6236447"/>
            <a:ext cx="839756" cy="44612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D7C0D7F-467D-D48E-220F-B6EE1748487D}"/>
              </a:ext>
            </a:extLst>
          </p:cNvPr>
          <p:cNvSpPr/>
          <p:nvPr/>
        </p:nvSpPr>
        <p:spPr>
          <a:xfrm>
            <a:off x="7995800" y="6236446"/>
            <a:ext cx="559837" cy="44612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0A45047-5501-8C70-E03D-ABCD4CE92EA5}"/>
              </a:ext>
            </a:extLst>
          </p:cNvPr>
          <p:cNvSpPr/>
          <p:nvPr/>
        </p:nvSpPr>
        <p:spPr>
          <a:xfrm>
            <a:off x="8558446" y="6236446"/>
            <a:ext cx="559837" cy="44612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63BAC46-6689-E8A8-4B58-619BA7C67F41}"/>
              </a:ext>
            </a:extLst>
          </p:cNvPr>
          <p:cNvSpPr/>
          <p:nvPr/>
        </p:nvSpPr>
        <p:spPr>
          <a:xfrm>
            <a:off x="9118284" y="6236445"/>
            <a:ext cx="753220" cy="44612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1446DA43-2F62-92E6-AE4E-DB636CADB8EB}"/>
              </a:ext>
            </a:extLst>
          </p:cNvPr>
          <p:cNvSpPr/>
          <p:nvPr/>
        </p:nvSpPr>
        <p:spPr bwMode="gray">
          <a:xfrm>
            <a:off x="4743913" y="5331470"/>
            <a:ext cx="2704173" cy="792000"/>
          </a:xfrm>
          <a:prstGeom prst="wedgeRoundRectCallout">
            <a:avLst>
              <a:gd name="adj1" fmla="val 38435"/>
              <a:gd name="adj2" fmla="val 7513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線上閱覽原始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957A38B0-39A8-DF77-5ACF-1C483973D7D6}"/>
              </a:ext>
            </a:extLst>
          </p:cNvPr>
          <p:cNvSpPr/>
          <p:nvPr/>
        </p:nvSpPr>
        <p:spPr bwMode="gray">
          <a:xfrm>
            <a:off x="7596527" y="4923916"/>
            <a:ext cx="959110" cy="975600"/>
          </a:xfrm>
          <a:prstGeom prst="wedgeRoundRectCallout">
            <a:avLst>
              <a:gd name="adj1" fmla="val 22832"/>
              <a:gd name="adj2" fmla="val 8392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暫存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FD2439DC-2B24-B166-ADFB-185BA4965E16}"/>
              </a:ext>
            </a:extLst>
          </p:cNvPr>
          <p:cNvSpPr/>
          <p:nvPr/>
        </p:nvSpPr>
        <p:spPr bwMode="gray">
          <a:xfrm>
            <a:off x="8828955" y="4461094"/>
            <a:ext cx="3166230" cy="1270800"/>
          </a:xfrm>
          <a:prstGeom prst="wedgeRoundRectCallout">
            <a:avLst>
              <a:gd name="adj1" fmla="val -50634"/>
              <a:gd name="adj2" fmla="val 8888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下載目前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編輯合約本文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內容的文字檔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(.txt)</a:t>
            </a:r>
          </a:p>
        </p:txBody>
      </p:sp>
      <p:sp>
        <p:nvSpPr>
          <p:cNvPr id="21" name="語音泡泡: 圓角矩形 20">
            <a:extLst>
              <a:ext uri="{FF2B5EF4-FFF2-40B4-BE49-F238E27FC236}">
                <a16:creationId xmlns:a16="http://schemas.microsoft.com/office/drawing/2014/main" id="{51BE07DA-A6EE-57A6-AD68-7239868B3FFA}"/>
              </a:ext>
            </a:extLst>
          </p:cNvPr>
          <p:cNvSpPr/>
          <p:nvPr/>
        </p:nvSpPr>
        <p:spPr bwMode="gray">
          <a:xfrm>
            <a:off x="10351924" y="5994616"/>
            <a:ext cx="1534956" cy="652825"/>
          </a:xfrm>
          <a:prstGeom prst="wedgeRoundRectCallout">
            <a:avLst>
              <a:gd name="adj1" fmla="val -81759"/>
              <a:gd name="adj2" fmla="val 991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轉入系統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6498313"/>
      </p:ext>
    </p:extLst>
  </p:cSld>
  <p:clrMapOvr>
    <a:masterClrMapping/>
  </p:clrMapOvr>
  <p:transition>
    <p:fade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0F3E0E22-5A6D-08BE-2F98-1EC316893B76}"/>
              </a:ext>
            </a:extLst>
          </p:cNvPr>
          <p:cNvGrpSpPr/>
          <p:nvPr/>
        </p:nvGrpSpPr>
        <p:grpSpPr>
          <a:xfrm>
            <a:off x="5394116" y="218642"/>
            <a:ext cx="6001031" cy="6420716"/>
            <a:chOff x="-63797" y="608820"/>
            <a:chExt cx="5678252" cy="6377667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58E464C2-3221-017C-A137-0BCDF36E6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9861"/>
            <a:stretch>
              <a:fillRect/>
            </a:stretch>
          </p:blipFill>
          <p:spPr>
            <a:xfrm>
              <a:off x="-63796" y="608820"/>
              <a:ext cx="5678251" cy="3654836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FD099742-1036-0A4E-DECD-36A5974C9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88" t="29447"/>
            <a:stretch>
              <a:fillRect/>
            </a:stretch>
          </p:blipFill>
          <p:spPr>
            <a:xfrm>
              <a:off x="-63797" y="4263656"/>
              <a:ext cx="5678251" cy="2722831"/>
            </a:xfrm>
            <a:prstGeom prst="rect">
              <a:avLst/>
            </a:prstGeom>
          </p:spPr>
        </p:pic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8.3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轉檔紀錄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轉入系統 </a:t>
            </a:r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         (3/3)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CF169B6-309B-2DF5-5011-E68A14E5523D}"/>
              </a:ext>
            </a:extLst>
          </p:cNvPr>
          <p:cNvSpPr/>
          <p:nvPr/>
        </p:nvSpPr>
        <p:spPr>
          <a:xfrm>
            <a:off x="8337481" y="6225386"/>
            <a:ext cx="676507" cy="40444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3595AF0F-1179-43EE-46F6-6673F4A1E1DD}"/>
              </a:ext>
            </a:extLst>
          </p:cNvPr>
          <p:cNvSpPr/>
          <p:nvPr/>
        </p:nvSpPr>
        <p:spPr bwMode="gray">
          <a:xfrm>
            <a:off x="1016779" y="1411061"/>
            <a:ext cx="4377337" cy="1088328"/>
          </a:xfrm>
          <a:prstGeom prst="wedgeRoundRectCallout">
            <a:avLst>
              <a:gd name="adj1" fmla="val 120340"/>
              <a:gd name="adj2" fmla="val -6190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若合約編號原則有牽涉到日期，則會套用此欄位內容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29474D4D-FCB1-83E8-05A8-1EA3B9199B5A}"/>
              </a:ext>
            </a:extLst>
          </p:cNvPr>
          <p:cNvSpPr/>
          <p:nvPr/>
        </p:nvSpPr>
        <p:spPr bwMode="gray">
          <a:xfrm>
            <a:off x="1457324" y="5301024"/>
            <a:ext cx="3936791" cy="1088329"/>
          </a:xfrm>
          <a:prstGeom prst="wedgeRoundRectCallout">
            <a:avLst>
              <a:gd name="adj1" fmla="val 124022"/>
              <a:gd name="adj2" fmla="val 4838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填寫完畢後送出，即可於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已歸檔合約查詢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查閱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0B8A544-E006-3F41-2DEC-98367F68F4B7}"/>
              </a:ext>
            </a:extLst>
          </p:cNvPr>
          <p:cNvSpPr/>
          <p:nvPr/>
        </p:nvSpPr>
        <p:spPr>
          <a:xfrm>
            <a:off x="8484216" y="952546"/>
            <a:ext cx="2612409" cy="50567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470503"/>
      </p:ext>
    </p:extLst>
  </p:cSld>
  <p:clrMapOvr>
    <a:masterClrMapping/>
  </p:clrMapOvr>
  <p:transition>
    <p:fade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FFAA-951E-899D-0DD7-E96D614C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0B7B5896-00C4-BB10-B84E-4A44FCDD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6" y="3010206"/>
            <a:ext cx="11086444" cy="675970"/>
          </a:xfrm>
        </p:spPr>
        <p:txBody>
          <a:bodyPr/>
          <a:lstStyle/>
          <a:p>
            <a:r>
              <a:rPr lang="en-US" altLang="zh-TW" sz="3600" dirty="0"/>
              <a:t>9.1 </a:t>
            </a:r>
            <a:r>
              <a:rPr lang="zh-TW" altLang="en-US" sz="3600" dirty="0"/>
              <a:t>報表管理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紙本借閱申請統計表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39951210"/>
      </p:ext>
    </p:extLst>
  </p:cSld>
  <p:clrMapOvr>
    <a:masterClrMapping/>
  </p:clrMapOvr>
  <p:transition>
    <p:fade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0CED4-CC74-77B2-0FF6-04639D7C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6E2C126B-03B6-2962-393C-85C9DCE96A44}"/>
              </a:ext>
            </a:extLst>
          </p:cNvPr>
          <p:cNvGrpSpPr/>
          <p:nvPr/>
        </p:nvGrpSpPr>
        <p:grpSpPr>
          <a:xfrm>
            <a:off x="880373" y="2870287"/>
            <a:ext cx="10334627" cy="3531241"/>
            <a:chOff x="464641" y="2005069"/>
            <a:chExt cx="11262717" cy="3838979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5BF7C78C-FF3E-23B0-A82E-9E9C7F51A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7" t="-269" r="1656" b="37003"/>
            <a:stretch>
              <a:fillRect/>
            </a:stretch>
          </p:blipFill>
          <p:spPr>
            <a:xfrm>
              <a:off x="464641" y="2005069"/>
              <a:ext cx="11262717" cy="3838979"/>
            </a:xfrm>
            <a:prstGeom prst="rect">
              <a:avLst/>
            </a:prstGeom>
            <a:effectLst>
              <a:outerShdw blurRad="63500" sx="102000" sy="102000" algn="ctr" rotWithShape="0">
                <a:schemeClr val="bg2">
                  <a:lumMod val="75000"/>
                  <a:alpha val="40000"/>
                </a:schemeClr>
              </a:outerShdw>
            </a:effectLst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9EDBB3E9-DEA6-8BB6-22DC-BAB52F1BEC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7622" t="79028" r="64948" b="15573"/>
            <a:stretch>
              <a:fillRect/>
            </a:stretch>
          </p:blipFill>
          <p:spPr>
            <a:xfrm>
              <a:off x="1200001" y="4343902"/>
              <a:ext cx="883224" cy="337117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EEDBF59-5061-5890-1B6A-877205D01D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7622" t="86452" r="65565" b="9080"/>
            <a:stretch>
              <a:fillRect/>
            </a:stretch>
          </p:blipFill>
          <p:spPr>
            <a:xfrm>
              <a:off x="1233336" y="4958696"/>
              <a:ext cx="809847" cy="278955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47BA5035-CFE3-3D82-619D-11C5BAA695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7622" t="79028" r="64948" b="15573"/>
            <a:stretch>
              <a:fillRect/>
            </a:stretch>
          </p:blipFill>
          <p:spPr>
            <a:xfrm>
              <a:off x="1212576" y="5470126"/>
              <a:ext cx="883224" cy="337117"/>
            </a:xfrm>
            <a:prstGeom prst="rect">
              <a:avLst/>
            </a:prstGeom>
          </p:spPr>
        </p:pic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BC3C4950-8CB4-7C36-7019-6D6264C7F1D8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9.1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紙本借閱申請統計表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531CB06-EE11-B58F-894F-AA19DFE46752}"/>
              </a:ext>
            </a:extLst>
          </p:cNvPr>
          <p:cNvSpPr/>
          <p:nvPr/>
        </p:nvSpPr>
        <p:spPr>
          <a:xfrm>
            <a:off x="1026137" y="4607285"/>
            <a:ext cx="9946663" cy="1794244"/>
          </a:xfrm>
          <a:prstGeom prst="roundRect">
            <a:avLst>
              <a:gd name="adj" fmla="val 5280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38293A-98ED-0557-C79F-E4EEF91087DD}"/>
              </a:ext>
            </a:extLst>
          </p:cNvPr>
          <p:cNvSpPr/>
          <p:nvPr/>
        </p:nvSpPr>
        <p:spPr bwMode="gray">
          <a:xfrm>
            <a:off x="880373" y="903365"/>
            <a:ext cx="9090926" cy="1794245"/>
          </a:xfrm>
          <a:prstGeom prst="rect">
            <a:avLst/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zh-TW" altLang="en-US" sz="1900" b="1" dirty="0">
                <a:latin typeface="+mn-ea"/>
              </a:rPr>
              <a:t>於</a:t>
            </a:r>
            <a:r>
              <a:rPr lang="en-US" altLang="zh-TW" sz="1900" b="1" dirty="0">
                <a:latin typeface="+mn-ea"/>
              </a:rPr>
              <a:t>【</a:t>
            </a:r>
            <a:r>
              <a:rPr lang="zh-TW" altLang="en-US" sz="1900" b="1" dirty="0">
                <a:latin typeface="+mn-ea"/>
              </a:rPr>
              <a:t>已歸檔合約查詢</a:t>
            </a:r>
            <a:r>
              <a:rPr lang="en-US" altLang="zh-TW" sz="1900" b="1" dirty="0">
                <a:latin typeface="+mn-ea"/>
              </a:rPr>
              <a:t>】</a:t>
            </a:r>
            <a:r>
              <a:rPr lang="zh-TW" altLang="en-US" sz="1900" b="1" dirty="0">
                <a:latin typeface="+mn-ea"/>
              </a:rPr>
              <a:t>申請合約紙本借閱，可在此功能查詢借閱紀錄。</a:t>
            </a:r>
            <a:endParaRPr lang="en-US" altLang="zh-TW" sz="1900" b="1" dirty="0">
              <a:latin typeface="+mn-ea"/>
            </a:endParaRPr>
          </a:p>
          <a:p>
            <a:pPr>
              <a:lnSpc>
                <a:spcPct val="106000"/>
              </a:lnSpc>
            </a:pPr>
            <a:endParaRPr lang="en-US" altLang="zh-TW" sz="1900" b="1" dirty="0">
              <a:latin typeface="+mn-ea"/>
            </a:endParaRPr>
          </a:p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sz="1900" b="1" dirty="0">
                <a:solidFill>
                  <a:srgbClr val="191919"/>
                </a:solidFill>
                <a:latin typeface="+mn-ea"/>
              </a:rPr>
              <a:t>高階決策主管</a:t>
            </a:r>
            <a:r>
              <a:rPr lang="en-US" altLang="zh-TW" sz="1900" b="1" dirty="0">
                <a:solidFill>
                  <a:srgbClr val="191919"/>
                </a:solidFill>
                <a:latin typeface="+mn-ea"/>
              </a:rPr>
              <a:t>/</a:t>
            </a:r>
            <a:r>
              <a:rPr lang="zh-TW" altLang="en-US" sz="1900" b="1" dirty="0">
                <a:solidFill>
                  <a:srgbClr val="191919"/>
                </a:solidFill>
                <a:latin typeface="+mn-ea"/>
              </a:rPr>
              <a:t>法務主管</a:t>
            </a:r>
            <a:r>
              <a:rPr lang="en-US" altLang="zh-TW" sz="1900" b="1" dirty="0">
                <a:solidFill>
                  <a:srgbClr val="191919"/>
                </a:solidFill>
                <a:latin typeface="+mn-ea"/>
              </a:rPr>
              <a:t>/</a:t>
            </a:r>
            <a:r>
              <a:rPr lang="zh-TW" altLang="en-US" sz="1900" b="1" dirty="0">
                <a:solidFill>
                  <a:srgbClr val="191919"/>
                </a:solidFill>
                <a:latin typeface="+mn-ea"/>
              </a:rPr>
              <a:t>法務</a:t>
            </a:r>
            <a:r>
              <a:rPr lang="zh-TW" altLang="en-US" sz="1900" b="1" dirty="0">
                <a:latin typeface="+mn-ea"/>
              </a:rPr>
              <a:t>：可查看公司合約被申請紙本借閱且已通過之紀錄。</a:t>
            </a:r>
            <a:endParaRPr lang="en-US" altLang="zh-TW" sz="1900" b="1" dirty="0">
              <a:latin typeface="+mn-ea"/>
            </a:endParaRPr>
          </a:p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sz="1900" b="1" dirty="0">
                <a:latin typeface="+mn-ea"/>
              </a:rPr>
              <a:t>部門主管：可查看部門合約被申請紙本借閱且已通過之紀錄。</a:t>
            </a:r>
            <a:endParaRPr lang="en-US" altLang="zh-TW" sz="1900" b="1" dirty="0">
              <a:latin typeface="+mn-ea"/>
            </a:endParaRPr>
          </a:p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sz="1900" b="1" dirty="0">
                <a:latin typeface="+mn-ea"/>
              </a:rPr>
              <a:t>一般使用者：可查看其所擁有之合約被申請紙本借閱且已通過之紀錄。</a:t>
            </a:r>
          </a:p>
        </p:txBody>
      </p:sp>
    </p:spTree>
    <p:extLst>
      <p:ext uri="{BB962C8B-B14F-4D97-AF65-F5344CB8AC3E}">
        <p14:creationId xmlns:p14="http://schemas.microsoft.com/office/powerpoint/2010/main" val="3902979041"/>
      </p:ext>
    </p:extLst>
  </p:cSld>
  <p:clrMapOvr>
    <a:masterClrMapping/>
  </p:clrMapOvr>
  <p:transition>
    <p:fade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8B5D-D969-C12E-8893-9DC74A0A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FBB0442-0A17-D244-3819-3DF95A8B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6" y="3010206"/>
            <a:ext cx="11086444" cy="675970"/>
          </a:xfrm>
        </p:spPr>
        <p:txBody>
          <a:bodyPr/>
          <a:lstStyle/>
          <a:p>
            <a:r>
              <a:rPr lang="en-US" altLang="zh-TW" sz="3600" dirty="0"/>
              <a:t>9.2 </a:t>
            </a:r>
            <a:r>
              <a:rPr lang="zh-TW" altLang="en-US" sz="3600" dirty="0"/>
              <a:t>報表管理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履約管理報表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33269279"/>
      </p:ext>
    </p:extLst>
  </p:cSld>
  <p:clrMapOvr>
    <a:masterClrMapping/>
  </p:clrMapOvr>
  <p:transition>
    <p:fade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0655-C79D-AA26-07D8-2EDC2DAF0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53DCBF7-A6C6-6759-2097-04D7E5E14F25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9.2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履約管理報表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08B06452-974A-B280-E4E2-325AE51F3078}"/>
              </a:ext>
            </a:extLst>
          </p:cNvPr>
          <p:cNvGrpSpPr/>
          <p:nvPr/>
        </p:nvGrpSpPr>
        <p:grpSpPr>
          <a:xfrm>
            <a:off x="272371" y="1367476"/>
            <a:ext cx="11647258" cy="3265200"/>
            <a:chOff x="323876" y="2276264"/>
            <a:chExt cx="11647258" cy="3265200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016DE52E-D801-BEAE-E37F-823782230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876" y="2276264"/>
              <a:ext cx="11647258" cy="3265200"/>
            </a:xfrm>
            <a:prstGeom prst="rect">
              <a:avLst/>
            </a:prstGeom>
            <a:effectLst>
              <a:outerShdw blurRad="63500" sx="102000" sy="102000" algn="ctr" rotWithShape="0">
                <a:schemeClr val="bg2">
                  <a:lumMod val="75000"/>
                  <a:alpha val="40000"/>
                </a:schemeClr>
              </a:outerShdw>
            </a:effectLst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03417CE3-F6B5-AAC8-A2C8-8B30BC44F3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7623" t="79028" r="63526" b="1450"/>
            <a:stretch/>
          </p:blipFill>
          <p:spPr>
            <a:xfrm>
              <a:off x="965200" y="4256247"/>
              <a:ext cx="903725" cy="1046867"/>
            </a:xfrm>
            <a:prstGeom prst="rect">
              <a:avLst/>
            </a:prstGeom>
          </p:spPr>
        </p:pic>
      </p:grpSp>
      <p:sp>
        <p:nvSpPr>
          <p:cNvPr id="3" name="語音泡泡: 圓角矩形 2">
            <a:extLst>
              <a:ext uri="{FF2B5EF4-FFF2-40B4-BE49-F238E27FC236}">
                <a16:creationId xmlns:a16="http://schemas.microsoft.com/office/drawing/2014/main" id="{22892663-05B7-1186-DE9F-4C6DD34B1FB5}"/>
              </a:ext>
            </a:extLst>
          </p:cNvPr>
          <p:cNvSpPr/>
          <p:nvPr/>
        </p:nvSpPr>
        <p:spPr bwMode="gray">
          <a:xfrm>
            <a:off x="3978479" y="987451"/>
            <a:ext cx="1792401" cy="792000"/>
          </a:xfrm>
          <a:prstGeom prst="wedgeRoundRectCallout">
            <a:avLst>
              <a:gd name="adj1" fmla="val -91361"/>
              <a:gd name="adj2" fmla="val 6441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可匯出報表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D00FA1A-2D61-35B7-0CBA-E0F7546F4F0A}"/>
              </a:ext>
            </a:extLst>
          </p:cNvPr>
          <p:cNvSpPr/>
          <p:nvPr/>
        </p:nvSpPr>
        <p:spPr>
          <a:xfrm>
            <a:off x="2723808" y="1926822"/>
            <a:ext cx="987883" cy="465308"/>
          </a:xfrm>
          <a:prstGeom prst="roundRect">
            <a:avLst>
              <a:gd name="adj" fmla="val 693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 dirty="0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D6C804D3-557F-02E8-8FE9-6BE10C8147BB}"/>
              </a:ext>
            </a:extLst>
          </p:cNvPr>
          <p:cNvSpPr/>
          <p:nvPr/>
        </p:nvSpPr>
        <p:spPr bwMode="gray">
          <a:xfrm>
            <a:off x="568181" y="4879088"/>
            <a:ext cx="6820596" cy="991462"/>
          </a:xfrm>
          <a:prstGeom prst="wedgeRoundRectCallout">
            <a:avLst>
              <a:gd name="adj1" fmla="val -21232"/>
              <a:gd name="adj2" fmla="val -9000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履約管理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履約紀錄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功能填寫履約資料後，可於此功能檢視合約的履約狀況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57E1395-E50F-B8C2-6144-7FF43CC6144C}"/>
              </a:ext>
            </a:extLst>
          </p:cNvPr>
          <p:cNvSpPr/>
          <p:nvPr/>
        </p:nvSpPr>
        <p:spPr>
          <a:xfrm>
            <a:off x="385375" y="2983427"/>
            <a:ext cx="11430000" cy="1482426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817018035"/>
      </p:ext>
    </p:extLst>
  </p:cSld>
  <p:clrMapOvr>
    <a:masterClrMapping/>
  </p:clrMapOvr>
  <p:transition>
    <p:fade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A0F3-47F7-64F2-1468-8B59ABF0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C9FC7F2D-BF1D-04AF-834B-A6878DA2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6" y="3010206"/>
            <a:ext cx="11086444" cy="675970"/>
          </a:xfrm>
        </p:spPr>
        <p:txBody>
          <a:bodyPr/>
          <a:lstStyle/>
          <a:p>
            <a:r>
              <a:rPr lang="en-US" altLang="zh-TW" sz="3600" dirty="0"/>
              <a:t>9.3 </a:t>
            </a:r>
            <a:r>
              <a:rPr lang="zh-TW" altLang="en-US" sz="3600" dirty="0"/>
              <a:t>報表管理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履約績效報表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04178632"/>
      </p:ext>
    </p:extLst>
  </p:cSld>
  <p:clrMapOvr>
    <a:masterClrMapping/>
  </p:clrMapOvr>
  <p:transition>
    <p:fade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378E-7BAF-A8BD-4B8E-4CD00C42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DEC26EE-6EF9-D69B-2255-3E4BA75AD624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9.3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履約績效報表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028496-F448-5811-52DE-D4BE48FB0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41" y="1355901"/>
            <a:ext cx="9116140" cy="5046964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44F8DF0D-7F83-1C20-FEDD-014004761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0566" y="266189"/>
            <a:ext cx="6118246" cy="4091116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FF7DE18D-AE1B-4881-BEB5-EE93A3B4D5EE}"/>
              </a:ext>
            </a:extLst>
          </p:cNvPr>
          <p:cNvSpPr/>
          <p:nvPr/>
        </p:nvSpPr>
        <p:spPr>
          <a:xfrm>
            <a:off x="1321250" y="5054861"/>
            <a:ext cx="455072" cy="46066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5439E007-37FD-45C0-BEFE-5C84F4243D87}"/>
              </a:ext>
            </a:extLst>
          </p:cNvPr>
          <p:cNvSpPr/>
          <p:nvPr/>
        </p:nvSpPr>
        <p:spPr bwMode="gray">
          <a:xfrm>
            <a:off x="922834" y="5964996"/>
            <a:ext cx="5714268" cy="626815"/>
          </a:xfrm>
          <a:prstGeom prst="wedgeRoundRectCallout">
            <a:avLst>
              <a:gd name="adj1" fmla="val 58437"/>
              <a:gd name="adj2" fmla="val -2850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數量由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履約管理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提醒設定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功能統計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29A260D1-F077-4496-A519-4C4A5C3868CB}"/>
              </a:ext>
            </a:extLst>
          </p:cNvPr>
          <p:cNvSpPr/>
          <p:nvPr/>
        </p:nvSpPr>
        <p:spPr>
          <a:xfrm>
            <a:off x="7146692" y="4680149"/>
            <a:ext cx="1019180" cy="172271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58AA53A8-6648-4028-B9B5-9D163F8DFAC2}"/>
              </a:ext>
            </a:extLst>
          </p:cNvPr>
          <p:cNvSpPr/>
          <p:nvPr/>
        </p:nvSpPr>
        <p:spPr>
          <a:xfrm>
            <a:off x="8165872" y="4680147"/>
            <a:ext cx="1183640" cy="172271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sp>
        <p:nvSpPr>
          <p:cNvPr id="20" name="語音泡泡: 圓角矩形 19">
            <a:extLst>
              <a:ext uri="{FF2B5EF4-FFF2-40B4-BE49-F238E27FC236}">
                <a16:creationId xmlns:a16="http://schemas.microsoft.com/office/drawing/2014/main" id="{15F2E307-1A50-4CA5-A0EB-F54CB5498D35}"/>
              </a:ext>
            </a:extLst>
          </p:cNvPr>
          <p:cNvSpPr/>
          <p:nvPr/>
        </p:nvSpPr>
        <p:spPr bwMode="gray">
          <a:xfrm>
            <a:off x="225316" y="4008573"/>
            <a:ext cx="2477052" cy="656708"/>
          </a:xfrm>
          <a:prstGeom prst="wedgeRoundRectCallout">
            <a:avLst>
              <a:gd name="adj1" fmla="val -6802"/>
              <a:gd name="adj2" fmla="val 11008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可點擊觀看明細</a:t>
            </a:r>
          </a:p>
        </p:txBody>
      </p:sp>
      <p:sp>
        <p:nvSpPr>
          <p:cNvPr id="21" name="語音泡泡: 圓角矩形 20">
            <a:extLst>
              <a:ext uri="{FF2B5EF4-FFF2-40B4-BE49-F238E27FC236}">
                <a16:creationId xmlns:a16="http://schemas.microsoft.com/office/drawing/2014/main" id="{0883A6BC-D9F8-4BD5-8474-66333E737831}"/>
              </a:ext>
            </a:extLst>
          </p:cNvPr>
          <p:cNvSpPr/>
          <p:nvPr/>
        </p:nvSpPr>
        <p:spPr bwMode="gray">
          <a:xfrm>
            <a:off x="6252418" y="3786405"/>
            <a:ext cx="5714267" cy="626816"/>
          </a:xfrm>
          <a:prstGeom prst="wedgeRoundRectCallout">
            <a:avLst>
              <a:gd name="adj1" fmla="val 4068"/>
              <a:gd name="adj2" fmla="val 11676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數量由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履約管理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履約紀錄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功能統計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5BD55A49-7A54-8888-AD74-BC6709267A6A}"/>
              </a:ext>
            </a:extLst>
          </p:cNvPr>
          <p:cNvCxnSpPr>
            <a:cxnSpLocks/>
          </p:cNvCxnSpPr>
          <p:nvPr/>
        </p:nvCxnSpPr>
        <p:spPr>
          <a:xfrm flipV="1">
            <a:off x="1760836" y="3910248"/>
            <a:ext cx="3529730" cy="11857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876754"/>
      </p:ext>
    </p:extLst>
  </p:cSld>
  <p:clrMapOvr>
    <a:masterClrMapping/>
  </p:clrMapOvr>
  <p:transition>
    <p:fade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53350-1599-6F51-3904-512A38DEB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EC7DCB0-1AEE-0E9E-2162-F87AAA2FC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31" y="2843212"/>
            <a:ext cx="11086444" cy="117157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sz="3600" dirty="0"/>
              <a:t>10.1 </a:t>
            </a:r>
            <a:r>
              <a:rPr lang="zh-TW" altLang="en-US" sz="3600" dirty="0"/>
              <a:t>合約／法律文件範本管理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br>
              <a:rPr lang="en-US" altLang="zh-TW" sz="3600" dirty="0"/>
            </a:br>
            <a:r>
              <a:rPr lang="en-US" altLang="zh-TW" sz="4000" dirty="0"/>
              <a:t>【</a:t>
            </a:r>
            <a:r>
              <a:rPr lang="zh-TW" altLang="en-US" sz="4000" dirty="0"/>
              <a:t>合約／法律文件範本查詢</a:t>
            </a:r>
            <a:r>
              <a:rPr lang="en-US" altLang="zh-TW" sz="40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521494090"/>
      </p:ext>
    </p:extLst>
  </p:cSld>
  <p:clrMapOvr>
    <a:masterClrMapping/>
  </p:clrMapOvr>
  <p:transition>
    <p:fade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CA2455BA-BA48-F904-A8F7-AC68D0185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95" y="1038524"/>
            <a:ext cx="10923809" cy="478095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10.1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合約／法律文件範本查詢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BCB19E4-7BAC-DDCD-89B8-3BBA31CD08AC}"/>
              </a:ext>
            </a:extLst>
          </p:cNvPr>
          <p:cNvSpPr/>
          <p:nvPr/>
        </p:nvSpPr>
        <p:spPr>
          <a:xfrm>
            <a:off x="634094" y="2060965"/>
            <a:ext cx="6905223" cy="124618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403465B-0FAE-0033-AA83-0B5C43E894EE}"/>
              </a:ext>
            </a:extLst>
          </p:cNvPr>
          <p:cNvSpPr/>
          <p:nvPr/>
        </p:nvSpPr>
        <p:spPr>
          <a:xfrm>
            <a:off x="792949" y="3509685"/>
            <a:ext cx="1125499" cy="57822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45FE6AE-A88C-E120-987D-8BBBD9D22EF8}"/>
              </a:ext>
            </a:extLst>
          </p:cNvPr>
          <p:cNvSpPr/>
          <p:nvPr/>
        </p:nvSpPr>
        <p:spPr>
          <a:xfrm>
            <a:off x="766054" y="4812586"/>
            <a:ext cx="10637052" cy="87103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圖說文字 51">
            <a:extLst>
              <a:ext uri="{FF2B5EF4-FFF2-40B4-BE49-F238E27FC236}">
                <a16:creationId xmlns:a16="http://schemas.microsoft.com/office/drawing/2014/main" id="{B2F166D6-207E-FDFA-DD31-DF6EDB9D35D0}"/>
              </a:ext>
            </a:extLst>
          </p:cNvPr>
          <p:cNvSpPr/>
          <p:nvPr/>
        </p:nvSpPr>
        <p:spPr bwMode="gray">
          <a:xfrm>
            <a:off x="7771486" y="1912011"/>
            <a:ext cx="3211501" cy="792000"/>
          </a:xfrm>
          <a:prstGeom prst="wedgeRoundRectCallout">
            <a:avLst>
              <a:gd name="adj1" fmla="val -57811"/>
              <a:gd name="adj2" fmla="val 4768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輸入查詢條件</a:t>
            </a:r>
          </a:p>
        </p:txBody>
      </p:sp>
      <p:sp>
        <p:nvSpPr>
          <p:cNvPr id="7" name="圓角矩形圖說文字 51">
            <a:extLst>
              <a:ext uri="{FF2B5EF4-FFF2-40B4-BE49-F238E27FC236}">
                <a16:creationId xmlns:a16="http://schemas.microsoft.com/office/drawing/2014/main" id="{0267E5AA-AF52-DBE2-1E13-E0EAEC28AF8E}"/>
              </a:ext>
            </a:extLst>
          </p:cNvPr>
          <p:cNvSpPr/>
          <p:nvPr/>
        </p:nvSpPr>
        <p:spPr bwMode="gray">
          <a:xfrm>
            <a:off x="2339931" y="3629887"/>
            <a:ext cx="3008092" cy="792000"/>
          </a:xfrm>
          <a:prstGeom prst="wedgeRoundRectCallout">
            <a:avLst>
              <a:gd name="adj1" fmla="val -63497"/>
              <a:gd name="adj2" fmla="val -3439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查詢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語音泡泡: 圓角矩形 1">
            <a:extLst>
              <a:ext uri="{FF2B5EF4-FFF2-40B4-BE49-F238E27FC236}">
                <a16:creationId xmlns:a16="http://schemas.microsoft.com/office/drawing/2014/main" id="{EB066AD1-1B03-63E7-D903-2A84E1FD7E76}"/>
              </a:ext>
            </a:extLst>
          </p:cNvPr>
          <p:cNvSpPr/>
          <p:nvPr/>
        </p:nvSpPr>
        <p:spPr bwMode="gray">
          <a:xfrm>
            <a:off x="6061528" y="918244"/>
            <a:ext cx="2702218" cy="668219"/>
          </a:xfrm>
          <a:prstGeom prst="wedgeRoundRectCallout">
            <a:avLst>
              <a:gd name="adj1" fmla="val -63507"/>
              <a:gd name="adj2" fmla="val 1987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可查詢公版的範本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4D136CF-A7E0-4B20-3444-8246D9E62A28}"/>
              </a:ext>
            </a:extLst>
          </p:cNvPr>
          <p:cNvSpPr/>
          <p:nvPr/>
        </p:nvSpPr>
        <p:spPr>
          <a:xfrm>
            <a:off x="3265714" y="1108579"/>
            <a:ext cx="2425300" cy="38799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A1DDDCF-6B00-B5F3-DA1D-2A168C346FBA}"/>
              </a:ext>
            </a:extLst>
          </p:cNvPr>
          <p:cNvSpPr/>
          <p:nvPr/>
        </p:nvSpPr>
        <p:spPr>
          <a:xfrm>
            <a:off x="1535525" y="5205344"/>
            <a:ext cx="869578" cy="38799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D3A0483C-3092-252E-4E05-3FC06FA632B7}"/>
              </a:ext>
            </a:extLst>
          </p:cNvPr>
          <p:cNvSpPr/>
          <p:nvPr/>
        </p:nvSpPr>
        <p:spPr bwMode="gray">
          <a:xfrm>
            <a:off x="2660089" y="5625759"/>
            <a:ext cx="2853232" cy="668219"/>
          </a:xfrm>
          <a:prstGeom prst="wedgeRoundRectCallout">
            <a:avLst>
              <a:gd name="adj1" fmla="val -60752"/>
              <a:gd name="adj2" fmla="val -5417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可檢視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下載該範本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471696"/>
      </p:ext>
    </p:extLst>
  </p:cSld>
  <p:clrMapOvr>
    <a:masterClrMapping/>
  </p:clrMapOvr>
  <p:transition>
    <p:fade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F7C97-BF3B-21B6-0729-5A98BE5F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7F40AD88-3D38-02F3-79E5-0C0A138E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6" y="3010206"/>
            <a:ext cx="11086444" cy="675970"/>
          </a:xfrm>
        </p:spPr>
        <p:txBody>
          <a:bodyPr/>
          <a:lstStyle/>
          <a:p>
            <a:r>
              <a:rPr lang="en-US" altLang="zh-TW" sz="3600" dirty="0"/>
              <a:t>10.2</a:t>
            </a:r>
            <a:r>
              <a:rPr lang="zh-TW" altLang="en-US" sz="3600" dirty="0"/>
              <a:t> 合約／法律文件範本管理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我的範本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773313204"/>
      </p:ext>
    </p:extLst>
  </p:cSld>
  <p:clrMapOvr>
    <a:masterClrMapping/>
  </p:clrMapOvr>
  <p:transition>
    <p:fade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10ED424-002A-0934-1E70-AF2AB72F8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2" y="893798"/>
            <a:ext cx="10936941" cy="411488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4984372-B3FA-717D-415B-9D01829C1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589" y="2314087"/>
            <a:ext cx="7343291" cy="411488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10.2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我的範本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0BAD59C-1C98-8AEA-960D-84836B1C64D8}"/>
              </a:ext>
            </a:extLst>
          </p:cNvPr>
          <p:cNvSpPr/>
          <p:nvPr/>
        </p:nvSpPr>
        <p:spPr>
          <a:xfrm>
            <a:off x="1660274" y="2878919"/>
            <a:ext cx="1073963" cy="55008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027FEF1-D45A-E9F0-9391-DB658792097F}"/>
              </a:ext>
            </a:extLst>
          </p:cNvPr>
          <p:cNvSpPr/>
          <p:nvPr/>
        </p:nvSpPr>
        <p:spPr>
          <a:xfrm>
            <a:off x="4661646" y="3236259"/>
            <a:ext cx="6776737" cy="2510116"/>
          </a:xfrm>
          <a:prstGeom prst="roundRect">
            <a:avLst>
              <a:gd name="adj" fmla="val 399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圖說文字 51">
            <a:extLst>
              <a:ext uri="{FF2B5EF4-FFF2-40B4-BE49-F238E27FC236}">
                <a16:creationId xmlns:a16="http://schemas.microsoft.com/office/drawing/2014/main" id="{D121E946-2EEC-6208-A6E5-7477F9F82EB0}"/>
              </a:ext>
            </a:extLst>
          </p:cNvPr>
          <p:cNvSpPr/>
          <p:nvPr/>
        </p:nvSpPr>
        <p:spPr bwMode="gray">
          <a:xfrm>
            <a:off x="1209336" y="3639850"/>
            <a:ext cx="3008092" cy="792000"/>
          </a:xfrm>
          <a:prstGeom prst="wedgeRoundRectCallout">
            <a:avLst>
              <a:gd name="adj1" fmla="val -22371"/>
              <a:gd name="adj2" fmla="val -7400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圓角矩形圖說文字 51">
            <a:extLst>
              <a:ext uri="{FF2B5EF4-FFF2-40B4-BE49-F238E27FC236}">
                <a16:creationId xmlns:a16="http://schemas.microsoft.com/office/drawing/2014/main" id="{8F1255C7-F524-EB27-77B0-2D2CF47BFB93}"/>
              </a:ext>
            </a:extLst>
          </p:cNvPr>
          <p:cNvSpPr/>
          <p:nvPr/>
        </p:nvSpPr>
        <p:spPr bwMode="gray">
          <a:xfrm>
            <a:off x="7473959" y="2130115"/>
            <a:ext cx="2575387" cy="792000"/>
          </a:xfrm>
          <a:prstGeom prst="wedgeRoundRectCallout">
            <a:avLst>
              <a:gd name="adj1" fmla="val 42288"/>
              <a:gd name="adj2" fmla="val 8538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輸入資料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728BEAC-3346-DAEC-852A-6FA8BAFDCC8E}"/>
              </a:ext>
            </a:extLst>
          </p:cNvPr>
          <p:cNvSpPr/>
          <p:nvPr/>
        </p:nvSpPr>
        <p:spPr>
          <a:xfrm>
            <a:off x="8050013" y="5909556"/>
            <a:ext cx="851391" cy="42401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圓角矩形圖說文字 51">
            <a:extLst>
              <a:ext uri="{FF2B5EF4-FFF2-40B4-BE49-F238E27FC236}">
                <a16:creationId xmlns:a16="http://schemas.microsoft.com/office/drawing/2014/main" id="{72E5FD74-1C58-36ED-C171-420A378FD396}"/>
              </a:ext>
            </a:extLst>
          </p:cNvPr>
          <p:cNvSpPr/>
          <p:nvPr/>
        </p:nvSpPr>
        <p:spPr bwMode="gray">
          <a:xfrm>
            <a:off x="4177848" y="5885512"/>
            <a:ext cx="3008092" cy="792000"/>
          </a:xfrm>
          <a:prstGeom prst="wedgeRoundRectCallout">
            <a:avLst>
              <a:gd name="adj1" fmla="val 78743"/>
              <a:gd name="adj2" fmla="val 125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語音泡泡: 圓角矩形 1">
            <a:extLst>
              <a:ext uri="{FF2B5EF4-FFF2-40B4-BE49-F238E27FC236}">
                <a16:creationId xmlns:a16="http://schemas.microsoft.com/office/drawing/2014/main" id="{00756F5C-E50B-BB64-3A40-5B79143ADFCE}"/>
              </a:ext>
            </a:extLst>
          </p:cNvPr>
          <p:cNvSpPr/>
          <p:nvPr/>
        </p:nvSpPr>
        <p:spPr bwMode="gray">
          <a:xfrm>
            <a:off x="4177848" y="625102"/>
            <a:ext cx="5788344" cy="668219"/>
          </a:xfrm>
          <a:prstGeom prst="wedgeRoundRectCallout">
            <a:avLst>
              <a:gd name="adj1" fmla="val -56682"/>
              <a:gd name="adj2" fmla="val 3597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我的範本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後，只有自己可維護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F11240F-35E8-A2B1-C7A6-B1325D240F0D}"/>
              </a:ext>
            </a:extLst>
          </p:cNvPr>
          <p:cNvSpPr/>
          <p:nvPr/>
        </p:nvSpPr>
        <p:spPr>
          <a:xfrm>
            <a:off x="2888440" y="964391"/>
            <a:ext cx="884422" cy="38799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003422"/>
      </p:ext>
    </p:extLst>
  </p:cSld>
  <p:clrMapOvr>
    <a:masterClrMapping/>
  </p:clrMapOvr>
  <p:transition>
    <p:fade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C826F-E86B-3F3A-E631-B1EE8AD9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44320-4EB9-6204-140B-06D88473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88" y="3072117"/>
            <a:ext cx="8513378" cy="713765"/>
          </a:xfrm>
        </p:spPr>
        <p:txBody>
          <a:bodyPr/>
          <a:lstStyle/>
          <a:p>
            <a:r>
              <a:rPr lang="zh-TW" altLang="en-US" sz="4400" dirty="0"/>
              <a:t>三、常用系統功能 </a:t>
            </a:r>
            <a:r>
              <a:rPr lang="en-US" altLang="zh-TW" sz="4400" dirty="0"/>
              <a:t>- </a:t>
            </a:r>
            <a:r>
              <a:rPr lang="zh-TW" altLang="en-US" sz="4400" dirty="0">
                <a:solidFill>
                  <a:srgbClr val="FFFF00"/>
                </a:solidFill>
              </a:rPr>
              <a:t>實機操作</a:t>
            </a:r>
          </a:p>
        </p:txBody>
      </p:sp>
    </p:spTree>
    <p:extLst>
      <p:ext uri="{BB962C8B-B14F-4D97-AF65-F5344CB8AC3E}">
        <p14:creationId xmlns:p14="http://schemas.microsoft.com/office/powerpoint/2010/main" val="1111911715"/>
      </p:ext>
    </p:extLst>
  </p:cSld>
  <p:clrMapOvr>
    <a:masterClrMapping/>
  </p:clrMapOvr>
  <p:transition>
    <p:fade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C5D1A-10AD-0843-9B55-D8DACE3A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5EDFB3-83BD-0599-3BD0-828495099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93EC1D-ADCF-4A98-9572-EC582E9A97C3}" type="slidenum">
              <a:rPr lang="zh-TW" altLang="en-US" smtClean="0">
                <a:solidFill>
                  <a:schemeClr val="bg1"/>
                </a:solidFill>
              </a:rPr>
              <a:pPr>
                <a:defRPr/>
              </a:pPr>
              <a:t>144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8D0EDCFA-01C5-2053-4F3A-5065CD18857A}"/>
              </a:ext>
            </a:extLst>
          </p:cNvPr>
          <p:cNvSpPr/>
          <p:nvPr/>
        </p:nvSpPr>
        <p:spPr bwMode="gray">
          <a:xfrm>
            <a:off x="385126" y="1178696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2000" b="1" dirty="0">
                <a:solidFill>
                  <a:schemeClr val="bg1"/>
                </a:solidFill>
              </a:rPr>
              <a:t>1. </a:t>
            </a:r>
            <a:r>
              <a:rPr lang="zh-TW" altLang="en-US" sz="2000" b="1" dirty="0">
                <a:solidFill>
                  <a:schemeClr val="bg1"/>
                </a:solidFill>
              </a:rPr>
              <a:t>首頁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A0FF3EF-8992-1E6C-70CF-B4B9DC0B69D2}"/>
              </a:ext>
            </a:extLst>
          </p:cNvPr>
          <p:cNvSpPr/>
          <p:nvPr/>
        </p:nvSpPr>
        <p:spPr bwMode="gray">
          <a:xfrm>
            <a:off x="385126" y="1873020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2. </a:t>
            </a:r>
            <a:r>
              <a:rPr lang="zh-TW" altLang="en-US" sz="2000" b="1" dirty="0">
                <a:solidFill>
                  <a:schemeClr val="bg1"/>
                </a:solidFill>
              </a:rPr>
              <a:t>合約起案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75C001-5853-4E29-704C-885C0255277D}"/>
              </a:ext>
            </a:extLst>
          </p:cNvPr>
          <p:cNvSpPr/>
          <p:nvPr/>
        </p:nvSpPr>
        <p:spPr bwMode="gray">
          <a:xfrm>
            <a:off x="555163" y="244474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>
                <a:solidFill>
                  <a:srgbClr val="ED8B00"/>
                </a:solidFill>
              </a:rPr>
              <a:t>2.1 </a:t>
            </a:r>
            <a:r>
              <a:rPr lang="zh-TW" altLang="en-US" sz="1600" b="1" dirty="0">
                <a:solidFill>
                  <a:srgbClr val="ED8B00"/>
                </a:solidFill>
              </a:rPr>
              <a:t>申請合約審閱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C33D17-8898-D6EB-757F-EE7546D75FB1}"/>
              </a:ext>
            </a:extLst>
          </p:cNvPr>
          <p:cNvSpPr/>
          <p:nvPr/>
        </p:nvSpPr>
        <p:spPr bwMode="gray">
          <a:xfrm>
            <a:off x="555162" y="2946584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2.2 </a:t>
            </a:r>
            <a:r>
              <a:rPr lang="zh-TW" altLang="en-US" sz="1600" b="1" dirty="0"/>
              <a:t>合約草稿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B2E17A5-3B56-CCA0-560B-E1A533C1C08E}"/>
              </a:ext>
            </a:extLst>
          </p:cNvPr>
          <p:cNvSpPr/>
          <p:nvPr/>
        </p:nvSpPr>
        <p:spPr bwMode="gray">
          <a:xfrm>
            <a:off x="4270290" y="1169161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4. </a:t>
            </a:r>
            <a:r>
              <a:rPr lang="zh-TW" altLang="en-US" sz="2000" b="1" dirty="0">
                <a:solidFill>
                  <a:schemeClr val="bg1"/>
                </a:solidFill>
              </a:rPr>
              <a:t>合約查詢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1A4EB1-813E-AF47-0540-0C3CF2FBA445}"/>
              </a:ext>
            </a:extLst>
          </p:cNvPr>
          <p:cNvSpPr/>
          <p:nvPr/>
        </p:nvSpPr>
        <p:spPr bwMode="gray">
          <a:xfrm>
            <a:off x="4408514" y="171161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>
                <a:solidFill>
                  <a:srgbClr val="ED8B00"/>
                </a:solidFill>
              </a:rPr>
              <a:t>4.1 </a:t>
            </a:r>
            <a:r>
              <a:rPr lang="zh-TW" altLang="en-US" sz="1600" b="1" dirty="0">
                <a:solidFill>
                  <a:srgbClr val="ED8B00"/>
                </a:solidFill>
              </a:rPr>
              <a:t>合約審閱進度查詢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0B842A9-DD20-9EC1-F002-33992A119797}"/>
              </a:ext>
            </a:extLst>
          </p:cNvPr>
          <p:cNvSpPr/>
          <p:nvPr/>
        </p:nvSpPr>
        <p:spPr bwMode="gray">
          <a:xfrm>
            <a:off x="4418040" y="2238308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>
                <a:solidFill>
                  <a:srgbClr val="ED8B00"/>
                </a:solidFill>
              </a:rPr>
              <a:t>4.2 </a:t>
            </a:r>
            <a:r>
              <a:rPr lang="zh-TW" altLang="en-US" sz="1600" b="1" dirty="0">
                <a:solidFill>
                  <a:srgbClr val="ED8B00"/>
                </a:solidFill>
              </a:rPr>
              <a:t>已歸檔合約查詢</a:t>
            </a:r>
            <a:r>
              <a:rPr lang="en-US" altLang="zh-TW" sz="1600" b="1" dirty="0">
                <a:solidFill>
                  <a:srgbClr val="ED8B00"/>
                </a:solidFill>
              </a:rPr>
              <a:t>(</a:t>
            </a:r>
            <a:r>
              <a:rPr lang="zh-TW" altLang="en-US" sz="1600" b="1" dirty="0">
                <a:solidFill>
                  <a:srgbClr val="ED8B00"/>
                </a:solidFill>
              </a:rPr>
              <a:t>含撤回</a:t>
            </a:r>
            <a:r>
              <a:rPr lang="en-US" altLang="zh-TW" sz="1600" b="1" dirty="0">
                <a:solidFill>
                  <a:srgbClr val="ED8B00"/>
                </a:solidFill>
              </a:rPr>
              <a:t>/</a:t>
            </a:r>
            <a:r>
              <a:rPr lang="zh-TW" altLang="en-US" sz="1600" b="1" dirty="0">
                <a:solidFill>
                  <a:srgbClr val="ED8B00"/>
                </a:solidFill>
              </a:rPr>
              <a:t>作廢</a:t>
            </a:r>
            <a:r>
              <a:rPr lang="en-US" altLang="zh-TW" sz="1600" b="1" dirty="0">
                <a:solidFill>
                  <a:srgbClr val="ED8B00"/>
                </a:solidFill>
              </a:rPr>
              <a:t>)</a:t>
            </a:r>
            <a:endParaRPr lang="zh-TW" altLang="en-US" sz="1600" b="1" dirty="0">
              <a:solidFill>
                <a:srgbClr val="ED8B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6B5754-160E-7478-E305-BDB3495CBF51}"/>
              </a:ext>
            </a:extLst>
          </p:cNvPr>
          <p:cNvSpPr/>
          <p:nvPr/>
        </p:nvSpPr>
        <p:spPr bwMode="gray">
          <a:xfrm>
            <a:off x="4408513" y="2758435"/>
            <a:ext cx="3264195" cy="5703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4.3 </a:t>
            </a:r>
            <a:r>
              <a:rPr lang="zh-TW" altLang="en-US" sz="1600" b="1" dirty="0"/>
              <a:t>紙本借閱暨電子閱覽</a:t>
            </a:r>
            <a:endParaRPr lang="en-US" altLang="zh-TW" sz="1600" b="1" dirty="0"/>
          </a:p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zh-TW" altLang="en-US" sz="1600" b="1" dirty="0"/>
              <a:t>申請進度查詢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F464FC0-0498-B85E-1C4B-B0C6F41945DF}"/>
              </a:ext>
            </a:extLst>
          </p:cNvPr>
          <p:cNvSpPr/>
          <p:nvPr/>
        </p:nvSpPr>
        <p:spPr bwMode="gray">
          <a:xfrm>
            <a:off x="4270290" y="3479611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5. </a:t>
            </a:r>
            <a:r>
              <a:rPr lang="zh-TW" altLang="en-US" sz="2000" b="1" dirty="0">
                <a:solidFill>
                  <a:schemeClr val="bg1"/>
                </a:solidFill>
              </a:rPr>
              <a:t>比對模組</a:t>
            </a:r>
            <a:endParaRPr lang="en-US" altLang="zh-TW" sz="2000" b="1" dirty="0">
              <a:solidFill>
                <a:schemeClr val="bg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1F91A4-1EAA-1F9A-7AD0-91989158F1C5}"/>
              </a:ext>
            </a:extLst>
          </p:cNvPr>
          <p:cNvSpPr/>
          <p:nvPr/>
        </p:nvSpPr>
        <p:spPr bwMode="gray">
          <a:xfrm>
            <a:off x="4418040" y="402462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>
                <a:solidFill>
                  <a:srgbClr val="ED8B00"/>
                </a:solidFill>
              </a:rPr>
              <a:t>5.1 </a:t>
            </a:r>
            <a:r>
              <a:rPr lang="zh-TW" altLang="en-US" sz="1600" b="1" dirty="0">
                <a:solidFill>
                  <a:srgbClr val="ED8B00"/>
                </a:solidFill>
              </a:rPr>
              <a:t>合約比對</a:t>
            </a:r>
            <a:r>
              <a:rPr lang="en-US" altLang="zh-TW" sz="1600" b="1" dirty="0">
                <a:solidFill>
                  <a:srgbClr val="ED8B00"/>
                </a:solidFill>
              </a:rPr>
              <a:t>(</a:t>
            </a:r>
            <a:r>
              <a:rPr lang="zh-TW" altLang="en-US" sz="1600" b="1" dirty="0">
                <a:solidFill>
                  <a:srgbClr val="ED8B00"/>
                </a:solidFill>
              </a:rPr>
              <a:t>檔案</a:t>
            </a:r>
            <a:r>
              <a:rPr lang="en-US" altLang="zh-TW" sz="1600" b="1" dirty="0">
                <a:solidFill>
                  <a:srgbClr val="ED8B00"/>
                </a:solidFill>
              </a:rPr>
              <a:t>)</a:t>
            </a:r>
            <a:endParaRPr lang="zh-TW" altLang="en-US" sz="1600" b="1" dirty="0">
              <a:solidFill>
                <a:srgbClr val="ED8B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6D01E3-6112-7569-8239-7866102E5122}"/>
              </a:ext>
            </a:extLst>
          </p:cNvPr>
          <p:cNvSpPr/>
          <p:nvPr/>
        </p:nvSpPr>
        <p:spPr bwMode="gray">
          <a:xfrm>
            <a:off x="4418040" y="456453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5.2 </a:t>
            </a:r>
            <a:r>
              <a:rPr lang="zh-TW" altLang="en-US" sz="1600" b="1" dirty="0"/>
              <a:t>合約比對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文字</a:t>
            </a:r>
            <a:r>
              <a:rPr lang="en-US" altLang="zh-TW" sz="1600" b="1" dirty="0"/>
              <a:t>)</a:t>
            </a:r>
            <a:endParaRPr lang="zh-TW" altLang="en-US" sz="1600" b="1" dirty="0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587DCE72-1DD7-26DF-91F9-CDC39098487B}"/>
              </a:ext>
            </a:extLst>
          </p:cNvPr>
          <p:cNvSpPr/>
          <p:nvPr/>
        </p:nvSpPr>
        <p:spPr bwMode="gray">
          <a:xfrm>
            <a:off x="8174505" y="1169161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7. </a:t>
            </a:r>
            <a:r>
              <a:rPr lang="zh-TW" altLang="en-US" sz="2000" b="1" dirty="0">
                <a:solidFill>
                  <a:schemeClr val="bg1"/>
                </a:solidFill>
              </a:rPr>
              <a:t>批次移轉</a:t>
            </a:r>
            <a:r>
              <a:rPr lang="en-US" altLang="zh-TW" sz="2000" b="1" dirty="0">
                <a:solidFill>
                  <a:schemeClr val="bg1"/>
                </a:solidFill>
              </a:rPr>
              <a:t>/</a:t>
            </a:r>
            <a:r>
              <a:rPr lang="zh-TW" altLang="en-US" sz="2000" b="1" dirty="0">
                <a:solidFill>
                  <a:schemeClr val="bg1"/>
                </a:solidFill>
              </a:rPr>
              <a:t>代理人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89E514-7370-705D-1AB3-E6D49F195046}"/>
              </a:ext>
            </a:extLst>
          </p:cNvPr>
          <p:cNvSpPr/>
          <p:nvPr/>
        </p:nvSpPr>
        <p:spPr bwMode="gray">
          <a:xfrm>
            <a:off x="8280992" y="1708727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7.1 </a:t>
            </a:r>
            <a:r>
              <a:rPr lang="zh-TW" altLang="en-US" sz="1600" b="1" dirty="0"/>
              <a:t>批次移轉</a:t>
            </a:r>
            <a:r>
              <a:rPr lang="en-US" altLang="zh-TW" sz="1600" b="1" dirty="0"/>
              <a:t>-</a:t>
            </a:r>
            <a:r>
              <a:rPr lang="zh-TW" altLang="en-US" sz="1600" b="1" dirty="0"/>
              <a:t>合約擁有者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6BDD4B-00D4-306D-0215-41A6568515A2}"/>
              </a:ext>
            </a:extLst>
          </p:cNvPr>
          <p:cNvSpPr/>
          <p:nvPr/>
        </p:nvSpPr>
        <p:spPr bwMode="gray">
          <a:xfrm>
            <a:off x="8280992" y="2236824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>
                <a:solidFill>
                  <a:srgbClr val="ED8B00"/>
                </a:solidFill>
              </a:rPr>
              <a:t>7.2 </a:t>
            </a:r>
            <a:r>
              <a:rPr lang="zh-TW" altLang="en-US" sz="1600" b="1" dirty="0">
                <a:solidFill>
                  <a:srgbClr val="ED8B00"/>
                </a:solidFill>
              </a:rPr>
              <a:t>批次移轉</a:t>
            </a:r>
            <a:r>
              <a:rPr lang="en-US" altLang="zh-TW" sz="1600" b="1" dirty="0">
                <a:solidFill>
                  <a:srgbClr val="ED8B00"/>
                </a:solidFill>
              </a:rPr>
              <a:t>-</a:t>
            </a:r>
            <a:r>
              <a:rPr lang="zh-TW" altLang="en-US" sz="1600" b="1" dirty="0">
                <a:solidFill>
                  <a:srgbClr val="ED8B00"/>
                </a:solidFill>
              </a:rPr>
              <a:t>審核者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0430A2-5BC3-F8CB-8CBC-A23E577413C7}"/>
              </a:ext>
            </a:extLst>
          </p:cNvPr>
          <p:cNvSpPr/>
          <p:nvPr/>
        </p:nvSpPr>
        <p:spPr bwMode="gray">
          <a:xfrm>
            <a:off x="4408513" y="5693277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>
                <a:solidFill>
                  <a:srgbClr val="ED8B00"/>
                </a:solidFill>
              </a:rPr>
              <a:t>6.1 </a:t>
            </a:r>
            <a:r>
              <a:rPr lang="zh-TW" altLang="en-US" sz="1600" b="1" dirty="0">
                <a:solidFill>
                  <a:srgbClr val="ED8B00"/>
                </a:solidFill>
              </a:rPr>
              <a:t>提醒設定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A18A2DC8-87F6-6C7F-DE21-98BFCAD7E801}"/>
              </a:ext>
            </a:extLst>
          </p:cNvPr>
          <p:cNvSpPr/>
          <p:nvPr/>
        </p:nvSpPr>
        <p:spPr bwMode="gray">
          <a:xfrm>
            <a:off x="4270290" y="5121485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6. </a:t>
            </a:r>
            <a:r>
              <a:rPr lang="zh-TW" altLang="en-US" sz="2000" b="1" dirty="0">
                <a:solidFill>
                  <a:schemeClr val="bg1"/>
                </a:solidFill>
              </a:rPr>
              <a:t>履約管理 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0F1468B5-28A1-0C85-9A4B-6EE462467E6C}"/>
              </a:ext>
            </a:extLst>
          </p:cNvPr>
          <p:cNvSpPr/>
          <p:nvPr/>
        </p:nvSpPr>
        <p:spPr bwMode="gray">
          <a:xfrm>
            <a:off x="416939" y="3591187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3. </a:t>
            </a:r>
            <a:r>
              <a:rPr lang="zh-TW" altLang="en-US" sz="2000" b="1" dirty="0">
                <a:solidFill>
                  <a:schemeClr val="bg1"/>
                </a:solidFill>
              </a:rPr>
              <a:t>我的案件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A4168F-37D1-1CA2-D65D-AFBC6E6134C1}"/>
              </a:ext>
            </a:extLst>
          </p:cNvPr>
          <p:cNvSpPr/>
          <p:nvPr/>
        </p:nvSpPr>
        <p:spPr bwMode="gray">
          <a:xfrm>
            <a:off x="555163" y="413363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>
                <a:solidFill>
                  <a:srgbClr val="ED8B00"/>
                </a:solidFill>
              </a:rPr>
              <a:t>3.1 </a:t>
            </a:r>
            <a:r>
              <a:rPr lang="zh-TW" altLang="en-US" sz="1600" b="1" dirty="0">
                <a:solidFill>
                  <a:srgbClr val="ED8B00"/>
                </a:solidFill>
              </a:rPr>
              <a:t>送審清單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7759557-6BBF-6009-30F0-A106B6984196}"/>
              </a:ext>
            </a:extLst>
          </p:cNvPr>
          <p:cNvSpPr/>
          <p:nvPr/>
        </p:nvSpPr>
        <p:spPr bwMode="gray">
          <a:xfrm>
            <a:off x="564689" y="4660334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>
                <a:solidFill>
                  <a:srgbClr val="ED8B00"/>
                </a:solidFill>
              </a:rPr>
              <a:t>3.2 </a:t>
            </a:r>
            <a:r>
              <a:rPr lang="zh-TW" altLang="en-US" sz="1600" b="1" dirty="0">
                <a:solidFill>
                  <a:srgbClr val="ED8B00"/>
                </a:solidFill>
              </a:rPr>
              <a:t>待審清單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84EFF7D-71B4-B052-86B2-B5E406A33AA0}"/>
              </a:ext>
            </a:extLst>
          </p:cNvPr>
          <p:cNvSpPr/>
          <p:nvPr/>
        </p:nvSpPr>
        <p:spPr bwMode="gray">
          <a:xfrm>
            <a:off x="555162" y="5218561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>
                <a:solidFill>
                  <a:srgbClr val="ED8B00"/>
                </a:solidFill>
              </a:rPr>
              <a:t>3.3 </a:t>
            </a:r>
            <a:r>
              <a:rPr lang="zh-TW" altLang="en-US" sz="1600" b="1" dirty="0">
                <a:solidFill>
                  <a:srgbClr val="ED8B00"/>
                </a:solidFill>
              </a:rPr>
              <a:t>審核記錄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CC3293-2E51-50DD-3FCF-513A481EA1F0}"/>
              </a:ext>
            </a:extLst>
          </p:cNvPr>
          <p:cNvSpPr/>
          <p:nvPr/>
        </p:nvSpPr>
        <p:spPr bwMode="gray">
          <a:xfrm>
            <a:off x="4408513" y="6223285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6.2 </a:t>
            </a:r>
            <a:r>
              <a:rPr lang="zh-TW" altLang="en-US" sz="1600" b="1" dirty="0"/>
              <a:t>履約記錄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BC10BBD-0EC5-868F-CD81-88B75F77F793}"/>
              </a:ext>
            </a:extLst>
          </p:cNvPr>
          <p:cNvSpPr/>
          <p:nvPr/>
        </p:nvSpPr>
        <p:spPr bwMode="gray">
          <a:xfrm>
            <a:off x="8280992" y="2764921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7.3 </a:t>
            </a:r>
            <a:r>
              <a:rPr lang="zh-TW" altLang="en-US" sz="1600" b="1" dirty="0"/>
              <a:t>代理人設定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324EB17-EDA5-D747-06D7-02E7E6079461}"/>
              </a:ext>
            </a:extLst>
          </p:cNvPr>
          <p:cNvSpPr/>
          <p:nvPr/>
        </p:nvSpPr>
        <p:spPr bwMode="gray">
          <a:xfrm>
            <a:off x="8280913" y="3266546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7.4 </a:t>
            </a:r>
            <a:r>
              <a:rPr lang="zh-TW" altLang="en-US" sz="1600" b="1" dirty="0"/>
              <a:t>代理人查詢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CE87DEB0-000A-0D6B-1893-93A6DA2A9FAF}"/>
              </a:ext>
            </a:extLst>
          </p:cNvPr>
          <p:cNvSpPr/>
          <p:nvPr/>
        </p:nvSpPr>
        <p:spPr bwMode="gray">
          <a:xfrm>
            <a:off x="8152216" y="3860828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8. OCR</a:t>
            </a:r>
            <a:r>
              <a:rPr lang="zh-TW" altLang="en-US" sz="2000" b="1" dirty="0">
                <a:solidFill>
                  <a:schemeClr val="bg1"/>
                </a:solidFill>
              </a:rPr>
              <a:t>管理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77BD9D8-09B1-278F-018F-E30493048B62}"/>
              </a:ext>
            </a:extLst>
          </p:cNvPr>
          <p:cNvSpPr/>
          <p:nvPr/>
        </p:nvSpPr>
        <p:spPr bwMode="gray">
          <a:xfrm>
            <a:off x="8290440" y="440328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>
                <a:solidFill>
                  <a:srgbClr val="ED8B00"/>
                </a:solidFill>
              </a:rPr>
              <a:t>8.1 OCR</a:t>
            </a:r>
            <a:r>
              <a:rPr lang="zh-TW" altLang="en-US" sz="1600" b="1" dirty="0">
                <a:solidFill>
                  <a:srgbClr val="ED8B00"/>
                </a:solidFill>
              </a:rPr>
              <a:t>轉檔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C741A2A-1BCE-EC4A-35E7-03A9D7D02F22}"/>
              </a:ext>
            </a:extLst>
          </p:cNvPr>
          <p:cNvSpPr/>
          <p:nvPr/>
        </p:nvSpPr>
        <p:spPr bwMode="gray">
          <a:xfrm>
            <a:off x="8299966" y="4929975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8.2 </a:t>
            </a:r>
            <a:r>
              <a:rPr lang="zh-TW" altLang="en-US" sz="1600" b="1" dirty="0"/>
              <a:t>文字校正設定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EAD7395-0402-67F4-FF9E-4C4D82803DB6}"/>
              </a:ext>
            </a:extLst>
          </p:cNvPr>
          <p:cNvSpPr/>
          <p:nvPr/>
        </p:nvSpPr>
        <p:spPr bwMode="gray">
          <a:xfrm>
            <a:off x="8290439" y="5469152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>
                <a:solidFill>
                  <a:srgbClr val="ED8B00"/>
                </a:solidFill>
              </a:rPr>
              <a:t>8.3 </a:t>
            </a:r>
            <a:r>
              <a:rPr lang="zh-TW" altLang="en-US" sz="1600" b="1" dirty="0">
                <a:solidFill>
                  <a:srgbClr val="ED8B00"/>
                </a:solidFill>
              </a:rPr>
              <a:t>轉檔記錄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B8818B4-AD3C-83E0-424F-6229E54E1093}"/>
              </a:ext>
            </a:extLst>
          </p:cNvPr>
          <p:cNvSpPr txBox="1"/>
          <p:nvPr/>
        </p:nvSpPr>
        <p:spPr>
          <a:xfrm>
            <a:off x="385126" y="449494"/>
            <a:ext cx="8372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58B6C0"/>
                </a:solidFill>
              </a:rPr>
              <a:t>[</a:t>
            </a:r>
            <a:r>
              <a:rPr lang="zh-TW" altLang="en-US" sz="2400" dirty="0">
                <a:solidFill>
                  <a:srgbClr val="58B6C0"/>
                </a:solidFill>
              </a:rPr>
              <a:t>說明</a:t>
            </a:r>
            <a:r>
              <a:rPr lang="en-US" altLang="zh-TW" sz="2400" dirty="0">
                <a:solidFill>
                  <a:srgbClr val="58B6C0"/>
                </a:solidFill>
              </a:rPr>
              <a:t>] </a:t>
            </a:r>
            <a:r>
              <a:rPr lang="zh-TW" altLang="en-US" sz="2400" dirty="0">
                <a:solidFill>
                  <a:srgbClr val="58B6C0"/>
                </a:solidFill>
              </a:rPr>
              <a:t>標示為</a:t>
            </a:r>
            <a:r>
              <a:rPr lang="zh-TW" altLang="en-US" b="1" dirty="0">
                <a:solidFill>
                  <a:srgbClr val="ED8B00"/>
                </a:solidFill>
              </a:rPr>
              <a:t>橘</a:t>
            </a:r>
            <a:r>
              <a:rPr lang="zh-TW" altLang="en-US" sz="2400" b="1" dirty="0">
                <a:solidFill>
                  <a:srgbClr val="ED8B00"/>
                </a:solidFill>
              </a:rPr>
              <a:t>色</a:t>
            </a:r>
            <a:r>
              <a:rPr lang="zh-TW" altLang="en-US" sz="2400" dirty="0">
                <a:solidFill>
                  <a:srgbClr val="58B6C0"/>
                </a:solidFill>
              </a:rPr>
              <a:t>的功能項目，會進行</a:t>
            </a:r>
            <a:r>
              <a:rPr lang="zh-TW" altLang="en-US" sz="2400" b="1" dirty="0">
                <a:solidFill>
                  <a:srgbClr val="58B6C0"/>
                </a:solidFill>
              </a:rPr>
              <a:t>實機操作展示</a:t>
            </a:r>
            <a:r>
              <a:rPr lang="zh-TW" altLang="en-US" sz="2400" dirty="0">
                <a:solidFill>
                  <a:srgbClr val="58B6C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7058979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225790-396C-476A-8A07-26DC9770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94" y="2781910"/>
            <a:ext cx="2876412" cy="1294179"/>
          </a:xfrm>
        </p:spPr>
        <p:txBody>
          <a:bodyPr/>
          <a:lstStyle/>
          <a:p>
            <a:r>
              <a:rPr lang="en-US" altLang="zh-TW" sz="8800" dirty="0"/>
              <a:t>Q &amp; A</a:t>
            </a:r>
            <a:endParaRPr lang="zh-TW" altLang="en-US" sz="8800" dirty="0"/>
          </a:p>
        </p:txBody>
      </p:sp>
    </p:spTree>
    <p:extLst>
      <p:ext uri="{BB962C8B-B14F-4D97-AF65-F5344CB8AC3E}">
        <p14:creationId xmlns:p14="http://schemas.microsoft.com/office/powerpoint/2010/main" val="29139322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訂 60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簡報1" id="{3A76CA7C-6AE3-4A3B-9338-D1D1C1093EDE}" vid="{E520128C-F172-4777-B070-9E9B8C0630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43538</TotalTime>
  <Words>5326</Words>
  <Application>Microsoft Office PowerPoint</Application>
  <PresentationFormat>寬螢幕</PresentationFormat>
  <Paragraphs>658</Paragraphs>
  <Slides>145</Slides>
  <Notes>107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145</vt:i4>
      </vt:variant>
    </vt:vector>
  </HeadingPairs>
  <TitlesOfParts>
    <vt:vector size="152" baseType="lpstr">
      <vt:lpstr>微軟正黑體</vt:lpstr>
      <vt:lpstr>Arial</vt:lpstr>
      <vt:lpstr>Calibri</vt:lpstr>
      <vt:lpstr>Verdana</vt:lpstr>
      <vt:lpstr>Wingdings 2</vt:lpstr>
      <vt:lpstr>blank</vt:lpstr>
      <vt:lpstr>think-cell Slide</vt:lpstr>
      <vt:lpstr>PowerPoint 簡報</vt:lpstr>
      <vt:lpstr>大綱</vt:lpstr>
      <vt:lpstr>一、【使用者】系統功能架構說明</vt:lpstr>
      <vt:lpstr>一、【使用者】系統功能架構說明</vt:lpstr>
      <vt:lpstr>一、【使用者】系統功能架構說明</vt:lpstr>
      <vt:lpstr>二、 系統功能 - 操作說明</vt:lpstr>
      <vt:lpstr>1. 首頁  </vt:lpstr>
      <vt:lpstr>PowerPoint 簡報</vt:lpstr>
      <vt:lpstr>2.1 合約起案 &gt; 【申請合約審閱】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2.2 合約起案 &gt; 【草稿】 </vt:lpstr>
      <vt:lpstr>PowerPoint 簡報</vt:lpstr>
      <vt:lpstr>PowerPoint 簡報</vt:lpstr>
      <vt:lpstr>3.1 我的案件 &gt; 【送審清單】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3.2 我的案件 &gt; 【待審清單】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3.3 我的案件 &gt; 【審核記錄】 </vt:lpstr>
      <vt:lpstr>PowerPoint 簡報</vt:lpstr>
      <vt:lpstr>PowerPoint 簡報</vt:lpstr>
      <vt:lpstr>4.1 合約查詢 &gt; 【合約審閱進度查詢】</vt:lpstr>
      <vt:lpstr>PowerPoint 簡報</vt:lpstr>
      <vt:lpstr>PowerPoint 簡報</vt:lpstr>
      <vt:lpstr>PowerPoint 簡報</vt:lpstr>
      <vt:lpstr>PowerPoint 簡報</vt:lpstr>
      <vt:lpstr>4.2 合約查詢 &gt; 【已歸檔合約查詢(含撤回/作廢)】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4.3 合約查詢 &gt;  【紙本借閱暨電子閱覽申請進度查詢(含審核通過和退件)】</vt:lpstr>
      <vt:lpstr>PowerPoint 簡報</vt:lpstr>
      <vt:lpstr>PowerPoint 簡報</vt:lpstr>
      <vt:lpstr>PowerPoint 簡報</vt:lpstr>
      <vt:lpstr>PowerPoint 簡報</vt:lpstr>
      <vt:lpstr>5.1 比對模組 &gt; 【合約比對(檔案)】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5.2 比對模組 &gt; 【合約比對(文字)】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6.1 履約管理 &gt; 【提醒設定】</vt:lpstr>
      <vt:lpstr>PowerPoint 簡報</vt:lpstr>
      <vt:lpstr>PowerPoint 簡報</vt:lpstr>
      <vt:lpstr>6.2 履約管理 &gt; 【履約紀錄】</vt:lpstr>
      <vt:lpstr>PowerPoint 簡報</vt:lpstr>
      <vt:lpstr>PowerPoint 簡報</vt:lpstr>
      <vt:lpstr>7.1 批次移轉/代理人 &gt; 【批次移轉-合約擁有者 】</vt:lpstr>
      <vt:lpstr>PowerPoint 簡報</vt:lpstr>
      <vt:lpstr>PowerPoint 簡報</vt:lpstr>
      <vt:lpstr>7.2 批次移轉/代理人 &gt; 【批次移轉-審核者 】</vt:lpstr>
      <vt:lpstr>PowerPoint 簡報</vt:lpstr>
      <vt:lpstr>PowerPoint 簡報</vt:lpstr>
      <vt:lpstr>7.3 批次移轉/代理人 &gt; 【代理人設定】</vt:lpstr>
      <vt:lpstr>PowerPoint 簡報</vt:lpstr>
      <vt:lpstr>PowerPoint 簡報</vt:lpstr>
      <vt:lpstr>PowerPoint 簡報</vt:lpstr>
      <vt:lpstr>PowerPoint 簡報</vt:lpstr>
      <vt:lpstr>PowerPoint 簡報</vt:lpstr>
      <vt:lpstr>7.4 批次移轉/代理人 &gt; 【代理人查詢】</vt:lpstr>
      <vt:lpstr>PowerPoint 簡報</vt:lpstr>
      <vt:lpstr>8.1 OCR管理 &gt; 【OCR轉檔】</vt:lpstr>
      <vt:lpstr>PowerPoint 簡報</vt:lpstr>
      <vt:lpstr>PowerPoint 簡報</vt:lpstr>
      <vt:lpstr>8.2 OCR管理 &gt; 【文字校正設定】</vt:lpstr>
      <vt:lpstr>PowerPoint 簡報</vt:lpstr>
      <vt:lpstr>8.3 OCR管理 &gt; 【轉檔紀錄】</vt:lpstr>
      <vt:lpstr>PowerPoint 簡報</vt:lpstr>
      <vt:lpstr>PowerPoint 簡報</vt:lpstr>
      <vt:lpstr>PowerPoint 簡報</vt:lpstr>
      <vt:lpstr>9.1 報表管理 &gt; 【紙本借閱申請統計表】</vt:lpstr>
      <vt:lpstr>PowerPoint 簡報</vt:lpstr>
      <vt:lpstr>9.2 報表管理 &gt; 【履約管理報表】</vt:lpstr>
      <vt:lpstr>PowerPoint 簡報</vt:lpstr>
      <vt:lpstr>9.3 報表管理 &gt; 【履約績效報表】</vt:lpstr>
      <vt:lpstr>PowerPoint 簡報</vt:lpstr>
      <vt:lpstr>10.1 合約／法律文件範本管理 &gt;  【合約／法律文件範本查詢】</vt:lpstr>
      <vt:lpstr>PowerPoint 簡報</vt:lpstr>
      <vt:lpstr>10.2 合約／法律文件範本管理 &gt; 【我的範本】</vt:lpstr>
      <vt:lpstr>PowerPoint 簡報</vt:lpstr>
      <vt:lpstr>三、常用系統功能 - 實機操作</vt:lpstr>
      <vt:lpstr>PowerPoint 簡報</vt:lpstr>
      <vt:lpstr>Q &amp; A</vt:lpstr>
    </vt:vector>
  </TitlesOfParts>
  <Company>Deloitte Touche Tohmatsu Services,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Chen, Lynn H.</dc:creator>
  <cp:lastModifiedBy>Jie Lin</cp:lastModifiedBy>
  <cp:revision>1203</cp:revision>
  <cp:lastPrinted>2014-06-25T02:16:22Z</cp:lastPrinted>
  <dcterms:created xsi:type="dcterms:W3CDTF">2021-01-29T10:05:21Z</dcterms:created>
  <dcterms:modified xsi:type="dcterms:W3CDTF">2026-03-04T08:01:27Z</dcterms:modified>
</cp:coreProperties>
</file>